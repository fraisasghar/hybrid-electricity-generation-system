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Thermal conductivity (W/(m·K))</c:v>
                </c:pt>
              </c:strCache>
            </c:strRef>
          </c:tx>
          <c:spPr>
            <a:solidFill>
              <a:srgbClr val="D9622B"/>
            </a:solidFill>
            <a:effectLst/>
          </c:spPr>
          <c:invertIfNegative val="0"/>
          <c:dLbls>
            <c:numFmt formatCode="0.000" sourceLinked="0"/>
            <c:spPr>
              <a:noFill/>
              <a:ln>
                <a:noFill/>
              </a:ln>
              <a:effectLst/>
            </c:spPr>
            <c:txPr>
              <a:bodyPr/>
              <a:lstStyle/>
              <a:p>
                <a:pPr>
                  <a:defRPr sz="1000" b="0" i="0" u="none" strike="noStrike">
                    <a:solidFill>
                      <a:srgbClr val="132A43"/>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Water</c:v>
                </c:pt>
                <c:pt idx="1">
                  <c:v>0.3%</c:v>
                </c:pt>
                <c:pt idx="2">
                  <c:v>0.6%</c:v>
                </c:pt>
                <c:pt idx="3">
                  <c:v>0.9%</c:v>
                </c:pt>
                <c:pt idx="4">
                  <c:v>1.2% (used)</c:v>
                </c:pt>
              </c:strCache>
            </c:strRef>
          </c:cat>
          <c:val>
            <c:numRef>
              <c:f>Sheet1!$B$2:$B$6</c:f>
              <c:numCache>
                <c:formatCode>General</c:formatCode>
                <c:ptCount val="5"/>
                <c:pt idx="0">
                  <c:v>0.61299999999999999</c:v>
                </c:pt>
                <c:pt idx="1">
                  <c:v>0.74399999999999999</c:v>
                </c:pt>
                <c:pt idx="2">
                  <c:v>0.82</c:v>
                </c:pt>
                <c:pt idx="3">
                  <c:v>0.92</c:v>
                </c:pt>
                <c:pt idx="4">
                  <c:v>1.0029999999999999</c:v>
                </c:pt>
              </c:numCache>
            </c:numRef>
          </c:val>
          <c:extLst>
            <c:ext xmlns:c16="http://schemas.microsoft.com/office/drawing/2014/chart" uri="{C3380CC4-5D6E-409C-BE32-E72D297353CC}">
              <c16:uniqueId val="{00000000-2C15-471F-A7DE-3A592243691A}"/>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785"/>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Effectiveness</c:v>
                </c:pt>
              </c:strCache>
            </c:strRef>
          </c:tx>
          <c:spPr>
            <a:solidFill>
              <a:schemeClr val="accent1"/>
            </a:solidFill>
            <a:ln w="9525" cap="flat">
              <a:solidFill>
                <a:srgbClr val="F9F9F9"/>
              </a:solidFill>
              <a:prstDash val="solid"/>
              <a:round/>
            </a:ln>
            <a:effectLst/>
          </c:spPr>
          <c:dPt>
            <c:idx val="0"/>
            <c:bubble3D val="0"/>
            <c:spPr>
              <a:solidFill>
                <a:srgbClr val="D9622B"/>
              </a:solidFill>
              <a:ln w="25400" cap="flat">
                <a:solidFill>
                  <a:srgbClr val="16324F"/>
                </a:solidFill>
                <a:prstDash val="solid"/>
                <a:round/>
              </a:ln>
              <a:effectLst/>
            </c:spPr>
            <c:extLst>
              <c:ext xmlns:c16="http://schemas.microsoft.com/office/drawing/2014/chart" uri="{C3380CC4-5D6E-409C-BE32-E72D297353CC}">
                <c16:uniqueId val="{00000001-4199-4D9B-93C1-5AF9FCAF7BDA}"/>
              </c:ext>
            </c:extLst>
          </c:dPt>
          <c:dPt>
            <c:idx val="1"/>
            <c:bubble3D val="0"/>
            <c:spPr>
              <a:solidFill>
                <a:srgbClr val="24405E"/>
              </a:solidFill>
              <a:ln w="25400" cap="flat">
                <a:solidFill>
                  <a:srgbClr val="16324F"/>
                </a:solidFill>
                <a:prstDash val="solid"/>
                <a:round/>
              </a:ln>
              <a:effectLst/>
            </c:spPr>
            <c:extLst>
              <c:ext xmlns:c16="http://schemas.microsoft.com/office/drawing/2014/chart" uri="{C3380CC4-5D6E-409C-BE32-E72D297353CC}">
                <c16:uniqueId val="{00000003-4199-4D9B-93C1-5AF9FCAF7BDA}"/>
              </c:ext>
            </c:extLst>
          </c:dPt>
          <c:cat>
            <c:strRef>
              <c:f>Sheet1!$A$2:$A$3</c:f>
              <c:strCache>
                <c:ptCount val="2"/>
                <c:pt idx="0">
                  <c:v>Recovered</c:v>
                </c:pt>
                <c:pt idx="1">
                  <c:v>Remaining</c:v>
                </c:pt>
              </c:strCache>
            </c:strRef>
          </c:cat>
          <c:val>
            <c:numRef>
              <c:f>Sheet1!$B$2:$B$3</c:f>
              <c:numCache>
                <c:formatCode>General</c:formatCode>
                <c:ptCount val="2"/>
                <c:pt idx="0">
                  <c:v>75.3</c:v>
                </c:pt>
                <c:pt idx="1">
                  <c:v>24.7</c:v>
                </c:pt>
              </c:numCache>
            </c:numRef>
          </c:val>
          <c:extLst>
            <c:ext xmlns:c16="http://schemas.microsoft.com/office/drawing/2014/chart" uri="{C3380CC4-5D6E-409C-BE32-E72D297353CC}">
              <c16:uniqueId val="{00000004-4199-4D9B-93C1-5AF9FCAF7BDA}"/>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1200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8F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3.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1.png"/><Relationship Id="rId7"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5.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E"/>
        </a:solidFill>
        <a:effectLst/>
      </p:bgPr>
    </p:bg>
    <p:spTree>
      <p:nvGrpSpPr>
        <p:cNvPr id="1" name=""/>
        <p:cNvGrpSpPr/>
        <p:nvPr/>
      </p:nvGrpSpPr>
      <p:grpSpPr>
        <a:xfrm>
          <a:off x="0" y="0"/>
          <a:ext cx="0" cy="0"/>
          <a:chOff x="0" y="0"/>
          <a:chExt cx="0" cy="0"/>
        </a:xfrm>
      </p:grpSpPr>
      <p:sp>
        <p:nvSpPr>
          <p:cNvPr id="2" name="Shape 0"/>
          <p:cNvSpPr/>
          <p:nvPr/>
        </p:nvSpPr>
        <p:spPr>
          <a:xfrm>
            <a:off x="8869680" y="-1828800"/>
            <a:ext cx="5943600" cy="5943600"/>
          </a:xfrm>
          <a:prstGeom prst="ellipse">
            <a:avLst/>
          </a:prstGeom>
          <a:solidFill>
            <a:srgbClr val="132A43">
              <a:alpha val="60000"/>
            </a:srgbClr>
          </a:solidFill>
          <a:ln/>
        </p:spPr>
        <p:txBody>
          <a:bodyPr/>
          <a:lstStyle/>
          <a:p>
            <a:endParaRPr lang="en-US"/>
          </a:p>
        </p:txBody>
      </p:sp>
      <p:sp>
        <p:nvSpPr>
          <p:cNvPr id="3" name="Shape 1"/>
          <p:cNvSpPr/>
          <p:nvPr/>
        </p:nvSpPr>
        <p:spPr>
          <a:xfrm>
            <a:off x="10241280" y="3291840"/>
            <a:ext cx="3840480" cy="3840480"/>
          </a:xfrm>
          <a:prstGeom prst="ellipse">
            <a:avLst/>
          </a:prstGeom>
          <a:solidFill>
            <a:srgbClr val="0E7C86">
              <a:alpha val="22000"/>
            </a:srgbClr>
          </a:solidFill>
          <a:ln/>
        </p:spPr>
        <p:txBody>
          <a:bodyPr/>
          <a:lstStyle/>
          <a:p>
            <a:endParaRPr lang="en-US"/>
          </a:p>
        </p:txBody>
      </p:sp>
      <p:sp>
        <p:nvSpPr>
          <p:cNvPr id="4" name="Text 2"/>
          <p:cNvSpPr/>
          <p:nvPr/>
        </p:nvSpPr>
        <p:spPr>
          <a:xfrm>
            <a:off x="731520" y="1051560"/>
            <a:ext cx="9144000" cy="365760"/>
          </a:xfrm>
          <a:prstGeom prst="rect">
            <a:avLst/>
          </a:prstGeom>
          <a:noFill/>
          <a:ln/>
        </p:spPr>
        <p:txBody>
          <a:bodyPr wrap="square" rtlCol="0" anchor="ctr"/>
          <a:lstStyle/>
          <a:p>
            <a:pPr marL="0" indent="0">
              <a:buNone/>
            </a:pPr>
            <a:r>
              <a:rPr lang="en-US" sz="1300" b="1" kern="0" spc="200" dirty="0">
                <a:solidFill>
                  <a:srgbClr val="7FA6C4"/>
                </a:solidFill>
                <a:latin typeface="Calibri" pitchFamily="34" charset="0"/>
                <a:ea typeface="Calibri" pitchFamily="34" charset="-122"/>
                <a:cs typeface="Calibri" pitchFamily="34" charset="-120"/>
              </a:rPr>
              <a:t>COMPUTATIONAL FLUID DYNAMICS  •  CAD  •  CONJUGATE HEAT TRANSFER</a:t>
            </a:r>
            <a:endParaRPr lang="en-US" sz="1300" dirty="0"/>
          </a:p>
        </p:txBody>
      </p:sp>
      <p:sp>
        <p:nvSpPr>
          <p:cNvPr id="5" name="Text 3"/>
          <p:cNvSpPr/>
          <p:nvPr/>
        </p:nvSpPr>
        <p:spPr>
          <a:xfrm>
            <a:off x="731520" y="1600200"/>
            <a:ext cx="9601200" cy="640080"/>
          </a:xfrm>
          <a:prstGeom prst="rect">
            <a:avLst/>
          </a:prstGeom>
          <a:noFill/>
          <a:ln/>
        </p:spPr>
        <p:txBody>
          <a:bodyPr wrap="square" rtlCol="0" anchor="ctr"/>
          <a:lstStyle/>
          <a:p>
            <a:pPr marL="0" indent="0">
              <a:buNone/>
            </a:pPr>
            <a:r>
              <a:rPr lang="en-US" sz="3000" dirty="0">
                <a:solidFill>
                  <a:srgbClr val="CADCFC"/>
                </a:solidFill>
                <a:latin typeface="Cambria" pitchFamily="34" charset="0"/>
                <a:ea typeface="Cambria" pitchFamily="34" charset="-122"/>
                <a:cs typeface="Cambria" pitchFamily="34" charset="-120"/>
              </a:rPr>
              <a:t>CAD Design and Simulation of a</a:t>
            </a:r>
            <a:endParaRPr lang="en-US" sz="3000" dirty="0"/>
          </a:p>
        </p:txBody>
      </p:sp>
      <p:sp>
        <p:nvSpPr>
          <p:cNvPr id="6" name="Text 4"/>
          <p:cNvSpPr/>
          <p:nvPr/>
        </p:nvSpPr>
        <p:spPr>
          <a:xfrm>
            <a:off x="731520" y="2148840"/>
            <a:ext cx="10241280" cy="1051560"/>
          </a:xfrm>
          <a:prstGeom prst="rect">
            <a:avLst/>
          </a:prstGeom>
          <a:noFill/>
          <a:ln/>
        </p:spPr>
        <p:txBody>
          <a:bodyPr wrap="square"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Swirled Tube Heat Exchanger</a:t>
            </a:r>
            <a:endParaRPr lang="en-US" sz="5000" dirty="0"/>
          </a:p>
        </p:txBody>
      </p:sp>
      <p:sp>
        <p:nvSpPr>
          <p:cNvPr id="7" name="Text 5"/>
          <p:cNvSpPr/>
          <p:nvPr/>
        </p:nvSpPr>
        <p:spPr>
          <a:xfrm>
            <a:off x="731520" y="3246120"/>
            <a:ext cx="8778240" cy="640080"/>
          </a:xfrm>
          <a:prstGeom prst="rect">
            <a:avLst/>
          </a:prstGeom>
          <a:noFill/>
          <a:ln/>
        </p:spPr>
        <p:txBody>
          <a:bodyPr wrap="square" rtlCol="0" anchor="ctr"/>
          <a:lstStyle/>
          <a:p>
            <a:pPr marL="0" indent="0">
              <a:buNone/>
            </a:pPr>
            <a:r>
              <a:rPr lang="en-US" sz="1600" i="1" dirty="0">
                <a:solidFill>
                  <a:srgbClr val="AFC3D6"/>
                </a:solidFill>
                <a:latin typeface="Calibri" pitchFamily="34" charset="0"/>
                <a:ea typeface="Calibri" pitchFamily="34" charset="-122"/>
                <a:cs typeface="Calibri" pitchFamily="34" charset="-120"/>
              </a:rPr>
              <a:t>Turbulent nonisothermal flow simulation with a hybrid </a:t>
            </a:r>
            <a:r>
              <a:rPr lang="en-US" sz="1600" b="1" i="1" dirty="0">
                <a:solidFill>
                  <a:srgbClr val="D9622B"/>
                </a:solidFill>
                <a:latin typeface="Calibri" pitchFamily="34" charset="0"/>
                <a:ea typeface="Calibri" pitchFamily="34" charset="-122"/>
                <a:cs typeface="Calibri" pitchFamily="34" charset="-120"/>
              </a:rPr>
              <a:t>Al₂O₃–CuO–CNT nanofluid</a:t>
            </a:r>
            <a:r>
              <a:rPr lang="en-US" sz="1600" i="1" dirty="0">
                <a:solidFill>
                  <a:srgbClr val="AFC3D6"/>
                </a:solidFill>
                <a:latin typeface="Calibri" pitchFamily="34" charset="0"/>
                <a:ea typeface="Calibri" pitchFamily="34" charset="-122"/>
                <a:cs typeface="Calibri" pitchFamily="34" charset="-120"/>
              </a:rPr>
              <a:t> coolant, using the k–ε turbulence model</a:t>
            </a:r>
            <a:endParaRPr lang="en-US" sz="1600" dirty="0"/>
          </a:p>
        </p:txBody>
      </p:sp>
      <p:sp>
        <p:nvSpPr>
          <p:cNvPr id="8" name="Shape 6"/>
          <p:cNvSpPr/>
          <p:nvPr/>
        </p:nvSpPr>
        <p:spPr>
          <a:xfrm>
            <a:off x="7001381" y="3648456"/>
            <a:ext cx="5016757" cy="2852928"/>
          </a:xfrm>
          <a:prstGeom prst="roundRect">
            <a:avLst>
              <a:gd name="adj" fmla="val 2244"/>
            </a:avLst>
          </a:prstGeom>
          <a:solidFill>
            <a:srgbClr val="FFFFFF"/>
          </a:solidFill>
          <a:ln w="12700">
            <a:solidFill>
              <a:srgbClr val="E3E9EE"/>
            </a:solidFill>
            <a:prstDash val="solid"/>
          </a:ln>
          <a:effectLst>
            <a:outerShdw blurRad="152400" dist="38100" dir="5400000" algn="bl" rotWithShape="0">
              <a:srgbClr val="1B2531">
                <a:alpha val="15000"/>
              </a:srgbClr>
            </a:outerShdw>
          </a:effectLst>
        </p:spPr>
        <p:txBody>
          <a:bodyPr/>
          <a:lstStyle/>
          <a:p>
            <a:endParaRPr lang="en-US"/>
          </a:p>
        </p:txBody>
      </p:sp>
      <p:sp>
        <p:nvSpPr>
          <p:cNvPr id="10" name="Text 7"/>
          <p:cNvSpPr/>
          <p:nvPr/>
        </p:nvSpPr>
        <p:spPr>
          <a:xfrm>
            <a:off x="731520" y="4892040"/>
            <a:ext cx="45720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Frais Asghar</a:t>
            </a:r>
            <a:endParaRPr lang="en-US" sz="1600" dirty="0"/>
          </a:p>
        </p:txBody>
      </p:sp>
      <p:sp>
        <p:nvSpPr>
          <p:cNvPr id="11" name="Text 8"/>
          <p:cNvSpPr/>
          <p:nvPr/>
        </p:nvSpPr>
        <p:spPr>
          <a:xfrm>
            <a:off x="731520" y="5285232"/>
            <a:ext cx="5943600" cy="365760"/>
          </a:xfrm>
          <a:prstGeom prst="rect">
            <a:avLst/>
          </a:prstGeom>
          <a:noFill/>
          <a:ln/>
        </p:spPr>
        <p:txBody>
          <a:bodyPr wrap="square" rtlCol="0" anchor="ctr"/>
          <a:lstStyle/>
          <a:p>
            <a:pPr marL="0" indent="0">
              <a:buNone/>
            </a:pPr>
            <a:r>
              <a:rPr lang="en-US" sz="1200" dirty="0">
                <a:solidFill>
                  <a:srgbClr val="8FA3B8"/>
                </a:solidFill>
                <a:latin typeface="Calibri" pitchFamily="34" charset="0"/>
                <a:ea typeface="Calibri" pitchFamily="34" charset="-122"/>
                <a:cs typeface="Calibri" pitchFamily="34" charset="-120"/>
              </a:rPr>
              <a:t>Simulation Platform: COMSOL Multiphysics  |  September 2026</a:t>
            </a:r>
            <a:endParaRPr lang="en-US" sz="1200" dirty="0"/>
          </a:p>
        </p:txBody>
      </p:sp>
      <p:sp>
        <p:nvSpPr>
          <p:cNvPr id="12" name="Text 9"/>
          <p:cNvSpPr/>
          <p:nvPr/>
        </p:nvSpPr>
        <p:spPr>
          <a:xfrm>
            <a:off x="731520" y="5989320"/>
            <a:ext cx="2194560" cy="457200"/>
          </a:xfrm>
          <a:prstGeom prst="rect">
            <a:avLst/>
          </a:prstGeom>
          <a:noFill/>
          <a:ln/>
        </p:spPr>
        <p:txBody>
          <a:bodyPr wrap="square" rtlCol="0" anchor="ctr"/>
          <a:lstStyle/>
          <a:p>
            <a:pPr marL="0" indent="0">
              <a:buNone/>
            </a:pPr>
            <a:r>
              <a:rPr lang="en-US" sz="2400" b="1" dirty="0">
                <a:solidFill>
                  <a:srgbClr val="D9622B"/>
                </a:solidFill>
                <a:latin typeface="Cambria" pitchFamily="34" charset="0"/>
                <a:ea typeface="Cambria" pitchFamily="34" charset="-122"/>
                <a:cs typeface="Cambria" pitchFamily="34" charset="-120"/>
              </a:rPr>
              <a:t>4.14 kW</a:t>
            </a:r>
            <a:endParaRPr lang="en-US" sz="2400" dirty="0"/>
          </a:p>
        </p:txBody>
      </p:sp>
      <p:sp>
        <p:nvSpPr>
          <p:cNvPr id="13" name="Text 10"/>
          <p:cNvSpPr/>
          <p:nvPr/>
        </p:nvSpPr>
        <p:spPr>
          <a:xfrm>
            <a:off x="731520" y="6473952"/>
            <a:ext cx="2194560" cy="274320"/>
          </a:xfrm>
          <a:prstGeom prst="rect">
            <a:avLst/>
          </a:prstGeom>
          <a:noFill/>
          <a:ln/>
        </p:spPr>
        <p:txBody>
          <a:bodyPr wrap="square" rtlCol="0" anchor="ctr"/>
          <a:lstStyle/>
          <a:p>
            <a:pPr marL="0" indent="0">
              <a:buNone/>
            </a:pPr>
            <a:r>
              <a:rPr lang="en-US" sz="1000" kern="0" spc="100" dirty="0">
                <a:solidFill>
                  <a:srgbClr val="8FA3B8"/>
                </a:solidFill>
                <a:latin typeface="Calibri" pitchFamily="34" charset="0"/>
                <a:ea typeface="Calibri" pitchFamily="34" charset="-122"/>
                <a:cs typeface="Calibri" pitchFamily="34" charset="-120"/>
              </a:rPr>
              <a:t>HEAT DUTY</a:t>
            </a:r>
            <a:endParaRPr lang="en-US" sz="1000" dirty="0"/>
          </a:p>
        </p:txBody>
      </p:sp>
      <p:sp>
        <p:nvSpPr>
          <p:cNvPr id="14" name="Text 11"/>
          <p:cNvSpPr/>
          <p:nvPr/>
        </p:nvSpPr>
        <p:spPr>
          <a:xfrm>
            <a:off x="2697480" y="5989320"/>
            <a:ext cx="2194560" cy="457200"/>
          </a:xfrm>
          <a:prstGeom prst="rect">
            <a:avLst/>
          </a:prstGeom>
          <a:noFill/>
          <a:ln/>
        </p:spPr>
        <p:txBody>
          <a:bodyPr wrap="square" rtlCol="0" anchor="ctr"/>
          <a:lstStyle/>
          <a:p>
            <a:pPr marL="0" indent="0">
              <a:buNone/>
            </a:pPr>
            <a:r>
              <a:rPr lang="en-US" sz="2400" b="1" dirty="0">
                <a:solidFill>
                  <a:srgbClr val="D9622B"/>
                </a:solidFill>
                <a:latin typeface="Cambria" pitchFamily="34" charset="0"/>
                <a:ea typeface="Cambria" pitchFamily="34" charset="-122"/>
                <a:cs typeface="Cambria" pitchFamily="34" charset="-120"/>
              </a:rPr>
              <a:t>75.3%</a:t>
            </a:r>
            <a:endParaRPr lang="en-US" sz="2400" dirty="0"/>
          </a:p>
        </p:txBody>
      </p:sp>
      <p:sp>
        <p:nvSpPr>
          <p:cNvPr id="15" name="Text 12"/>
          <p:cNvSpPr/>
          <p:nvPr/>
        </p:nvSpPr>
        <p:spPr>
          <a:xfrm>
            <a:off x="2697480" y="6473952"/>
            <a:ext cx="2194560" cy="274320"/>
          </a:xfrm>
          <a:prstGeom prst="rect">
            <a:avLst/>
          </a:prstGeom>
          <a:noFill/>
          <a:ln/>
        </p:spPr>
        <p:txBody>
          <a:bodyPr wrap="square" rtlCol="0" anchor="ctr"/>
          <a:lstStyle/>
          <a:p>
            <a:pPr marL="0" indent="0">
              <a:buNone/>
            </a:pPr>
            <a:r>
              <a:rPr lang="en-US" sz="1000" kern="0" spc="100" dirty="0">
                <a:solidFill>
                  <a:srgbClr val="8FA3B8"/>
                </a:solidFill>
                <a:latin typeface="Calibri" pitchFamily="34" charset="0"/>
                <a:ea typeface="Calibri" pitchFamily="34" charset="-122"/>
                <a:cs typeface="Calibri" pitchFamily="34" charset="-120"/>
              </a:rPr>
              <a:t>EFFECTIVENESS</a:t>
            </a:r>
            <a:endParaRPr lang="en-US" sz="1000" dirty="0"/>
          </a:p>
        </p:txBody>
      </p:sp>
      <p:sp>
        <p:nvSpPr>
          <p:cNvPr id="16" name="Text 13"/>
          <p:cNvSpPr/>
          <p:nvPr/>
        </p:nvSpPr>
        <p:spPr>
          <a:xfrm>
            <a:off x="4526280" y="6033516"/>
            <a:ext cx="2194560" cy="457200"/>
          </a:xfrm>
          <a:prstGeom prst="rect">
            <a:avLst/>
          </a:prstGeom>
          <a:noFill/>
          <a:ln/>
        </p:spPr>
        <p:txBody>
          <a:bodyPr wrap="square" rtlCol="0" anchor="ctr"/>
          <a:lstStyle/>
          <a:p>
            <a:pPr marL="0" indent="0">
              <a:buNone/>
            </a:pPr>
            <a:r>
              <a:rPr lang="en-US" sz="2400" b="1" dirty="0">
                <a:solidFill>
                  <a:srgbClr val="D9622B"/>
                </a:solidFill>
                <a:latin typeface="Cambria" pitchFamily="34" charset="0"/>
                <a:ea typeface="Cambria" pitchFamily="34" charset="-122"/>
                <a:cs typeface="Cambria" pitchFamily="34" charset="-120"/>
              </a:rPr>
              <a:t>220 W/K</a:t>
            </a:r>
            <a:endParaRPr lang="en-US" sz="2400" dirty="0"/>
          </a:p>
        </p:txBody>
      </p:sp>
      <p:sp>
        <p:nvSpPr>
          <p:cNvPr id="17" name="Text 14"/>
          <p:cNvSpPr/>
          <p:nvPr/>
        </p:nvSpPr>
        <p:spPr>
          <a:xfrm>
            <a:off x="4526280" y="6518148"/>
            <a:ext cx="2194560" cy="274320"/>
          </a:xfrm>
          <a:prstGeom prst="rect">
            <a:avLst/>
          </a:prstGeom>
          <a:noFill/>
          <a:ln/>
        </p:spPr>
        <p:txBody>
          <a:bodyPr wrap="square" rtlCol="0" anchor="ctr"/>
          <a:lstStyle/>
          <a:p>
            <a:pPr marL="0" indent="0">
              <a:buNone/>
            </a:pPr>
            <a:r>
              <a:rPr lang="en-US" sz="1000" kern="0" spc="100" dirty="0">
                <a:solidFill>
                  <a:srgbClr val="8FA3B8"/>
                </a:solidFill>
                <a:latin typeface="Calibri" pitchFamily="34" charset="0"/>
                <a:ea typeface="Calibri" pitchFamily="34" charset="-122"/>
                <a:cs typeface="Calibri" pitchFamily="34" charset="-120"/>
              </a:rPr>
              <a:t>CONDUCTANCE</a:t>
            </a:r>
            <a:endParaRPr lang="en-US" sz="1000" dirty="0"/>
          </a:p>
        </p:txBody>
      </p:sp>
      <p:pic>
        <p:nvPicPr>
          <p:cNvPr id="19" name="Picture 18">
            <a:extLst>
              <a:ext uri="{FF2B5EF4-FFF2-40B4-BE49-F238E27FC236}">
                <a16:creationId xmlns:a16="http://schemas.microsoft.com/office/drawing/2014/main" id="{A286E591-A07A-D1DC-F54E-F8FBB817ACC5}"/>
              </a:ext>
            </a:extLst>
          </p:cNvPr>
          <p:cNvPicPr>
            <a:picLocks noChangeAspect="1"/>
          </p:cNvPicPr>
          <p:nvPr/>
        </p:nvPicPr>
        <p:blipFill>
          <a:blip r:embed="rId3"/>
          <a:stretch>
            <a:fillRect/>
          </a:stretch>
        </p:blipFill>
        <p:spPr>
          <a:xfrm>
            <a:off x="7001381" y="3977640"/>
            <a:ext cx="5016758" cy="214006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What We Will Cover</a:t>
            </a:r>
            <a:endParaRPr lang="en-US" sz="3200" dirty="0"/>
          </a:p>
        </p:txBody>
      </p:sp>
      <p:sp>
        <p:nvSpPr>
          <p:cNvPr id="4" name="Shape 2"/>
          <p:cNvSpPr/>
          <p:nvPr/>
        </p:nvSpPr>
        <p:spPr>
          <a:xfrm>
            <a:off x="640080" y="1691640"/>
            <a:ext cx="3423818" cy="1965960"/>
          </a:xfrm>
          <a:prstGeom prst="roundRect">
            <a:avLst>
              <a:gd name="adj" fmla="val 418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5" name="Image 0" descr="/home/claude/ppt/img/circles/circ_cube_navy.png"/>
          <p:cNvPicPr>
            <a:picLocks noChangeAspect="1"/>
          </p:cNvPicPr>
          <p:nvPr/>
        </p:nvPicPr>
        <p:blipFill>
          <a:blip r:embed="rId3"/>
          <a:stretch>
            <a:fillRect/>
          </a:stretch>
        </p:blipFill>
        <p:spPr>
          <a:xfrm>
            <a:off x="896112" y="1947672"/>
            <a:ext cx="566928" cy="566928"/>
          </a:xfrm>
          <a:prstGeom prst="rect">
            <a:avLst/>
          </a:prstGeom>
        </p:spPr>
      </p:pic>
      <p:sp>
        <p:nvSpPr>
          <p:cNvPr id="6" name="Text 3"/>
          <p:cNvSpPr/>
          <p:nvPr/>
        </p:nvSpPr>
        <p:spPr>
          <a:xfrm>
            <a:off x="3378098" y="1892808"/>
            <a:ext cx="548640" cy="365760"/>
          </a:xfrm>
          <a:prstGeom prst="rect">
            <a:avLst/>
          </a:prstGeom>
          <a:noFill/>
          <a:ln/>
        </p:spPr>
        <p:txBody>
          <a:bodyPr wrap="square" rtlCol="0" anchor="ctr"/>
          <a:lstStyle/>
          <a:p>
            <a:pPr marL="0" indent="0" algn="r">
              <a:buNone/>
            </a:pPr>
            <a:r>
              <a:rPr lang="en-US" sz="2800" b="1" dirty="0">
                <a:solidFill>
                  <a:srgbClr val="D7E0E8"/>
                </a:solidFill>
                <a:latin typeface="Cambria" pitchFamily="34" charset="0"/>
                <a:ea typeface="Cambria" pitchFamily="34" charset="-122"/>
                <a:cs typeface="Cambria" pitchFamily="34" charset="-120"/>
              </a:rPr>
              <a:t>01</a:t>
            </a:r>
            <a:endParaRPr lang="en-US" sz="2800" dirty="0"/>
          </a:p>
        </p:txBody>
      </p:sp>
      <p:sp>
        <p:nvSpPr>
          <p:cNvPr id="7" name="Text 4"/>
          <p:cNvSpPr/>
          <p:nvPr/>
        </p:nvSpPr>
        <p:spPr>
          <a:xfrm>
            <a:off x="896112" y="2624328"/>
            <a:ext cx="2911754" cy="36576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CAD Geometry</a:t>
            </a:r>
            <a:endParaRPr lang="en-US" sz="2000" dirty="0"/>
          </a:p>
        </p:txBody>
      </p:sp>
      <p:sp>
        <p:nvSpPr>
          <p:cNvPr id="8" name="Text 5"/>
          <p:cNvSpPr/>
          <p:nvPr/>
        </p:nvSpPr>
        <p:spPr>
          <a:xfrm>
            <a:off x="896112" y="2990088"/>
            <a:ext cx="2911754" cy="59436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Swirled tube assembly, domains, and construction sequence</a:t>
            </a:r>
            <a:endParaRPr lang="en-US" sz="1400" dirty="0"/>
          </a:p>
        </p:txBody>
      </p:sp>
      <p:sp>
        <p:nvSpPr>
          <p:cNvPr id="9" name="Shape 6"/>
          <p:cNvSpPr/>
          <p:nvPr/>
        </p:nvSpPr>
        <p:spPr>
          <a:xfrm>
            <a:off x="4383938" y="1691640"/>
            <a:ext cx="3423818" cy="1965960"/>
          </a:xfrm>
          <a:prstGeom prst="roundRect">
            <a:avLst>
              <a:gd name="adj" fmla="val 418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10" name="Image 1" descr="/home/claude/ppt/img/circles/circ_projectdiagram_navy.png"/>
          <p:cNvPicPr>
            <a:picLocks noChangeAspect="1"/>
          </p:cNvPicPr>
          <p:nvPr/>
        </p:nvPicPr>
        <p:blipFill>
          <a:blip r:embed="rId4"/>
          <a:stretch>
            <a:fillRect/>
          </a:stretch>
        </p:blipFill>
        <p:spPr>
          <a:xfrm>
            <a:off x="4639970" y="1947672"/>
            <a:ext cx="566928" cy="566928"/>
          </a:xfrm>
          <a:prstGeom prst="rect">
            <a:avLst/>
          </a:prstGeom>
        </p:spPr>
      </p:pic>
      <p:sp>
        <p:nvSpPr>
          <p:cNvPr id="11" name="Text 7"/>
          <p:cNvSpPr/>
          <p:nvPr/>
        </p:nvSpPr>
        <p:spPr>
          <a:xfrm>
            <a:off x="7121957" y="1892808"/>
            <a:ext cx="548640" cy="365760"/>
          </a:xfrm>
          <a:prstGeom prst="rect">
            <a:avLst/>
          </a:prstGeom>
          <a:noFill/>
          <a:ln/>
        </p:spPr>
        <p:txBody>
          <a:bodyPr wrap="square" rtlCol="0" anchor="ctr"/>
          <a:lstStyle/>
          <a:p>
            <a:pPr marL="0" indent="0" algn="r">
              <a:buNone/>
            </a:pPr>
            <a:r>
              <a:rPr lang="en-US" sz="2800" b="1" dirty="0">
                <a:solidFill>
                  <a:srgbClr val="D7E0E8"/>
                </a:solidFill>
                <a:latin typeface="Cambria" pitchFamily="34" charset="0"/>
                <a:ea typeface="Cambria" pitchFamily="34" charset="-122"/>
                <a:cs typeface="Cambria" pitchFamily="34" charset="-120"/>
              </a:rPr>
              <a:t>02</a:t>
            </a:r>
            <a:endParaRPr lang="en-US" sz="2800" dirty="0"/>
          </a:p>
        </p:txBody>
      </p:sp>
      <p:sp>
        <p:nvSpPr>
          <p:cNvPr id="12" name="Text 8"/>
          <p:cNvSpPr/>
          <p:nvPr/>
        </p:nvSpPr>
        <p:spPr>
          <a:xfrm>
            <a:off x="4639970" y="2624328"/>
            <a:ext cx="2911754" cy="36576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Methodology</a:t>
            </a:r>
            <a:endParaRPr lang="en-US" sz="2000" dirty="0"/>
          </a:p>
        </p:txBody>
      </p:sp>
      <p:sp>
        <p:nvSpPr>
          <p:cNvPr id="13" name="Text 9"/>
          <p:cNvSpPr/>
          <p:nvPr/>
        </p:nvSpPr>
        <p:spPr>
          <a:xfrm>
            <a:off x="4639970" y="2990088"/>
            <a:ext cx="2911754" cy="59436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Physics, materials, mesh, and solver roadmap</a:t>
            </a:r>
            <a:endParaRPr lang="en-US" sz="1400" dirty="0"/>
          </a:p>
        </p:txBody>
      </p:sp>
      <p:sp>
        <p:nvSpPr>
          <p:cNvPr id="14" name="Shape 10"/>
          <p:cNvSpPr/>
          <p:nvPr/>
        </p:nvSpPr>
        <p:spPr>
          <a:xfrm>
            <a:off x="8127797" y="1691640"/>
            <a:ext cx="3423818" cy="1965960"/>
          </a:xfrm>
          <a:prstGeom prst="roundRect">
            <a:avLst>
              <a:gd name="adj" fmla="val 418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15" name="Image 2" descr="/home/claude/ppt/img/circles/circ_atom_teal.png"/>
          <p:cNvPicPr>
            <a:picLocks noChangeAspect="1"/>
          </p:cNvPicPr>
          <p:nvPr/>
        </p:nvPicPr>
        <p:blipFill>
          <a:blip r:embed="rId5"/>
          <a:stretch>
            <a:fillRect/>
          </a:stretch>
        </p:blipFill>
        <p:spPr>
          <a:xfrm>
            <a:off x="8383829" y="1947672"/>
            <a:ext cx="566928" cy="566928"/>
          </a:xfrm>
          <a:prstGeom prst="rect">
            <a:avLst/>
          </a:prstGeom>
        </p:spPr>
      </p:pic>
      <p:sp>
        <p:nvSpPr>
          <p:cNvPr id="16" name="Text 11"/>
          <p:cNvSpPr/>
          <p:nvPr/>
        </p:nvSpPr>
        <p:spPr>
          <a:xfrm>
            <a:off x="10865815" y="1892808"/>
            <a:ext cx="548640" cy="365760"/>
          </a:xfrm>
          <a:prstGeom prst="rect">
            <a:avLst/>
          </a:prstGeom>
          <a:noFill/>
          <a:ln/>
        </p:spPr>
        <p:txBody>
          <a:bodyPr wrap="square" rtlCol="0" anchor="ctr"/>
          <a:lstStyle/>
          <a:p>
            <a:pPr marL="0" indent="0" algn="r">
              <a:buNone/>
            </a:pPr>
            <a:r>
              <a:rPr lang="en-US" sz="2800" b="1" dirty="0">
                <a:solidFill>
                  <a:srgbClr val="D7E0E8"/>
                </a:solidFill>
                <a:latin typeface="Cambria" pitchFamily="34" charset="0"/>
                <a:ea typeface="Cambria" pitchFamily="34" charset="-122"/>
                <a:cs typeface="Cambria" pitchFamily="34" charset="-120"/>
              </a:rPr>
              <a:t>03</a:t>
            </a:r>
            <a:endParaRPr lang="en-US" sz="2800" dirty="0"/>
          </a:p>
        </p:txBody>
      </p:sp>
      <p:sp>
        <p:nvSpPr>
          <p:cNvPr id="17" name="Text 12"/>
          <p:cNvSpPr/>
          <p:nvPr/>
        </p:nvSpPr>
        <p:spPr>
          <a:xfrm>
            <a:off x="8383829" y="2624328"/>
            <a:ext cx="2911754" cy="36576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Governing Physics</a:t>
            </a:r>
            <a:endParaRPr lang="en-US" sz="2000" dirty="0"/>
          </a:p>
        </p:txBody>
      </p:sp>
      <p:sp>
        <p:nvSpPr>
          <p:cNvPr id="18" name="Text 13"/>
          <p:cNvSpPr/>
          <p:nvPr/>
        </p:nvSpPr>
        <p:spPr>
          <a:xfrm>
            <a:off x="8383829" y="2990088"/>
            <a:ext cx="2911754" cy="59436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Continuity, RANS momentum, k–ε turbulence, energy</a:t>
            </a:r>
            <a:endParaRPr lang="en-US" sz="1400" dirty="0"/>
          </a:p>
        </p:txBody>
      </p:sp>
      <p:sp>
        <p:nvSpPr>
          <p:cNvPr id="19" name="Shape 14"/>
          <p:cNvSpPr/>
          <p:nvPr/>
        </p:nvSpPr>
        <p:spPr>
          <a:xfrm>
            <a:off x="640080" y="3977640"/>
            <a:ext cx="3423818" cy="1965960"/>
          </a:xfrm>
          <a:prstGeom prst="roundRect">
            <a:avLst>
              <a:gd name="adj" fmla="val 418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20" name="Image 3" descr="/home/claude/ppt/img/circles/circ_chartline_navy.png"/>
          <p:cNvPicPr>
            <a:picLocks noChangeAspect="1"/>
          </p:cNvPicPr>
          <p:nvPr/>
        </p:nvPicPr>
        <p:blipFill>
          <a:blip r:embed="rId6"/>
          <a:stretch>
            <a:fillRect/>
          </a:stretch>
        </p:blipFill>
        <p:spPr>
          <a:xfrm>
            <a:off x="896112" y="4233672"/>
            <a:ext cx="566928" cy="566928"/>
          </a:xfrm>
          <a:prstGeom prst="rect">
            <a:avLst/>
          </a:prstGeom>
        </p:spPr>
      </p:pic>
      <p:sp>
        <p:nvSpPr>
          <p:cNvPr id="21" name="Text 15"/>
          <p:cNvSpPr/>
          <p:nvPr/>
        </p:nvSpPr>
        <p:spPr>
          <a:xfrm>
            <a:off x="3378098" y="4178808"/>
            <a:ext cx="548640" cy="365760"/>
          </a:xfrm>
          <a:prstGeom prst="rect">
            <a:avLst/>
          </a:prstGeom>
          <a:noFill/>
          <a:ln/>
        </p:spPr>
        <p:txBody>
          <a:bodyPr wrap="square" rtlCol="0" anchor="ctr"/>
          <a:lstStyle/>
          <a:p>
            <a:pPr marL="0" indent="0" algn="r">
              <a:buNone/>
            </a:pPr>
            <a:r>
              <a:rPr lang="en-US" sz="2800" b="1" dirty="0">
                <a:solidFill>
                  <a:srgbClr val="D7E0E8"/>
                </a:solidFill>
                <a:latin typeface="Cambria" pitchFamily="34" charset="0"/>
                <a:ea typeface="Cambria" pitchFamily="34" charset="-122"/>
                <a:cs typeface="Cambria" pitchFamily="34" charset="-120"/>
              </a:rPr>
              <a:t>04</a:t>
            </a:r>
            <a:endParaRPr lang="en-US" sz="2800" dirty="0"/>
          </a:p>
        </p:txBody>
      </p:sp>
      <p:sp>
        <p:nvSpPr>
          <p:cNvPr id="22" name="Text 16"/>
          <p:cNvSpPr/>
          <p:nvPr/>
        </p:nvSpPr>
        <p:spPr>
          <a:xfrm>
            <a:off x="896112" y="4910328"/>
            <a:ext cx="2911754" cy="36576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Simulation Results</a:t>
            </a:r>
            <a:endParaRPr lang="en-US" sz="2000" dirty="0"/>
          </a:p>
        </p:txBody>
      </p:sp>
      <p:sp>
        <p:nvSpPr>
          <p:cNvPr id="23" name="Text 17"/>
          <p:cNvSpPr/>
          <p:nvPr/>
        </p:nvSpPr>
        <p:spPr>
          <a:xfrm>
            <a:off x="896112" y="5276088"/>
            <a:ext cx="2911754" cy="59436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Temperature, velocity, and pressure fields</a:t>
            </a:r>
            <a:endParaRPr lang="en-US" sz="1400" dirty="0"/>
          </a:p>
        </p:txBody>
      </p:sp>
      <p:sp>
        <p:nvSpPr>
          <p:cNvPr id="24" name="Shape 18"/>
          <p:cNvSpPr/>
          <p:nvPr/>
        </p:nvSpPr>
        <p:spPr>
          <a:xfrm>
            <a:off x="4383938" y="3977640"/>
            <a:ext cx="3423818" cy="1965960"/>
          </a:xfrm>
          <a:prstGeom prst="roundRect">
            <a:avLst>
              <a:gd name="adj" fmla="val 418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25" name="Image 4" descr="/home/claude/ppt/img/circles/circ_calculator_navy.png"/>
          <p:cNvPicPr>
            <a:picLocks noChangeAspect="1"/>
          </p:cNvPicPr>
          <p:nvPr/>
        </p:nvPicPr>
        <p:blipFill>
          <a:blip r:embed="rId7"/>
          <a:stretch>
            <a:fillRect/>
          </a:stretch>
        </p:blipFill>
        <p:spPr>
          <a:xfrm>
            <a:off x="4639970" y="4233672"/>
            <a:ext cx="566928" cy="566928"/>
          </a:xfrm>
          <a:prstGeom prst="rect">
            <a:avLst/>
          </a:prstGeom>
        </p:spPr>
      </p:pic>
      <p:sp>
        <p:nvSpPr>
          <p:cNvPr id="26" name="Text 19"/>
          <p:cNvSpPr/>
          <p:nvPr/>
        </p:nvSpPr>
        <p:spPr>
          <a:xfrm>
            <a:off x="7121957" y="4178808"/>
            <a:ext cx="548640" cy="365760"/>
          </a:xfrm>
          <a:prstGeom prst="rect">
            <a:avLst/>
          </a:prstGeom>
          <a:noFill/>
          <a:ln/>
        </p:spPr>
        <p:txBody>
          <a:bodyPr wrap="square" rtlCol="0" anchor="ctr"/>
          <a:lstStyle/>
          <a:p>
            <a:pPr marL="0" indent="0" algn="r">
              <a:buNone/>
            </a:pPr>
            <a:r>
              <a:rPr lang="en-US" sz="2800" b="1" dirty="0">
                <a:solidFill>
                  <a:srgbClr val="D7E0E8"/>
                </a:solidFill>
                <a:latin typeface="Cambria" pitchFamily="34" charset="0"/>
                <a:ea typeface="Cambria" pitchFamily="34" charset="-122"/>
                <a:cs typeface="Cambria" pitchFamily="34" charset="-120"/>
              </a:rPr>
              <a:t>05</a:t>
            </a:r>
            <a:endParaRPr lang="en-US" sz="2800" dirty="0"/>
          </a:p>
        </p:txBody>
      </p:sp>
      <p:sp>
        <p:nvSpPr>
          <p:cNvPr id="27" name="Text 20"/>
          <p:cNvSpPr/>
          <p:nvPr/>
        </p:nvSpPr>
        <p:spPr>
          <a:xfrm>
            <a:off x="4639970" y="4910328"/>
            <a:ext cx="2911754" cy="36576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Hand Calculations</a:t>
            </a:r>
            <a:endParaRPr lang="en-US" sz="2000" dirty="0"/>
          </a:p>
        </p:txBody>
      </p:sp>
      <p:sp>
        <p:nvSpPr>
          <p:cNvPr id="28" name="Text 21"/>
          <p:cNvSpPr/>
          <p:nvPr/>
        </p:nvSpPr>
        <p:spPr>
          <a:xfrm>
            <a:off x="4639970" y="5276088"/>
            <a:ext cx="2911754" cy="59436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Heat duty, LMTD, effectiveness–NTU cross check</a:t>
            </a:r>
            <a:endParaRPr lang="en-US" sz="1400" dirty="0"/>
          </a:p>
        </p:txBody>
      </p:sp>
      <p:sp>
        <p:nvSpPr>
          <p:cNvPr id="29" name="Shape 22"/>
          <p:cNvSpPr/>
          <p:nvPr/>
        </p:nvSpPr>
        <p:spPr>
          <a:xfrm>
            <a:off x="8127797" y="3977640"/>
            <a:ext cx="3423818" cy="1965960"/>
          </a:xfrm>
          <a:prstGeom prst="roundRect">
            <a:avLst>
              <a:gd name="adj" fmla="val 418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30" name="Image 5" descr="/home/claude/ppt/img/circles/circ_checkcircle_teal.png"/>
          <p:cNvPicPr>
            <a:picLocks noChangeAspect="1"/>
          </p:cNvPicPr>
          <p:nvPr/>
        </p:nvPicPr>
        <p:blipFill>
          <a:blip r:embed="rId8"/>
          <a:stretch>
            <a:fillRect/>
          </a:stretch>
        </p:blipFill>
        <p:spPr>
          <a:xfrm>
            <a:off x="8383829" y="4233672"/>
            <a:ext cx="566928" cy="566928"/>
          </a:xfrm>
          <a:prstGeom prst="rect">
            <a:avLst/>
          </a:prstGeom>
        </p:spPr>
      </p:pic>
      <p:sp>
        <p:nvSpPr>
          <p:cNvPr id="31" name="Text 23"/>
          <p:cNvSpPr/>
          <p:nvPr/>
        </p:nvSpPr>
        <p:spPr>
          <a:xfrm>
            <a:off x="10865815" y="4178808"/>
            <a:ext cx="548640" cy="365760"/>
          </a:xfrm>
          <a:prstGeom prst="rect">
            <a:avLst/>
          </a:prstGeom>
          <a:noFill/>
          <a:ln/>
        </p:spPr>
        <p:txBody>
          <a:bodyPr wrap="square" rtlCol="0" anchor="ctr"/>
          <a:lstStyle/>
          <a:p>
            <a:pPr marL="0" indent="0" algn="r">
              <a:buNone/>
            </a:pPr>
            <a:r>
              <a:rPr lang="en-US" sz="2800" b="1" dirty="0">
                <a:solidFill>
                  <a:srgbClr val="D7E0E8"/>
                </a:solidFill>
                <a:latin typeface="Cambria" pitchFamily="34" charset="0"/>
                <a:ea typeface="Cambria" pitchFamily="34" charset="-122"/>
                <a:cs typeface="Cambria" pitchFamily="34" charset="-120"/>
              </a:rPr>
              <a:t>06</a:t>
            </a:r>
            <a:endParaRPr lang="en-US" sz="2800" dirty="0"/>
          </a:p>
        </p:txBody>
      </p:sp>
      <p:sp>
        <p:nvSpPr>
          <p:cNvPr id="32" name="Text 24"/>
          <p:cNvSpPr/>
          <p:nvPr/>
        </p:nvSpPr>
        <p:spPr>
          <a:xfrm>
            <a:off x="8383829" y="4910328"/>
            <a:ext cx="2911754" cy="36576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Conclusions</a:t>
            </a:r>
            <a:endParaRPr lang="en-US" sz="2000" dirty="0"/>
          </a:p>
        </p:txBody>
      </p:sp>
      <p:sp>
        <p:nvSpPr>
          <p:cNvPr id="33" name="Text 25"/>
          <p:cNvSpPr/>
          <p:nvPr/>
        </p:nvSpPr>
        <p:spPr>
          <a:xfrm>
            <a:off x="8383829" y="5276088"/>
            <a:ext cx="2911754" cy="59436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Performance summary and future work</a:t>
            </a:r>
            <a:endParaRPr lang="en-US" sz="1400" dirty="0"/>
          </a:p>
        </p:txBody>
      </p:sp>
      <p:sp>
        <p:nvSpPr>
          <p:cNvPr id="34" name="Text 26"/>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a:t>
            </a:r>
            <a:endParaRPr lang="en-US" sz="10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B2E"/>
        </a:solidFill>
        <a:effectLst/>
      </p:bgPr>
    </p:bg>
    <p:spTree>
      <p:nvGrpSpPr>
        <p:cNvPr id="1" name=""/>
        <p:cNvGrpSpPr/>
        <p:nvPr/>
      </p:nvGrpSpPr>
      <p:grpSpPr>
        <a:xfrm>
          <a:off x="0" y="0"/>
          <a:ext cx="0" cy="0"/>
          <a:chOff x="0" y="0"/>
          <a:chExt cx="0" cy="0"/>
        </a:xfrm>
      </p:grpSpPr>
      <p:sp>
        <p:nvSpPr>
          <p:cNvPr id="2" name="Shape 0"/>
          <p:cNvSpPr/>
          <p:nvPr/>
        </p:nvSpPr>
        <p:spPr>
          <a:xfrm>
            <a:off x="9692640" y="4023360"/>
            <a:ext cx="5029200" cy="5029200"/>
          </a:xfrm>
          <a:prstGeom prst="ellipse">
            <a:avLst/>
          </a:prstGeom>
          <a:solidFill>
            <a:srgbClr val="132A43">
              <a:alpha val="55000"/>
            </a:srgbClr>
          </a:solidFill>
          <a:ln/>
        </p:spPr>
        <p:txBody>
          <a:bodyPr/>
          <a:lstStyle/>
          <a:p>
            <a:endParaRPr lang="en-US"/>
          </a:p>
        </p:txBody>
      </p:sp>
      <p:sp>
        <p:nvSpPr>
          <p:cNvPr id="3" name="Text 1"/>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INTRODUCTION</a:t>
            </a:r>
            <a:endParaRPr lang="en-US" sz="1300" dirty="0"/>
          </a:p>
        </p:txBody>
      </p:sp>
      <p:sp>
        <p:nvSpPr>
          <p:cNvPr id="4" name="Text 2"/>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Why Swirl and Nanofluids?</a:t>
            </a:r>
            <a:endParaRPr lang="en-US" sz="3200" dirty="0"/>
          </a:p>
        </p:txBody>
      </p:sp>
      <p:sp>
        <p:nvSpPr>
          <p:cNvPr id="5" name="Text 3"/>
          <p:cNvSpPr/>
          <p:nvPr/>
        </p:nvSpPr>
        <p:spPr>
          <a:xfrm>
            <a:off x="640080" y="1417320"/>
            <a:ext cx="7772400" cy="365760"/>
          </a:xfrm>
          <a:prstGeom prst="rect">
            <a:avLst/>
          </a:prstGeom>
          <a:noFill/>
          <a:ln/>
        </p:spPr>
        <p:txBody>
          <a:bodyPr wrap="square" rtlCol="0" anchor="ctr"/>
          <a:lstStyle/>
          <a:p>
            <a:pPr marL="0" indent="0">
              <a:buNone/>
            </a:pPr>
            <a:r>
              <a:rPr lang="en-US" sz="1400" i="1" dirty="0">
                <a:solidFill>
                  <a:srgbClr val="9FB0C0"/>
                </a:solidFill>
                <a:latin typeface="Calibri" pitchFamily="34" charset="0"/>
                <a:ea typeface="Calibri" pitchFamily="34" charset="-122"/>
                <a:cs typeface="Calibri" pitchFamily="34" charset="-120"/>
              </a:rPr>
              <a:t>Two proven augmentation strategies, combined in one compact exchanger.</a:t>
            </a:r>
            <a:endParaRPr lang="en-US" sz="1400" dirty="0"/>
          </a:p>
        </p:txBody>
      </p:sp>
      <p:pic>
        <p:nvPicPr>
          <p:cNvPr id="6" name="Image 0" descr="/home/claude/ppt/img/circles/circ_wind_teal.png"/>
          <p:cNvPicPr>
            <a:picLocks noChangeAspect="1"/>
          </p:cNvPicPr>
          <p:nvPr/>
        </p:nvPicPr>
        <p:blipFill>
          <a:blip r:embed="rId3"/>
          <a:stretch>
            <a:fillRect/>
          </a:stretch>
        </p:blipFill>
        <p:spPr>
          <a:xfrm>
            <a:off x="640080" y="2103120"/>
            <a:ext cx="566928" cy="566928"/>
          </a:xfrm>
          <a:prstGeom prst="rect">
            <a:avLst/>
          </a:prstGeom>
        </p:spPr>
      </p:pic>
      <p:sp>
        <p:nvSpPr>
          <p:cNvPr id="7" name="Text 4"/>
          <p:cNvSpPr/>
          <p:nvPr/>
        </p:nvSpPr>
        <p:spPr>
          <a:xfrm>
            <a:off x="1417320" y="2084832"/>
            <a:ext cx="63093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Helical Swirl Geometry</a:t>
            </a:r>
            <a:endParaRPr lang="en-US" sz="1600" dirty="0"/>
          </a:p>
        </p:txBody>
      </p:sp>
      <p:sp>
        <p:nvSpPr>
          <p:cNvPr id="8" name="Text 5"/>
          <p:cNvSpPr/>
          <p:nvPr/>
        </p:nvSpPr>
        <p:spPr>
          <a:xfrm>
            <a:off x="1417320" y="2487168"/>
            <a:ext cx="6400800" cy="777240"/>
          </a:xfrm>
          <a:prstGeom prst="rect">
            <a:avLst/>
          </a:prstGeom>
          <a:noFill/>
          <a:ln/>
        </p:spPr>
        <p:txBody>
          <a:bodyPr wrap="square" rtlCol="0" anchor="t"/>
          <a:lstStyle/>
          <a:p>
            <a:pPr marL="0" indent="0">
              <a:lnSpc>
                <a:spcPct val="115000"/>
              </a:lnSpc>
              <a:buNone/>
            </a:pPr>
            <a:r>
              <a:rPr lang="en-US" sz="1150" dirty="0">
                <a:solidFill>
                  <a:srgbClr val="AFC3D6"/>
                </a:solidFill>
                <a:latin typeface="Calibri" pitchFamily="34" charset="0"/>
                <a:ea typeface="Calibri" pitchFamily="34" charset="-122"/>
                <a:cs typeface="Calibri" pitchFamily="34" charset="-120"/>
              </a:rPr>
              <a:t>A twisted inner tube forces both streams into a continuously rotating secondary flow, disrupting the thermal boundary layer and boosting radial mixing.</a:t>
            </a:r>
            <a:endParaRPr lang="en-US" sz="1150" dirty="0"/>
          </a:p>
        </p:txBody>
      </p:sp>
      <p:pic>
        <p:nvPicPr>
          <p:cNvPr id="9" name="Image 1" descr="/home/claude/ppt/img/circles/circ_flask_orange.png"/>
          <p:cNvPicPr>
            <a:picLocks noChangeAspect="1"/>
          </p:cNvPicPr>
          <p:nvPr/>
        </p:nvPicPr>
        <p:blipFill>
          <a:blip r:embed="rId4"/>
          <a:stretch>
            <a:fillRect/>
          </a:stretch>
        </p:blipFill>
        <p:spPr>
          <a:xfrm>
            <a:off x="640080" y="3520440"/>
            <a:ext cx="566928" cy="566928"/>
          </a:xfrm>
          <a:prstGeom prst="rect">
            <a:avLst/>
          </a:prstGeom>
        </p:spPr>
      </p:pic>
      <p:sp>
        <p:nvSpPr>
          <p:cNvPr id="10" name="Text 6"/>
          <p:cNvSpPr/>
          <p:nvPr/>
        </p:nvSpPr>
        <p:spPr>
          <a:xfrm>
            <a:off x="1417320" y="3502152"/>
            <a:ext cx="63093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Hybrid Nanofluid Coolant</a:t>
            </a:r>
            <a:endParaRPr lang="en-US" sz="1600" dirty="0"/>
          </a:p>
        </p:txBody>
      </p:sp>
      <p:sp>
        <p:nvSpPr>
          <p:cNvPr id="11" name="Text 7"/>
          <p:cNvSpPr/>
          <p:nvPr/>
        </p:nvSpPr>
        <p:spPr>
          <a:xfrm>
            <a:off x="1417320" y="3904488"/>
            <a:ext cx="6400800" cy="777240"/>
          </a:xfrm>
          <a:prstGeom prst="rect">
            <a:avLst/>
          </a:prstGeom>
          <a:noFill/>
          <a:ln/>
        </p:spPr>
        <p:txBody>
          <a:bodyPr wrap="square" rtlCol="0" anchor="t"/>
          <a:lstStyle/>
          <a:p>
            <a:pPr marL="0" indent="0">
              <a:lnSpc>
                <a:spcPct val="115000"/>
              </a:lnSpc>
              <a:buNone/>
            </a:pPr>
            <a:r>
              <a:rPr lang="en-US" sz="1150" dirty="0">
                <a:solidFill>
                  <a:srgbClr val="AFC3D6"/>
                </a:solidFill>
                <a:latin typeface="Calibri" pitchFamily="34" charset="0"/>
                <a:ea typeface="Calibri" pitchFamily="34" charset="-122"/>
                <a:cs typeface="Calibri" pitchFamily="34" charset="-120"/>
              </a:rPr>
              <a:t>An Al₂O₃–CuO–CNT hybrid nanofluid raises thermal conductivity by up to 35% over the base fluid across the tested concentration range.</a:t>
            </a:r>
            <a:endParaRPr lang="en-US" sz="1150" dirty="0"/>
          </a:p>
        </p:txBody>
      </p:sp>
      <p:pic>
        <p:nvPicPr>
          <p:cNvPr id="12" name="Image 2" descr="/home/claude/ppt/img/circles/circ_bolt_orange.png"/>
          <p:cNvPicPr>
            <a:picLocks noChangeAspect="1"/>
          </p:cNvPicPr>
          <p:nvPr/>
        </p:nvPicPr>
        <p:blipFill>
          <a:blip r:embed="rId5"/>
          <a:stretch>
            <a:fillRect/>
          </a:stretch>
        </p:blipFill>
        <p:spPr>
          <a:xfrm>
            <a:off x="640080" y="4937760"/>
            <a:ext cx="566928" cy="566928"/>
          </a:xfrm>
          <a:prstGeom prst="rect">
            <a:avLst/>
          </a:prstGeom>
        </p:spPr>
      </p:pic>
      <p:sp>
        <p:nvSpPr>
          <p:cNvPr id="13" name="Text 8"/>
          <p:cNvSpPr/>
          <p:nvPr/>
        </p:nvSpPr>
        <p:spPr>
          <a:xfrm>
            <a:off x="1417320" y="4919472"/>
            <a:ext cx="63093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Compounded Benefit</a:t>
            </a:r>
            <a:endParaRPr lang="en-US" sz="1600" dirty="0"/>
          </a:p>
        </p:txBody>
      </p:sp>
      <p:sp>
        <p:nvSpPr>
          <p:cNvPr id="14" name="Text 9"/>
          <p:cNvSpPr/>
          <p:nvPr/>
        </p:nvSpPr>
        <p:spPr>
          <a:xfrm>
            <a:off x="1417320" y="5321808"/>
            <a:ext cx="6400800" cy="777240"/>
          </a:xfrm>
          <a:prstGeom prst="rect">
            <a:avLst/>
          </a:prstGeom>
          <a:noFill/>
          <a:ln/>
        </p:spPr>
        <p:txBody>
          <a:bodyPr wrap="square" rtlCol="0" anchor="t"/>
          <a:lstStyle/>
          <a:p>
            <a:pPr marL="0" indent="0">
              <a:lnSpc>
                <a:spcPct val="115000"/>
              </a:lnSpc>
              <a:buNone/>
            </a:pPr>
            <a:r>
              <a:rPr lang="en-US" sz="1150" dirty="0">
                <a:solidFill>
                  <a:srgbClr val="AFC3D6"/>
                </a:solidFill>
                <a:latin typeface="Calibri" pitchFamily="34" charset="0"/>
                <a:ea typeface="Calibri" pitchFamily="34" charset="-122"/>
                <a:cs typeface="Calibri" pitchFamily="34" charset="-120"/>
              </a:rPr>
              <a:t>Combining both strategies drives a high rate of heat recovery from a laboratory scale unit, at a very small pumping power penalty.</a:t>
            </a:r>
            <a:endParaRPr lang="en-US" sz="1150" dirty="0"/>
          </a:p>
        </p:txBody>
      </p:sp>
      <p:sp>
        <p:nvSpPr>
          <p:cNvPr id="15" name="Shape 10"/>
          <p:cNvSpPr/>
          <p:nvPr/>
        </p:nvSpPr>
        <p:spPr>
          <a:xfrm>
            <a:off x="8037576" y="1911096"/>
            <a:ext cx="3538728" cy="2681478"/>
          </a:xfrm>
          <a:prstGeom prst="roundRect">
            <a:avLst>
              <a:gd name="adj" fmla="val 2387"/>
            </a:avLst>
          </a:prstGeom>
          <a:solidFill>
            <a:srgbClr val="FFFFFF"/>
          </a:solidFill>
          <a:ln w="12700">
            <a:solidFill>
              <a:srgbClr val="E3E9EE"/>
            </a:solidFill>
            <a:prstDash val="solid"/>
          </a:ln>
          <a:effectLst>
            <a:outerShdw blurRad="152400" dist="38100" dir="5400000" algn="bl" rotWithShape="0">
              <a:srgbClr val="1B2531">
                <a:alpha val="15000"/>
              </a:srgbClr>
            </a:outerShdw>
          </a:effectLst>
        </p:spPr>
        <p:txBody>
          <a:bodyPr/>
          <a:lstStyle/>
          <a:p>
            <a:endParaRPr lang="en-US"/>
          </a:p>
        </p:txBody>
      </p:sp>
      <p:pic>
        <p:nvPicPr>
          <p:cNvPr id="16" name="Image 3" descr="/home/claude/ppt/img/pg_pg9.png"/>
          <p:cNvPicPr>
            <a:picLocks noChangeAspect="1"/>
          </p:cNvPicPr>
          <p:nvPr/>
        </p:nvPicPr>
        <p:blipFill>
          <a:blip r:embed="rId6"/>
          <a:stretch>
            <a:fillRect/>
          </a:stretch>
        </p:blipFill>
        <p:spPr>
          <a:xfrm>
            <a:off x="8092440" y="1965960"/>
            <a:ext cx="3429000" cy="2571750"/>
          </a:xfrm>
          <a:prstGeom prst="rect">
            <a:avLst/>
          </a:prstGeom>
        </p:spPr>
      </p:pic>
      <p:sp>
        <p:nvSpPr>
          <p:cNvPr id="17" name="Text 11"/>
          <p:cNvSpPr/>
          <p:nvPr/>
        </p:nvSpPr>
        <p:spPr>
          <a:xfrm>
            <a:off x="8092440" y="4590288"/>
            <a:ext cx="3429000" cy="320040"/>
          </a:xfrm>
          <a:prstGeom prst="rect">
            <a:avLst/>
          </a:prstGeom>
          <a:noFill/>
          <a:ln/>
        </p:spPr>
        <p:txBody>
          <a:bodyPr wrap="square" rtlCol="0" anchor="ctr"/>
          <a:lstStyle/>
          <a:p>
            <a:pPr marL="0" indent="0" algn="ctr">
              <a:buNone/>
            </a:pPr>
            <a:r>
              <a:rPr lang="en-US" sz="900" i="1" dirty="0">
                <a:solidFill>
                  <a:srgbClr val="8FA3B8"/>
                </a:solidFill>
                <a:latin typeface="Calibri" pitchFamily="34" charset="0"/>
                <a:ea typeface="Calibri" pitchFamily="34" charset="-122"/>
                <a:cs typeface="Calibri" pitchFamily="34" charset="-120"/>
              </a:rPr>
              <a:t>Figure: coupled temperature field of the exchanger</a:t>
            </a:r>
            <a:endParaRPr lang="en-US" sz="900" dirty="0"/>
          </a:p>
        </p:txBody>
      </p:sp>
      <p:sp>
        <p:nvSpPr>
          <p:cNvPr id="18" name="Text 12"/>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9FB0C0"/>
                </a:solidFill>
                <a:latin typeface="Calibri" pitchFamily="34" charset="0"/>
                <a:ea typeface="Calibri" pitchFamily="34" charset="-122"/>
                <a:cs typeface="Calibri" pitchFamily="34" charset="-120"/>
              </a:rPr>
              <a:t>2</a:t>
            </a:r>
            <a:endParaRPr lang="en-US" sz="10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PROJECT SCOPE</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Objectives</a:t>
            </a:r>
            <a:endParaRPr lang="en-US" sz="3200" dirty="0"/>
          </a:p>
        </p:txBody>
      </p:sp>
      <p:sp>
        <p:nvSpPr>
          <p:cNvPr id="4" name="Shape 2"/>
          <p:cNvSpPr/>
          <p:nvPr/>
        </p:nvSpPr>
        <p:spPr>
          <a:xfrm>
            <a:off x="640080" y="1691640"/>
            <a:ext cx="5272888" cy="1207008"/>
          </a:xfrm>
          <a:prstGeom prst="roundRect">
            <a:avLst>
              <a:gd name="adj" fmla="val 6818"/>
            </a:avLst>
          </a:prstGeom>
          <a:ln/>
        </p:spPr>
        <p:style>
          <a:lnRef idx="1">
            <a:schemeClr val="accent3"/>
          </a:lnRef>
          <a:fillRef idx="2">
            <a:schemeClr val="accent3"/>
          </a:fillRef>
          <a:effectRef idx="1">
            <a:schemeClr val="accent3"/>
          </a:effectRef>
          <a:fontRef idx="minor">
            <a:schemeClr val="dk1"/>
          </a:fontRef>
        </p:style>
        <p:txBody>
          <a:bodyPr/>
          <a:lstStyle/>
          <a:p>
            <a:endParaRPr lang="en-US" sz="2800"/>
          </a:p>
        </p:txBody>
      </p:sp>
      <p:pic>
        <p:nvPicPr>
          <p:cNvPr id="5" name="Image 0" descr="/home/claude/ppt/img/circles/circ_cube_navy.png"/>
          <p:cNvPicPr>
            <a:picLocks noChangeAspect="1"/>
          </p:cNvPicPr>
          <p:nvPr/>
        </p:nvPicPr>
        <p:blipFill>
          <a:blip r:embed="rId3"/>
          <a:stretch>
            <a:fillRect/>
          </a:stretch>
        </p:blipFill>
        <p:spPr>
          <a:xfrm>
            <a:off x="868680" y="2029968"/>
            <a:ext cx="530352" cy="530352"/>
          </a:xfrm>
          <a:prstGeom prst="rect">
            <a:avLst/>
          </a:prstGeom>
        </p:spPr>
      </p:pic>
      <p:sp>
        <p:nvSpPr>
          <p:cNvPr id="6" name="Text 3"/>
          <p:cNvSpPr/>
          <p:nvPr/>
        </p:nvSpPr>
        <p:spPr>
          <a:xfrm>
            <a:off x="1554480" y="1819656"/>
            <a:ext cx="4129888" cy="329184"/>
          </a:xfrm>
          <a:prstGeom prst="rect">
            <a:avLst/>
          </a:prstGeom>
          <a:noFill/>
          <a:ln/>
        </p:spPr>
        <p:txBody>
          <a:bodyPr wrap="square" rtlCol="0" anchor="ctr"/>
          <a:lstStyle/>
          <a:p>
            <a:pPr marL="0" indent="0">
              <a:buNone/>
            </a:pPr>
            <a:r>
              <a:rPr lang="en-US" b="1" dirty="0">
                <a:solidFill>
                  <a:srgbClr val="132A43"/>
                </a:solidFill>
                <a:latin typeface="Cambria" pitchFamily="34" charset="0"/>
                <a:ea typeface="Cambria" pitchFamily="34" charset="-122"/>
                <a:cs typeface="Cambria" pitchFamily="34" charset="-120"/>
              </a:rPr>
              <a:t>Reconstruct the CAD Model</a:t>
            </a:r>
            <a:endParaRPr lang="en-US" dirty="0"/>
          </a:p>
        </p:txBody>
      </p:sp>
      <p:sp>
        <p:nvSpPr>
          <p:cNvPr id="7" name="Text 4"/>
          <p:cNvSpPr/>
          <p:nvPr/>
        </p:nvSpPr>
        <p:spPr>
          <a:xfrm>
            <a:off x="1554480" y="2167128"/>
            <a:ext cx="4129888" cy="621792"/>
          </a:xfrm>
          <a:prstGeom prst="rect">
            <a:avLst/>
          </a:prstGeom>
          <a:noFill/>
          <a:ln/>
        </p:spPr>
        <p:txBody>
          <a:bodyPr wrap="square" rtlCol="0" anchor="t"/>
          <a:lstStyle/>
          <a:p>
            <a:pPr marL="0" indent="0">
              <a:lnSpc>
                <a:spcPct val="110000"/>
              </a:lnSpc>
              <a:buNone/>
            </a:pPr>
            <a:r>
              <a:rPr lang="en-US" sz="1200" dirty="0">
                <a:solidFill>
                  <a:srgbClr val="6B7785"/>
                </a:solidFill>
                <a:latin typeface="Calibri" pitchFamily="34" charset="0"/>
                <a:ea typeface="Calibri" pitchFamily="34" charset="-122"/>
                <a:cs typeface="Calibri" pitchFamily="34" charset="-120"/>
              </a:rPr>
              <a:t>Present the imported swirled tube assembly in clear, documented form.</a:t>
            </a:r>
            <a:endParaRPr lang="en-US" sz="1200" dirty="0"/>
          </a:p>
        </p:txBody>
      </p:sp>
      <p:sp>
        <p:nvSpPr>
          <p:cNvPr id="8" name="Shape 5"/>
          <p:cNvSpPr/>
          <p:nvPr/>
        </p:nvSpPr>
        <p:spPr>
          <a:xfrm>
            <a:off x="6278728" y="1691640"/>
            <a:ext cx="5272888" cy="1207008"/>
          </a:xfrm>
          <a:prstGeom prst="roundRect">
            <a:avLst>
              <a:gd name="adj" fmla="val 6818"/>
            </a:avLst>
          </a:prstGeom>
          <a:ln/>
        </p:spPr>
        <p:style>
          <a:lnRef idx="1">
            <a:schemeClr val="accent5"/>
          </a:lnRef>
          <a:fillRef idx="2">
            <a:schemeClr val="accent5"/>
          </a:fillRef>
          <a:effectRef idx="1">
            <a:schemeClr val="accent5"/>
          </a:effectRef>
          <a:fontRef idx="minor">
            <a:schemeClr val="dk1"/>
          </a:fontRef>
        </p:style>
        <p:txBody>
          <a:bodyPr/>
          <a:lstStyle/>
          <a:p>
            <a:endParaRPr lang="en-US" sz="2800"/>
          </a:p>
        </p:txBody>
      </p:sp>
      <p:pic>
        <p:nvPicPr>
          <p:cNvPr id="9" name="Image 1" descr="/home/claude/ppt/img/circles/circ_atom_teal.png"/>
          <p:cNvPicPr>
            <a:picLocks noChangeAspect="1"/>
          </p:cNvPicPr>
          <p:nvPr/>
        </p:nvPicPr>
        <p:blipFill>
          <a:blip r:embed="rId4"/>
          <a:stretch>
            <a:fillRect/>
          </a:stretch>
        </p:blipFill>
        <p:spPr>
          <a:xfrm>
            <a:off x="6507328" y="2029968"/>
            <a:ext cx="530352" cy="530352"/>
          </a:xfrm>
          <a:prstGeom prst="rect">
            <a:avLst/>
          </a:prstGeom>
        </p:spPr>
      </p:pic>
      <p:sp>
        <p:nvSpPr>
          <p:cNvPr id="10" name="Text 6"/>
          <p:cNvSpPr/>
          <p:nvPr/>
        </p:nvSpPr>
        <p:spPr>
          <a:xfrm>
            <a:off x="7193128" y="1819656"/>
            <a:ext cx="4129888" cy="329184"/>
          </a:xfrm>
          <a:prstGeom prst="rect">
            <a:avLst/>
          </a:prstGeom>
          <a:noFill/>
          <a:ln/>
        </p:spPr>
        <p:txBody>
          <a:bodyPr wrap="square" rtlCol="0" anchor="ctr"/>
          <a:lstStyle/>
          <a:p>
            <a:pPr marL="0" indent="0">
              <a:buNone/>
            </a:pPr>
            <a:r>
              <a:rPr lang="en-US" b="1" dirty="0">
                <a:solidFill>
                  <a:srgbClr val="132A43"/>
                </a:solidFill>
                <a:latin typeface="Cambria" pitchFamily="34" charset="0"/>
                <a:ea typeface="Cambria" pitchFamily="34" charset="-122"/>
                <a:cs typeface="Cambria" pitchFamily="34" charset="-120"/>
              </a:rPr>
              <a:t>Formalise the Physics</a:t>
            </a:r>
            <a:endParaRPr lang="en-US" dirty="0"/>
          </a:p>
        </p:txBody>
      </p:sp>
      <p:sp>
        <p:nvSpPr>
          <p:cNvPr id="11" name="Text 7"/>
          <p:cNvSpPr/>
          <p:nvPr/>
        </p:nvSpPr>
        <p:spPr>
          <a:xfrm>
            <a:off x="7193128" y="2167128"/>
            <a:ext cx="4129888" cy="621792"/>
          </a:xfrm>
          <a:prstGeom prst="rect">
            <a:avLst/>
          </a:prstGeom>
          <a:noFill/>
          <a:ln/>
        </p:spPr>
        <p:txBody>
          <a:bodyPr wrap="square" rtlCol="0" anchor="t"/>
          <a:lstStyle/>
          <a:p>
            <a:pPr marL="0" indent="0">
              <a:lnSpc>
                <a:spcPct val="110000"/>
              </a:lnSpc>
              <a:buNone/>
            </a:pPr>
            <a:r>
              <a:rPr lang="en-US" sz="1200" dirty="0">
                <a:solidFill>
                  <a:srgbClr val="6B7785"/>
                </a:solidFill>
                <a:latin typeface="Calibri" pitchFamily="34" charset="0"/>
                <a:ea typeface="Calibri" pitchFamily="34" charset="-122"/>
                <a:cs typeface="Calibri" pitchFamily="34" charset="-120"/>
              </a:rPr>
              <a:t>Express the governing conjugate flow and heat transfer equations in proper notation.</a:t>
            </a:r>
            <a:endParaRPr lang="en-US" sz="1200" dirty="0"/>
          </a:p>
        </p:txBody>
      </p:sp>
      <p:sp>
        <p:nvSpPr>
          <p:cNvPr id="12" name="Shape 8"/>
          <p:cNvSpPr/>
          <p:nvPr/>
        </p:nvSpPr>
        <p:spPr>
          <a:xfrm>
            <a:off x="640080" y="3154680"/>
            <a:ext cx="5272888" cy="1207008"/>
          </a:xfrm>
          <a:prstGeom prst="roundRect">
            <a:avLst>
              <a:gd name="adj" fmla="val 6818"/>
            </a:avLst>
          </a:prstGeom>
          <a:ln/>
        </p:spPr>
        <p:style>
          <a:lnRef idx="1">
            <a:schemeClr val="accent2"/>
          </a:lnRef>
          <a:fillRef idx="2">
            <a:schemeClr val="accent2"/>
          </a:fillRef>
          <a:effectRef idx="1">
            <a:schemeClr val="accent2"/>
          </a:effectRef>
          <a:fontRef idx="minor">
            <a:schemeClr val="dk1"/>
          </a:fontRef>
        </p:style>
        <p:txBody>
          <a:bodyPr/>
          <a:lstStyle/>
          <a:p>
            <a:endParaRPr lang="en-US" sz="2800"/>
          </a:p>
        </p:txBody>
      </p:sp>
      <p:pic>
        <p:nvPicPr>
          <p:cNvPr id="13" name="Image 2" descr="/home/claude/ppt/img/circles/circ_sliders_navy.png"/>
          <p:cNvPicPr>
            <a:picLocks noChangeAspect="1"/>
          </p:cNvPicPr>
          <p:nvPr/>
        </p:nvPicPr>
        <p:blipFill>
          <a:blip r:embed="rId5"/>
          <a:stretch>
            <a:fillRect/>
          </a:stretch>
        </p:blipFill>
        <p:spPr>
          <a:xfrm>
            <a:off x="868680" y="3493008"/>
            <a:ext cx="530352" cy="530352"/>
          </a:xfrm>
          <a:prstGeom prst="rect">
            <a:avLst/>
          </a:prstGeom>
        </p:spPr>
      </p:pic>
      <p:sp>
        <p:nvSpPr>
          <p:cNvPr id="14" name="Text 9"/>
          <p:cNvSpPr/>
          <p:nvPr/>
        </p:nvSpPr>
        <p:spPr>
          <a:xfrm>
            <a:off x="1554480" y="3282696"/>
            <a:ext cx="4129888" cy="329184"/>
          </a:xfrm>
          <a:prstGeom prst="rect">
            <a:avLst/>
          </a:prstGeom>
          <a:noFill/>
          <a:ln/>
        </p:spPr>
        <p:txBody>
          <a:bodyPr wrap="square" rtlCol="0" anchor="ctr"/>
          <a:lstStyle/>
          <a:p>
            <a:pPr marL="0" indent="0">
              <a:buNone/>
            </a:pPr>
            <a:r>
              <a:rPr lang="en-US" b="1" dirty="0">
                <a:solidFill>
                  <a:srgbClr val="132A43"/>
                </a:solidFill>
                <a:latin typeface="Cambria" pitchFamily="34" charset="0"/>
                <a:ea typeface="Cambria" pitchFamily="34" charset="-122"/>
                <a:cs typeface="Cambria" pitchFamily="34" charset="-120"/>
              </a:rPr>
              <a:t>Document the Setup</a:t>
            </a:r>
            <a:endParaRPr lang="en-US" dirty="0"/>
          </a:p>
        </p:txBody>
      </p:sp>
      <p:sp>
        <p:nvSpPr>
          <p:cNvPr id="15" name="Text 10"/>
          <p:cNvSpPr/>
          <p:nvPr/>
        </p:nvSpPr>
        <p:spPr>
          <a:xfrm>
            <a:off x="1554480" y="3630168"/>
            <a:ext cx="4129888" cy="621792"/>
          </a:xfrm>
          <a:prstGeom prst="rect">
            <a:avLst/>
          </a:prstGeom>
          <a:noFill/>
          <a:ln/>
        </p:spPr>
        <p:txBody>
          <a:bodyPr wrap="square" rtlCol="0" anchor="t"/>
          <a:lstStyle/>
          <a:p>
            <a:pPr marL="0" indent="0">
              <a:lnSpc>
                <a:spcPct val="110000"/>
              </a:lnSpc>
              <a:buNone/>
            </a:pPr>
            <a:r>
              <a:rPr lang="en-US" sz="1200" dirty="0">
                <a:solidFill>
                  <a:srgbClr val="6B7785"/>
                </a:solidFill>
                <a:latin typeface="Calibri" pitchFamily="34" charset="0"/>
                <a:ea typeface="Calibri" pitchFamily="34" charset="-122"/>
                <a:cs typeface="Calibri" pitchFamily="34" charset="-120"/>
              </a:rPr>
              <a:t>Summarise materials, boundary conditions, mesh, and solver configuration.</a:t>
            </a:r>
            <a:endParaRPr lang="en-US" sz="1200" dirty="0"/>
          </a:p>
        </p:txBody>
      </p:sp>
      <p:sp>
        <p:nvSpPr>
          <p:cNvPr id="16" name="Shape 11"/>
          <p:cNvSpPr/>
          <p:nvPr/>
        </p:nvSpPr>
        <p:spPr>
          <a:xfrm>
            <a:off x="6278728" y="3154680"/>
            <a:ext cx="5272888" cy="1207008"/>
          </a:xfrm>
          <a:prstGeom prst="roundRect">
            <a:avLst>
              <a:gd name="adj" fmla="val 6818"/>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17" name="Image 3" descr="/home/claude/ppt/img/circles/circ_chartline_navy.png"/>
          <p:cNvPicPr>
            <a:picLocks noChangeAspect="1"/>
          </p:cNvPicPr>
          <p:nvPr/>
        </p:nvPicPr>
        <p:blipFill>
          <a:blip r:embed="rId6"/>
          <a:stretch>
            <a:fillRect/>
          </a:stretch>
        </p:blipFill>
        <p:spPr>
          <a:xfrm>
            <a:off x="6507328" y="3493008"/>
            <a:ext cx="530352" cy="530352"/>
          </a:xfrm>
          <a:prstGeom prst="rect">
            <a:avLst/>
          </a:prstGeom>
        </p:spPr>
      </p:pic>
      <p:sp>
        <p:nvSpPr>
          <p:cNvPr id="18" name="Text 12"/>
          <p:cNvSpPr/>
          <p:nvPr/>
        </p:nvSpPr>
        <p:spPr>
          <a:xfrm>
            <a:off x="7193128" y="3282696"/>
            <a:ext cx="4129888" cy="329184"/>
          </a:xfrm>
          <a:prstGeom prst="rect">
            <a:avLst/>
          </a:prstGeom>
          <a:noFill/>
          <a:ln/>
        </p:spPr>
        <p:txBody>
          <a:bodyPr wrap="square" rtlCol="0" anchor="ctr"/>
          <a:lstStyle/>
          <a:p>
            <a:pPr marL="0" indent="0">
              <a:buNone/>
            </a:pPr>
            <a:r>
              <a:rPr lang="en-US" b="1" dirty="0">
                <a:solidFill>
                  <a:srgbClr val="132A43"/>
                </a:solidFill>
                <a:latin typeface="Cambria" pitchFamily="34" charset="0"/>
                <a:ea typeface="Cambria" pitchFamily="34" charset="-122"/>
                <a:cs typeface="Cambria" pitchFamily="34" charset="-120"/>
              </a:rPr>
              <a:t>Interpret the Fields</a:t>
            </a:r>
            <a:endParaRPr lang="en-US" dirty="0"/>
          </a:p>
        </p:txBody>
      </p:sp>
      <p:sp>
        <p:nvSpPr>
          <p:cNvPr id="19" name="Text 13"/>
          <p:cNvSpPr/>
          <p:nvPr/>
        </p:nvSpPr>
        <p:spPr>
          <a:xfrm>
            <a:off x="7193128" y="3630168"/>
            <a:ext cx="4129888" cy="621792"/>
          </a:xfrm>
          <a:prstGeom prst="rect">
            <a:avLst/>
          </a:prstGeom>
          <a:noFill/>
          <a:ln/>
        </p:spPr>
        <p:txBody>
          <a:bodyPr wrap="square" rtlCol="0" anchor="t"/>
          <a:lstStyle/>
          <a:p>
            <a:pPr marL="0" indent="0">
              <a:lnSpc>
                <a:spcPct val="110000"/>
              </a:lnSpc>
              <a:buNone/>
            </a:pPr>
            <a:r>
              <a:rPr lang="en-US" sz="1200" dirty="0">
                <a:solidFill>
                  <a:srgbClr val="6B7785"/>
                </a:solidFill>
                <a:latin typeface="Calibri" pitchFamily="34" charset="0"/>
                <a:ea typeface="Calibri" pitchFamily="34" charset="-122"/>
                <a:cs typeface="Calibri" pitchFamily="34" charset="-120"/>
              </a:rPr>
              <a:t>Report simulated temperature, velocity, and pressure results with figures.</a:t>
            </a:r>
            <a:endParaRPr lang="en-US" sz="1200" dirty="0"/>
          </a:p>
        </p:txBody>
      </p:sp>
      <p:sp>
        <p:nvSpPr>
          <p:cNvPr id="20" name="Shape 14"/>
          <p:cNvSpPr/>
          <p:nvPr/>
        </p:nvSpPr>
        <p:spPr>
          <a:xfrm>
            <a:off x="640080" y="4617720"/>
            <a:ext cx="5272888" cy="1207008"/>
          </a:xfrm>
          <a:prstGeom prst="roundRect">
            <a:avLst>
              <a:gd name="adj" fmla="val 6818"/>
            </a:avLst>
          </a:prstGeom>
          <a:ln/>
        </p:spPr>
        <p:style>
          <a:lnRef idx="1">
            <a:schemeClr val="accent6"/>
          </a:lnRef>
          <a:fillRef idx="2">
            <a:schemeClr val="accent6"/>
          </a:fillRef>
          <a:effectRef idx="1">
            <a:schemeClr val="accent6"/>
          </a:effectRef>
          <a:fontRef idx="minor">
            <a:schemeClr val="dk1"/>
          </a:fontRef>
        </p:style>
        <p:txBody>
          <a:bodyPr/>
          <a:lstStyle/>
          <a:p>
            <a:endParaRPr lang="en-US" sz="2800"/>
          </a:p>
        </p:txBody>
      </p:sp>
      <p:pic>
        <p:nvPicPr>
          <p:cNvPr id="21" name="Image 4" descr="/home/claude/ppt/img/circles/circ_calculator_navy.png"/>
          <p:cNvPicPr>
            <a:picLocks noChangeAspect="1"/>
          </p:cNvPicPr>
          <p:nvPr/>
        </p:nvPicPr>
        <p:blipFill>
          <a:blip r:embed="rId7"/>
          <a:stretch>
            <a:fillRect/>
          </a:stretch>
        </p:blipFill>
        <p:spPr>
          <a:xfrm>
            <a:off x="868680" y="4956048"/>
            <a:ext cx="530352" cy="530352"/>
          </a:xfrm>
          <a:prstGeom prst="rect">
            <a:avLst/>
          </a:prstGeom>
        </p:spPr>
      </p:pic>
      <p:sp>
        <p:nvSpPr>
          <p:cNvPr id="22" name="Text 15"/>
          <p:cNvSpPr/>
          <p:nvPr/>
        </p:nvSpPr>
        <p:spPr>
          <a:xfrm>
            <a:off x="1554480" y="4745736"/>
            <a:ext cx="4129888" cy="329184"/>
          </a:xfrm>
          <a:prstGeom prst="rect">
            <a:avLst/>
          </a:prstGeom>
          <a:noFill/>
          <a:ln/>
        </p:spPr>
        <p:txBody>
          <a:bodyPr wrap="square" rtlCol="0" anchor="ctr"/>
          <a:lstStyle/>
          <a:p>
            <a:pPr marL="0" indent="0">
              <a:buNone/>
            </a:pPr>
            <a:r>
              <a:rPr lang="en-US" b="1" dirty="0">
                <a:solidFill>
                  <a:srgbClr val="132A43"/>
                </a:solidFill>
                <a:latin typeface="Cambria" pitchFamily="34" charset="0"/>
                <a:ea typeface="Cambria" pitchFamily="34" charset="-122"/>
                <a:cs typeface="Cambria" pitchFamily="34" charset="-120"/>
              </a:rPr>
              <a:t>Calculate Performance</a:t>
            </a:r>
            <a:endParaRPr lang="en-US" dirty="0"/>
          </a:p>
        </p:txBody>
      </p:sp>
      <p:sp>
        <p:nvSpPr>
          <p:cNvPr id="23" name="Text 16"/>
          <p:cNvSpPr/>
          <p:nvPr/>
        </p:nvSpPr>
        <p:spPr>
          <a:xfrm>
            <a:off x="1554480" y="5093208"/>
            <a:ext cx="4129888" cy="621792"/>
          </a:xfrm>
          <a:prstGeom prst="rect">
            <a:avLst/>
          </a:prstGeom>
          <a:noFill/>
          <a:ln/>
        </p:spPr>
        <p:txBody>
          <a:bodyPr wrap="square" rtlCol="0" anchor="t"/>
          <a:lstStyle/>
          <a:p>
            <a:pPr marL="0" indent="0">
              <a:lnSpc>
                <a:spcPct val="110000"/>
              </a:lnSpc>
              <a:buNone/>
            </a:pPr>
            <a:r>
              <a:rPr lang="en-US" sz="1200" dirty="0">
                <a:solidFill>
                  <a:srgbClr val="6B7785"/>
                </a:solidFill>
                <a:latin typeface="Calibri" pitchFamily="34" charset="0"/>
                <a:ea typeface="Calibri" pitchFamily="34" charset="-122"/>
                <a:cs typeface="Calibri" pitchFamily="34" charset="-120"/>
              </a:rPr>
              <a:t>Hand calculate heat duty, LMTD, UA, effectiveness, and NTU from boundary data.</a:t>
            </a:r>
            <a:endParaRPr lang="en-US" sz="1200" dirty="0"/>
          </a:p>
        </p:txBody>
      </p:sp>
      <p:sp>
        <p:nvSpPr>
          <p:cNvPr id="24" name="Shape 17"/>
          <p:cNvSpPr/>
          <p:nvPr/>
        </p:nvSpPr>
        <p:spPr>
          <a:xfrm>
            <a:off x="6278728" y="4617720"/>
            <a:ext cx="5272888" cy="1207008"/>
          </a:xfrm>
          <a:prstGeom prst="roundRect">
            <a:avLst>
              <a:gd name="adj" fmla="val 6818"/>
            </a:avLst>
          </a:prstGeom>
          <a:ln/>
        </p:spPr>
        <p:style>
          <a:lnRef idx="1">
            <a:schemeClr val="accent4"/>
          </a:lnRef>
          <a:fillRef idx="2">
            <a:schemeClr val="accent4"/>
          </a:fillRef>
          <a:effectRef idx="1">
            <a:schemeClr val="accent4"/>
          </a:effectRef>
          <a:fontRef idx="minor">
            <a:schemeClr val="dk1"/>
          </a:fontRef>
        </p:style>
        <p:txBody>
          <a:bodyPr/>
          <a:lstStyle/>
          <a:p>
            <a:endParaRPr lang="en-US" sz="2800"/>
          </a:p>
        </p:txBody>
      </p:sp>
      <p:pic>
        <p:nvPicPr>
          <p:cNvPr id="25" name="Image 5" descr="/home/claude/ppt/img/circles/circ_checkcircle_teal.png"/>
          <p:cNvPicPr>
            <a:picLocks noChangeAspect="1"/>
          </p:cNvPicPr>
          <p:nvPr/>
        </p:nvPicPr>
        <p:blipFill>
          <a:blip r:embed="rId8"/>
          <a:stretch>
            <a:fillRect/>
          </a:stretch>
        </p:blipFill>
        <p:spPr>
          <a:xfrm>
            <a:off x="6507328" y="4956048"/>
            <a:ext cx="530352" cy="530352"/>
          </a:xfrm>
          <a:prstGeom prst="rect">
            <a:avLst/>
          </a:prstGeom>
        </p:spPr>
      </p:pic>
      <p:sp>
        <p:nvSpPr>
          <p:cNvPr id="26" name="Text 18"/>
          <p:cNvSpPr/>
          <p:nvPr/>
        </p:nvSpPr>
        <p:spPr>
          <a:xfrm>
            <a:off x="7193128" y="4745736"/>
            <a:ext cx="4129888" cy="329184"/>
          </a:xfrm>
          <a:prstGeom prst="rect">
            <a:avLst/>
          </a:prstGeom>
          <a:noFill/>
          <a:ln/>
        </p:spPr>
        <p:txBody>
          <a:bodyPr wrap="square" rtlCol="0" anchor="ctr"/>
          <a:lstStyle/>
          <a:p>
            <a:pPr marL="0" indent="0">
              <a:buNone/>
            </a:pPr>
            <a:r>
              <a:rPr lang="en-US" b="1" dirty="0">
                <a:solidFill>
                  <a:srgbClr val="132A43"/>
                </a:solidFill>
                <a:latin typeface="Cambria" pitchFamily="34" charset="0"/>
                <a:ea typeface="Cambria" pitchFamily="34" charset="-122"/>
                <a:cs typeface="Cambria" pitchFamily="34" charset="-120"/>
              </a:rPr>
              <a:t>Validate Consistency</a:t>
            </a:r>
            <a:endParaRPr lang="en-US" dirty="0"/>
          </a:p>
        </p:txBody>
      </p:sp>
      <p:sp>
        <p:nvSpPr>
          <p:cNvPr id="27" name="Text 19"/>
          <p:cNvSpPr/>
          <p:nvPr/>
        </p:nvSpPr>
        <p:spPr>
          <a:xfrm>
            <a:off x="7193128" y="5093208"/>
            <a:ext cx="4129888" cy="621792"/>
          </a:xfrm>
          <a:prstGeom prst="rect">
            <a:avLst/>
          </a:prstGeom>
          <a:noFill/>
          <a:ln/>
        </p:spPr>
        <p:txBody>
          <a:bodyPr wrap="square" rtlCol="0" anchor="t"/>
          <a:lstStyle/>
          <a:p>
            <a:pPr marL="0" indent="0">
              <a:lnSpc>
                <a:spcPct val="110000"/>
              </a:lnSpc>
              <a:buNone/>
            </a:pPr>
            <a:r>
              <a:rPr lang="en-US" sz="1200" dirty="0">
                <a:solidFill>
                  <a:srgbClr val="6B7785"/>
                </a:solidFill>
                <a:latin typeface="Calibri" pitchFamily="34" charset="0"/>
                <a:ea typeface="Calibri" pitchFamily="34" charset="-122"/>
                <a:cs typeface="Calibri" pitchFamily="34" charset="-120"/>
              </a:rPr>
              <a:t>Cross check results using two independent thermal design methods.</a:t>
            </a:r>
            <a:endParaRPr lang="en-US" sz="1200" dirty="0"/>
          </a:p>
        </p:txBody>
      </p:sp>
      <p:sp>
        <p:nvSpPr>
          <p:cNvPr id="28" name="Text 20"/>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3</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CAD WORKFLOW</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From SolidWorks Assembly to Simulation Ready Geometry</a:t>
            </a:r>
            <a:endParaRPr lang="en-US" sz="3200" dirty="0"/>
          </a:p>
        </p:txBody>
      </p:sp>
      <p:sp>
        <p:nvSpPr>
          <p:cNvPr id="4" name="Shape 2"/>
          <p:cNvSpPr/>
          <p:nvPr/>
        </p:nvSpPr>
        <p:spPr>
          <a:xfrm>
            <a:off x="205839" y="1865376"/>
            <a:ext cx="2096887" cy="2926080"/>
          </a:xfrm>
          <a:prstGeom prst="roundRect">
            <a:avLst>
              <a:gd name="adj" fmla="val 5038"/>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5" name="Image 0" descr="/home/claude/ppt/img/circles/circ_cube_navy.png"/>
          <p:cNvPicPr>
            <a:picLocks noChangeAspect="1"/>
          </p:cNvPicPr>
          <p:nvPr/>
        </p:nvPicPr>
        <p:blipFill>
          <a:blip r:embed="rId3"/>
          <a:stretch>
            <a:fillRect/>
          </a:stretch>
        </p:blipFill>
        <p:spPr>
          <a:xfrm>
            <a:off x="688176" y="2190930"/>
            <a:ext cx="751152" cy="751152"/>
          </a:xfrm>
          <a:prstGeom prst="rect">
            <a:avLst/>
          </a:prstGeom>
        </p:spPr>
      </p:pic>
      <p:sp>
        <p:nvSpPr>
          <p:cNvPr id="6" name="Shape 3"/>
          <p:cNvSpPr/>
          <p:nvPr/>
        </p:nvSpPr>
        <p:spPr>
          <a:xfrm>
            <a:off x="1413569" y="2216868"/>
            <a:ext cx="375576" cy="322878"/>
          </a:xfrm>
          <a:prstGeom prst="ellipse">
            <a:avLst/>
          </a:prstGeom>
          <a:solidFill>
            <a:srgbClr val="132A43"/>
          </a:solidFill>
          <a:ln/>
        </p:spPr>
        <p:txBody>
          <a:bodyPr/>
          <a:lstStyle/>
          <a:p>
            <a:endParaRPr lang="en-US" sz="2800"/>
          </a:p>
        </p:txBody>
      </p:sp>
      <p:sp>
        <p:nvSpPr>
          <p:cNvPr id="7" name="Text 4"/>
          <p:cNvSpPr/>
          <p:nvPr/>
        </p:nvSpPr>
        <p:spPr>
          <a:xfrm>
            <a:off x="1413569" y="2216868"/>
            <a:ext cx="375576" cy="322878"/>
          </a:xfrm>
          <a:prstGeom prst="rect">
            <a:avLst/>
          </a:prstGeom>
          <a:noFill/>
          <a:ln/>
        </p:spPr>
        <p:txBody>
          <a:bodyPr wrap="square" rtlCol="0" anchor="ctr"/>
          <a:lstStyle/>
          <a:p>
            <a:pPr marL="0" indent="0" algn="ctr">
              <a:buNone/>
            </a:pPr>
            <a:r>
              <a:rPr lang="en-US" b="1" dirty="0">
                <a:solidFill>
                  <a:srgbClr val="FFFFFF"/>
                </a:solidFill>
                <a:latin typeface="Cambria" pitchFamily="34" charset="0"/>
                <a:ea typeface="Cambria" pitchFamily="34" charset="-122"/>
                <a:cs typeface="Cambria" pitchFamily="34" charset="-120"/>
              </a:rPr>
              <a:t>1</a:t>
            </a:r>
            <a:endParaRPr lang="en-US" dirty="0"/>
          </a:p>
        </p:txBody>
      </p:sp>
      <p:sp>
        <p:nvSpPr>
          <p:cNvPr id="8" name="Text 5"/>
          <p:cNvSpPr/>
          <p:nvPr/>
        </p:nvSpPr>
        <p:spPr>
          <a:xfrm>
            <a:off x="255390" y="3022801"/>
            <a:ext cx="1862152" cy="504497"/>
          </a:xfrm>
          <a:prstGeom prst="rect">
            <a:avLst/>
          </a:prstGeom>
          <a:noFill/>
          <a:ln/>
        </p:spPr>
        <p:txBody>
          <a:bodyPr wrap="square" rtlCol="0" anchor="t"/>
          <a:lstStyle/>
          <a:p>
            <a:pPr marL="0" indent="0" algn="ctr">
              <a:buNone/>
            </a:pPr>
            <a:r>
              <a:rPr lang="en-US" b="1" dirty="0">
                <a:solidFill>
                  <a:srgbClr val="132A43"/>
                </a:solidFill>
                <a:latin typeface="Cambria" pitchFamily="34" charset="0"/>
                <a:ea typeface="Cambria" pitchFamily="34" charset="-122"/>
                <a:cs typeface="Cambria" pitchFamily="34" charset="-120"/>
              </a:rPr>
              <a:t>SolidWorks Assembly</a:t>
            </a:r>
            <a:endParaRPr lang="en-US" dirty="0"/>
          </a:p>
        </p:txBody>
      </p:sp>
      <p:sp>
        <p:nvSpPr>
          <p:cNvPr id="9" name="Text 6"/>
          <p:cNvSpPr/>
          <p:nvPr/>
        </p:nvSpPr>
        <p:spPr>
          <a:xfrm>
            <a:off x="255390" y="3639627"/>
            <a:ext cx="1862152" cy="1362141"/>
          </a:xfrm>
          <a:prstGeom prst="rect">
            <a:avLst/>
          </a:prstGeom>
          <a:noFill/>
          <a:ln/>
        </p:spPr>
        <p:txBody>
          <a:bodyPr wrap="square" rtlCol="0" anchor="t"/>
          <a:lstStyle/>
          <a:p>
            <a:pPr marL="0" indent="0" algn="ctr">
              <a:lnSpc>
                <a:spcPct val="105000"/>
              </a:lnSpc>
              <a:buNone/>
            </a:pPr>
            <a:r>
              <a:rPr lang="en-US" sz="1100" dirty="0">
                <a:solidFill>
                  <a:srgbClr val="6B7785"/>
                </a:solidFill>
                <a:latin typeface="Calibri" pitchFamily="34" charset="0"/>
                <a:ea typeface="Calibri" pitchFamily="34" charset="-122"/>
                <a:cs typeface="Calibri" pitchFamily="34" charset="-120"/>
              </a:rPr>
              <a:t>Helically swirled inner tube and shell built as a 3D parasolid assembly.</a:t>
            </a:r>
            <a:endParaRPr lang="en-US" sz="1100" dirty="0"/>
          </a:p>
        </p:txBody>
      </p:sp>
      <p:sp>
        <p:nvSpPr>
          <p:cNvPr id="10" name="Text 7"/>
          <p:cNvSpPr/>
          <p:nvPr/>
        </p:nvSpPr>
        <p:spPr>
          <a:xfrm>
            <a:off x="1797617" y="3095323"/>
            <a:ext cx="469470" cy="706295"/>
          </a:xfrm>
          <a:prstGeom prst="rect">
            <a:avLst/>
          </a:prstGeom>
          <a:noFill/>
          <a:ln/>
        </p:spPr>
        <p:txBody>
          <a:bodyPr wrap="square" rtlCol="0" anchor="ctr"/>
          <a:lstStyle/>
          <a:p>
            <a:pPr marL="0" indent="0" algn="ctr">
              <a:buNone/>
            </a:pPr>
            <a:r>
              <a:rPr lang="en-US" sz="3200" b="1" dirty="0">
                <a:solidFill>
                  <a:srgbClr val="C7D2DB"/>
                </a:solidFill>
                <a:latin typeface="Calibri" pitchFamily="34" charset="0"/>
                <a:ea typeface="Calibri" pitchFamily="34" charset="-122"/>
                <a:cs typeface="Calibri" pitchFamily="34" charset="-120"/>
              </a:rPr>
              <a:t>→</a:t>
            </a:r>
            <a:endParaRPr lang="en-US" sz="3200" dirty="0"/>
          </a:p>
        </p:txBody>
      </p:sp>
      <p:sp>
        <p:nvSpPr>
          <p:cNvPr id="11" name="Shape 8"/>
          <p:cNvSpPr/>
          <p:nvPr/>
        </p:nvSpPr>
        <p:spPr>
          <a:xfrm>
            <a:off x="2618868" y="1865376"/>
            <a:ext cx="2096887" cy="2926080"/>
          </a:xfrm>
          <a:prstGeom prst="roundRect">
            <a:avLst>
              <a:gd name="adj" fmla="val 5038"/>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12" name="Image 1" descr="/home/claude/ppt/img/circles/circ_sliders_navy.png"/>
          <p:cNvPicPr>
            <a:picLocks noChangeAspect="1"/>
          </p:cNvPicPr>
          <p:nvPr/>
        </p:nvPicPr>
        <p:blipFill>
          <a:blip r:embed="rId4"/>
          <a:stretch>
            <a:fillRect/>
          </a:stretch>
        </p:blipFill>
        <p:spPr>
          <a:xfrm>
            <a:off x="3115538" y="2273226"/>
            <a:ext cx="751152" cy="751152"/>
          </a:xfrm>
          <a:prstGeom prst="rect">
            <a:avLst/>
          </a:prstGeom>
        </p:spPr>
      </p:pic>
      <p:sp>
        <p:nvSpPr>
          <p:cNvPr id="13" name="Shape 9"/>
          <p:cNvSpPr/>
          <p:nvPr/>
        </p:nvSpPr>
        <p:spPr>
          <a:xfrm>
            <a:off x="3840931" y="2299164"/>
            <a:ext cx="375576" cy="322878"/>
          </a:xfrm>
          <a:prstGeom prst="ellipse">
            <a:avLst/>
          </a:prstGeom>
          <a:solidFill>
            <a:srgbClr val="132A43"/>
          </a:solidFill>
          <a:ln/>
        </p:spPr>
        <p:txBody>
          <a:bodyPr/>
          <a:lstStyle/>
          <a:p>
            <a:endParaRPr lang="en-US" sz="2800"/>
          </a:p>
        </p:txBody>
      </p:sp>
      <p:sp>
        <p:nvSpPr>
          <p:cNvPr id="14" name="Text 10"/>
          <p:cNvSpPr/>
          <p:nvPr/>
        </p:nvSpPr>
        <p:spPr>
          <a:xfrm>
            <a:off x="3840931" y="2299164"/>
            <a:ext cx="375576" cy="322878"/>
          </a:xfrm>
          <a:prstGeom prst="rect">
            <a:avLst/>
          </a:prstGeom>
          <a:noFill/>
          <a:ln/>
        </p:spPr>
        <p:txBody>
          <a:bodyPr wrap="square" rtlCol="0" anchor="ctr"/>
          <a:lstStyle/>
          <a:p>
            <a:pPr marL="0" indent="0" algn="ctr">
              <a:buNone/>
            </a:pPr>
            <a:r>
              <a:rPr lang="en-US" b="1" dirty="0">
                <a:solidFill>
                  <a:srgbClr val="FFFFFF"/>
                </a:solidFill>
                <a:latin typeface="Cambria" pitchFamily="34" charset="0"/>
                <a:ea typeface="Cambria" pitchFamily="34" charset="-122"/>
                <a:cs typeface="Cambria" pitchFamily="34" charset="-120"/>
              </a:rPr>
              <a:t>2</a:t>
            </a:r>
            <a:endParaRPr lang="en-US" dirty="0"/>
          </a:p>
        </p:txBody>
      </p:sp>
      <p:sp>
        <p:nvSpPr>
          <p:cNvPr id="15" name="Text 11"/>
          <p:cNvSpPr/>
          <p:nvPr/>
        </p:nvSpPr>
        <p:spPr>
          <a:xfrm>
            <a:off x="2682752" y="3105097"/>
            <a:ext cx="1862152" cy="504497"/>
          </a:xfrm>
          <a:prstGeom prst="rect">
            <a:avLst/>
          </a:prstGeom>
          <a:noFill/>
          <a:ln/>
        </p:spPr>
        <p:txBody>
          <a:bodyPr wrap="square" rtlCol="0" anchor="t"/>
          <a:lstStyle/>
          <a:p>
            <a:pPr marL="0" indent="0" algn="ctr">
              <a:buNone/>
            </a:pPr>
            <a:r>
              <a:rPr lang="en-US" b="1" dirty="0">
                <a:solidFill>
                  <a:srgbClr val="132A43"/>
                </a:solidFill>
                <a:latin typeface="Cambria" pitchFamily="34" charset="0"/>
                <a:ea typeface="Cambria" pitchFamily="34" charset="-122"/>
                <a:cs typeface="Cambria" pitchFamily="34" charset="-120"/>
              </a:rPr>
              <a:t>Import and Orient</a:t>
            </a:r>
            <a:endParaRPr lang="en-US" dirty="0"/>
          </a:p>
        </p:txBody>
      </p:sp>
      <p:sp>
        <p:nvSpPr>
          <p:cNvPr id="16" name="Text 12"/>
          <p:cNvSpPr/>
          <p:nvPr/>
        </p:nvSpPr>
        <p:spPr>
          <a:xfrm>
            <a:off x="2737707" y="3721923"/>
            <a:ext cx="1862152" cy="1362141"/>
          </a:xfrm>
          <a:prstGeom prst="rect">
            <a:avLst/>
          </a:prstGeom>
          <a:noFill/>
          <a:ln/>
        </p:spPr>
        <p:txBody>
          <a:bodyPr wrap="square" rtlCol="0" anchor="t"/>
          <a:lstStyle/>
          <a:p>
            <a:pPr marL="0" indent="0" algn="ctr">
              <a:lnSpc>
                <a:spcPct val="105000"/>
              </a:lnSpc>
              <a:buNone/>
            </a:pPr>
            <a:r>
              <a:rPr lang="en-US" sz="1100" dirty="0">
                <a:solidFill>
                  <a:srgbClr val="6B7785"/>
                </a:solidFill>
                <a:latin typeface="Calibri" pitchFamily="34" charset="0"/>
                <a:ea typeface="Calibri" pitchFamily="34" charset="-122"/>
                <a:cs typeface="Calibri" pitchFamily="34" charset="-120"/>
              </a:rPr>
              <a:t>Imported to COMSOL; rotated 90° and translated to align the flow axis.</a:t>
            </a:r>
            <a:endParaRPr lang="en-US" sz="1100" dirty="0"/>
          </a:p>
        </p:txBody>
      </p:sp>
      <p:sp>
        <p:nvSpPr>
          <p:cNvPr id="17" name="Text 13"/>
          <p:cNvSpPr/>
          <p:nvPr/>
        </p:nvSpPr>
        <p:spPr>
          <a:xfrm>
            <a:off x="4224979" y="3177619"/>
            <a:ext cx="469470" cy="706295"/>
          </a:xfrm>
          <a:prstGeom prst="rect">
            <a:avLst/>
          </a:prstGeom>
          <a:noFill/>
          <a:ln/>
        </p:spPr>
        <p:txBody>
          <a:bodyPr wrap="square" rtlCol="0" anchor="ctr"/>
          <a:lstStyle/>
          <a:p>
            <a:pPr marL="0" indent="0" algn="ctr">
              <a:buNone/>
            </a:pPr>
            <a:r>
              <a:rPr lang="en-US" sz="3200" b="1" dirty="0">
                <a:solidFill>
                  <a:srgbClr val="C7D2DB"/>
                </a:solidFill>
                <a:latin typeface="Calibri" pitchFamily="34" charset="0"/>
                <a:ea typeface="Calibri" pitchFamily="34" charset="-122"/>
                <a:cs typeface="Calibri" pitchFamily="34" charset="-120"/>
              </a:rPr>
              <a:t>→</a:t>
            </a:r>
            <a:endParaRPr lang="en-US" sz="3200" dirty="0"/>
          </a:p>
        </p:txBody>
      </p:sp>
      <p:sp>
        <p:nvSpPr>
          <p:cNvPr id="18" name="Shape 14"/>
          <p:cNvSpPr/>
          <p:nvPr/>
        </p:nvSpPr>
        <p:spPr>
          <a:xfrm>
            <a:off x="4924990" y="1896434"/>
            <a:ext cx="2096887" cy="2926080"/>
          </a:xfrm>
          <a:prstGeom prst="roundRect">
            <a:avLst>
              <a:gd name="adj" fmla="val 5038"/>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19" name="Image 2" descr="/home/claude/ppt/img/circles/circ_layergroup_navy.png"/>
          <p:cNvPicPr>
            <a:picLocks noChangeAspect="1"/>
          </p:cNvPicPr>
          <p:nvPr/>
        </p:nvPicPr>
        <p:blipFill>
          <a:blip r:embed="rId5"/>
          <a:stretch>
            <a:fillRect/>
          </a:stretch>
        </p:blipFill>
        <p:spPr>
          <a:xfrm>
            <a:off x="5403232" y="2224107"/>
            <a:ext cx="751152" cy="751152"/>
          </a:xfrm>
          <a:prstGeom prst="rect">
            <a:avLst/>
          </a:prstGeom>
        </p:spPr>
      </p:pic>
      <p:sp>
        <p:nvSpPr>
          <p:cNvPr id="20" name="Shape 15"/>
          <p:cNvSpPr/>
          <p:nvPr/>
        </p:nvSpPr>
        <p:spPr>
          <a:xfrm>
            <a:off x="6128625" y="2250045"/>
            <a:ext cx="375576" cy="322878"/>
          </a:xfrm>
          <a:prstGeom prst="ellipse">
            <a:avLst/>
          </a:prstGeom>
          <a:solidFill>
            <a:srgbClr val="132A43"/>
          </a:solidFill>
          <a:ln/>
        </p:spPr>
        <p:txBody>
          <a:bodyPr/>
          <a:lstStyle/>
          <a:p>
            <a:endParaRPr lang="en-US" sz="2800"/>
          </a:p>
        </p:txBody>
      </p:sp>
      <p:sp>
        <p:nvSpPr>
          <p:cNvPr id="21" name="Text 16"/>
          <p:cNvSpPr/>
          <p:nvPr/>
        </p:nvSpPr>
        <p:spPr>
          <a:xfrm>
            <a:off x="6128625" y="2250045"/>
            <a:ext cx="375576" cy="322878"/>
          </a:xfrm>
          <a:prstGeom prst="rect">
            <a:avLst/>
          </a:prstGeom>
          <a:noFill/>
          <a:ln/>
        </p:spPr>
        <p:txBody>
          <a:bodyPr wrap="square" rtlCol="0" anchor="ctr"/>
          <a:lstStyle/>
          <a:p>
            <a:pPr marL="0" indent="0" algn="ctr">
              <a:buNone/>
            </a:pPr>
            <a:r>
              <a:rPr lang="en-US" b="1" dirty="0">
                <a:solidFill>
                  <a:srgbClr val="FFFFFF"/>
                </a:solidFill>
                <a:latin typeface="Cambria" pitchFamily="34" charset="0"/>
                <a:ea typeface="Cambria" pitchFamily="34" charset="-122"/>
                <a:cs typeface="Cambria" pitchFamily="34" charset="-120"/>
              </a:rPr>
              <a:t>3</a:t>
            </a:r>
            <a:endParaRPr lang="en-US" dirty="0"/>
          </a:p>
        </p:txBody>
      </p:sp>
      <p:sp>
        <p:nvSpPr>
          <p:cNvPr id="22" name="Text 17"/>
          <p:cNvSpPr/>
          <p:nvPr/>
        </p:nvSpPr>
        <p:spPr>
          <a:xfrm>
            <a:off x="4970446" y="3055978"/>
            <a:ext cx="1862152" cy="504497"/>
          </a:xfrm>
          <a:prstGeom prst="rect">
            <a:avLst/>
          </a:prstGeom>
          <a:noFill/>
          <a:ln/>
        </p:spPr>
        <p:txBody>
          <a:bodyPr wrap="square" rtlCol="0" anchor="t"/>
          <a:lstStyle/>
          <a:p>
            <a:pPr marL="0" indent="0" algn="ctr">
              <a:buNone/>
            </a:pPr>
            <a:r>
              <a:rPr lang="en-US" b="1" dirty="0">
                <a:solidFill>
                  <a:srgbClr val="132A43"/>
                </a:solidFill>
                <a:latin typeface="Cambria" pitchFamily="34" charset="0"/>
                <a:ea typeface="Cambria" pitchFamily="34" charset="-122"/>
                <a:cs typeface="Cambria" pitchFamily="34" charset="-120"/>
              </a:rPr>
              <a:t>Boolean Operations</a:t>
            </a:r>
            <a:endParaRPr lang="en-US" dirty="0"/>
          </a:p>
        </p:txBody>
      </p:sp>
      <p:sp>
        <p:nvSpPr>
          <p:cNvPr id="23" name="Text 18"/>
          <p:cNvSpPr/>
          <p:nvPr/>
        </p:nvSpPr>
        <p:spPr>
          <a:xfrm>
            <a:off x="4952203" y="3688806"/>
            <a:ext cx="1862152" cy="1362141"/>
          </a:xfrm>
          <a:prstGeom prst="rect">
            <a:avLst/>
          </a:prstGeom>
          <a:noFill/>
          <a:ln/>
        </p:spPr>
        <p:txBody>
          <a:bodyPr wrap="square" rtlCol="0" anchor="t"/>
          <a:lstStyle/>
          <a:p>
            <a:pPr marL="0" indent="0" algn="ctr">
              <a:lnSpc>
                <a:spcPct val="105000"/>
              </a:lnSpc>
              <a:buNone/>
            </a:pPr>
            <a:r>
              <a:rPr lang="en-US" sz="1100" dirty="0">
                <a:solidFill>
                  <a:srgbClr val="6B7785"/>
                </a:solidFill>
                <a:latin typeface="Calibri" pitchFamily="34" charset="0"/>
                <a:ea typeface="Calibri" pitchFamily="34" charset="-122"/>
                <a:cs typeface="Calibri" pitchFamily="34" charset="-120"/>
              </a:rPr>
              <a:t>Difference, delete entities, and union define the fluid and solid domains.</a:t>
            </a:r>
            <a:endParaRPr lang="en-US" sz="1100" dirty="0"/>
          </a:p>
        </p:txBody>
      </p:sp>
      <p:sp>
        <p:nvSpPr>
          <p:cNvPr id="24" name="Text 19"/>
          <p:cNvSpPr/>
          <p:nvPr/>
        </p:nvSpPr>
        <p:spPr>
          <a:xfrm>
            <a:off x="6512673" y="3128500"/>
            <a:ext cx="469470" cy="706295"/>
          </a:xfrm>
          <a:prstGeom prst="rect">
            <a:avLst/>
          </a:prstGeom>
          <a:noFill/>
          <a:ln/>
        </p:spPr>
        <p:txBody>
          <a:bodyPr wrap="square" rtlCol="0" anchor="ctr"/>
          <a:lstStyle/>
          <a:p>
            <a:pPr marL="0" indent="0" algn="ctr">
              <a:buNone/>
            </a:pPr>
            <a:r>
              <a:rPr lang="en-US" sz="3200" b="1" dirty="0">
                <a:solidFill>
                  <a:srgbClr val="C7D2DB"/>
                </a:solidFill>
                <a:latin typeface="Calibri" pitchFamily="34" charset="0"/>
                <a:ea typeface="Calibri" pitchFamily="34" charset="-122"/>
                <a:cs typeface="Calibri" pitchFamily="34" charset="-120"/>
              </a:rPr>
              <a:t>→</a:t>
            </a:r>
            <a:endParaRPr lang="en-US" sz="3200" dirty="0"/>
          </a:p>
        </p:txBody>
      </p:sp>
      <p:sp>
        <p:nvSpPr>
          <p:cNvPr id="25" name="Shape 20"/>
          <p:cNvSpPr/>
          <p:nvPr/>
        </p:nvSpPr>
        <p:spPr>
          <a:xfrm>
            <a:off x="7358451" y="1865376"/>
            <a:ext cx="2096887" cy="2926080"/>
          </a:xfrm>
          <a:prstGeom prst="roundRect">
            <a:avLst>
              <a:gd name="adj" fmla="val 5038"/>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26" name="Image 3" descr="/home/claude/ppt/img/circles/circ_ruler_navy.png"/>
          <p:cNvPicPr>
            <a:picLocks noChangeAspect="1"/>
          </p:cNvPicPr>
          <p:nvPr/>
        </p:nvPicPr>
        <p:blipFill>
          <a:blip r:embed="rId6"/>
          <a:stretch>
            <a:fillRect/>
          </a:stretch>
        </p:blipFill>
        <p:spPr>
          <a:xfrm>
            <a:off x="7874583" y="2193312"/>
            <a:ext cx="751152" cy="751152"/>
          </a:xfrm>
          <a:prstGeom prst="rect">
            <a:avLst/>
          </a:prstGeom>
        </p:spPr>
      </p:pic>
      <p:sp>
        <p:nvSpPr>
          <p:cNvPr id="27" name="Shape 21"/>
          <p:cNvSpPr/>
          <p:nvPr/>
        </p:nvSpPr>
        <p:spPr>
          <a:xfrm>
            <a:off x="8599976" y="2219250"/>
            <a:ext cx="375576" cy="322878"/>
          </a:xfrm>
          <a:prstGeom prst="ellipse">
            <a:avLst/>
          </a:prstGeom>
          <a:solidFill>
            <a:srgbClr val="132A43"/>
          </a:solidFill>
          <a:ln/>
        </p:spPr>
        <p:txBody>
          <a:bodyPr/>
          <a:lstStyle/>
          <a:p>
            <a:endParaRPr lang="en-US" sz="2800"/>
          </a:p>
        </p:txBody>
      </p:sp>
      <p:sp>
        <p:nvSpPr>
          <p:cNvPr id="28" name="Text 22"/>
          <p:cNvSpPr/>
          <p:nvPr/>
        </p:nvSpPr>
        <p:spPr>
          <a:xfrm>
            <a:off x="8599976" y="2219250"/>
            <a:ext cx="375576" cy="322878"/>
          </a:xfrm>
          <a:prstGeom prst="rect">
            <a:avLst/>
          </a:prstGeom>
          <a:noFill/>
          <a:ln/>
        </p:spPr>
        <p:txBody>
          <a:bodyPr wrap="square" rtlCol="0" anchor="ctr"/>
          <a:lstStyle/>
          <a:p>
            <a:pPr marL="0" indent="0" algn="ctr">
              <a:buNone/>
            </a:pPr>
            <a:r>
              <a:rPr lang="en-US" b="1" dirty="0">
                <a:solidFill>
                  <a:srgbClr val="FFFFFF"/>
                </a:solidFill>
                <a:latin typeface="Cambria" pitchFamily="34" charset="0"/>
                <a:ea typeface="Cambria" pitchFamily="34" charset="-122"/>
                <a:cs typeface="Cambria" pitchFamily="34" charset="-120"/>
              </a:rPr>
              <a:t>4</a:t>
            </a:r>
            <a:endParaRPr lang="en-US" dirty="0"/>
          </a:p>
        </p:txBody>
      </p:sp>
      <p:sp>
        <p:nvSpPr>
          <p:cNvPr id="29" name="Text 23"/>
          <p:cNvSpPr/>
          <p:nvPr/>
        </p:nvSpPr>
        <p:spPr>
          <a:xfrm>
            <a:off x="7441797" y="3025183"/>
            <a:ext cx="1862152" cy="504497"/>
          </a:xfrm>
          <a:prstGeom prst="rect">
            <a:avLst/>
          </a:prstGeom>
          <a:noFill/>
          <a:ln/>
        </p:spPr>
        <p:txBody>
          <a:bodyPr wrap="square" rtlCol="0" anchor="t"/>
          <a:lstStyle/>
          <a:p>
            <a:pPr marL="0" indent="0" algn="ctr">
              <a:buNone/>
            </a:pPr>
            <a:r>
              <a:rPr lang="en-US" b="1" dirty="0">
                <a:solidFill>
                  <a:srgbClr val="132A43"/>
                </a:solidFill>
                <a:latin typeface="Cambria" pitchFamily="34" charset="0"/>
                <a:ea typeface="Cambria" pitchFamily="34" charset="-122"/>
                <a:cs typeface="Cambria" pitchFamily="34" charset="-120"/>
              </a:rPr>
              <a:t>Domain Tagging</a:t>
            </a:r>
            <a:endParaRPr lang="en-US" dirty="0"/>
          </a:p>
        </p:txBody>
      </p:sp>
      <p:sp>
        <p:nvSpPr>
          <p:cNvPr id="30" name="Text 24"/>
          <p:cNvSpPr/>
          <p:nvPr/>
        </p:nvSpPr>
        <p:spPr>
          <a:xfrm>
            <a:off x="7478509" y="3560475"/>
            <a:ext cx="1862152" cy="1362141"/>
          </a:xfrm>
          <a:prstGeom prst="rect">
            <a:avLst/>
          </a:prstGeom>
          <a:noFill/>
          <a:ln/>
        </p:spPr>
        <p:txBody>
          <a:bodyPr wrap="square" rtlCol="0" anchor="t"/>
          <a:lstStyle/>
          <a:p>
            <a:pPr marL="0" indent="0" algn="ctr">
              <a:lnSpc>
                <a:spcPct val="105000"/>
              </a:lnSpc>
              <a:buNone/>
            </a:pPr>
            <a:r>
              <a:rPr lang="en-US" sz="1100" dirty="0">
                <a:solidFill>
                  <a:srgbClr val="6B7785"/>
                </a:solidFill>
                <a:latin typeface="Calibri" pitchFamily="34" charset="0"/>
                <a:ea typeface="Calibri" pitchFamily="34" charset="-122"/>
                <a:cs typeface="Calibri" pitchFamily="34" charset="-120"/>
              </a:rPr>
              <a:t>Twelve domains and 120 boundaries tagged for inlets, outlets, and walls.</a:t>
            </a:r>
            <a:endParaRPr lang="en-US" sz="1100" dirty="0"/>
          </a:p>
        </p:txBody>
      </p:sp>
      <p:sp>
        <p:nvSpPr>
          <p:cNvPr id="31" name="Text 25"/>
          <p:cNvSpPr/>
          <p:nvPr/>
        </p:nvSpPr>
        <p:spPr>
          <a:xfrm>
            <a:off x="8984024" y="3097705"/>
            <a:ext cx="469470" cy="706295"/>
          </a:xfrm>
          <a:prstGeom prst="rect">
            <a:avLst/>
          </a:prstGeom>
          <a:noFill/>
          <a:ln/>
        </p:spPr>
        <p:txBody>
          <a:bodyPr wrap="square" rtlCol="0" anchor="ctr"/>
          <a:lstStyle/>
          <a:p>
            <a:pPr marL="0" indent="0" algn="ctr">
              <a:buNone/>
            </a:pPr>
            <a:r>
              <a:rPr lang="en-US" sz="3200" b="1" dirty="0">
                <a:solidFill>
                  <a:srgbClr val="C7D2DB"/>
                </a:solidFill>
                <a:latin typeface="Calibri" pitchFamily="34" charset="0"/>
                <a:ea typeface="Calibri" pitchFamily="34" charset="-122"/>
                <a:cs typeface="Calibri" pitchFamily="34" charset="-120"/>
              </a:rPr>
              <a:t>→</a:t>
            </a:r>
            <a:endParaRPr lang="en-US" sz="3200" dirty="0"/>
          </a:p>
        </p:txBody>
      </p:sp>
      <p:sp>
        <p:nvSpPr>
          <p:cNvPr id="32" name="Shape 26"/>
          <p:cNvSpPr/>
          <p:nvPr/>
        </p:nvSpPr>
        <p:spPr>
          <a:xfrm>
            <a:off x="9783386" y="1865376"/>
            <a:ext cx="2096887" cy="2926080"/>
          </a:xfrm>
          <a:prstGeom prst="roundRect">
            <a:avLst>
              <a:gd name="adj" fmla="val 5038"/>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33" name="Image 4" descr="/home/claude/ppt/img/circles/circ_checkcircle_teal.png"/>
          <p:cNvPicPr>
            <a:picLocks noChangeAspect="1"/>
          </p:cNvPicPr>
          <p:nvPr/>
        </p:nvPicPr>
        <p:blipFill>
          <a:blip r:embed="rId7"/>
          <a:stretch>
            <a:fillRect/>
          </a:stretch>
        </p:blipFill>
        <p:spPr>
          <a:xfrm>
            <a:off x="10313241" y="2250045"/>
            <a:ext cx="751152" cy="751152"/>
          </a:xfrm>
          <a:prstGeom prst="rect">
            <a:avLst/>
          </a:prstGeom>
        </p:spPr>
      </p:pic>
      <p:sp>
        <p:nvSpPr>
          <p:cNvPr id="34" name="Shape 27"/>
          <p:cNvSpPr/>
          <p:nvPr/>
        </p:nvSpPr>
        <p:spPr>
          <a:xfrm>
            <a:off x="11038634" y="2275983"/>
            <a:ext cx="375576" cy="322878"/>
          </a:xfrm>
          <a:prstGeom prst="ellipse">
            <a:avLst/>
          </a:prstGeom>
          <a:solidFill>
            <a:srgbClr val="132A43"/>
          </a:solidFill>
          <a:ln/>
        </p:spPr>
        <p:txBody>
          <a:bodyPr/>
          <a:lstStyle/>
          <a:p>
            <a:endParaRPr lang="en-US" sz="2800"/>
          </a:p>
        </p:txBody>
      </p:sp>
      <p:sp>
        <p:nvSpPr>
          <p:cNvPr id="35" name="Text 28"/>
          <p:cNvSpPr/>
          <p:nvPr/>
        </p:nvSpPr>
        <p:spPr>
          <a:xfrm>
            <a:off x="11038634" y="2275983"/>
            <a:ext cx="375576" cy="322878"/>
          </a:xfrm>
          <a:prstGeom prst="rect">
            <a:avLst/>
          </a:prstGeom>
          <a:noFill/>
          <a:ln/>
        </p:spPr>
        <p:txBody>
          <a:bodyPr wrap="square" rtlCol="0" anchor="ctr"/>
          <a:lstStyle/>
          <a:p>
            <a:pPr marL="0" indent="0" algn="ctr">
              <a:buNone/>
            </a:pPr>
            <a:r>
              <a:rPr lang="en-US" b="1" dirty="0">
                <a:solidFill>
                  <a:srgbClr val="FFFFFF"/>
                </a:solidFill>
                <a:latin typeface="Cambria" pitchFamily="34" charset="0"/>
                <a:ea typeface="Cambria" pitchFamily="34" charset="-122"/>
                <a:cs typeface="Cambria" pitchFamily="34" charset="-120"/>
              </a:rPr>
              <a:t>5</a:t>
            </a:r>
            <a:endParaRPr lang="en-US" dirty="0"/>
          </a:p>
        </p:txBody>
      </p:sp>
      <p:sp>
        <p:nvSpPr>
          <p:cNvPr id="36" name="Text 29"/>
          <p:cNvSpPr/>
          <p:nvPr/>
        </p:nvSpPr>
        <p:spPr>
          <a:xfrm>
            <a:off x="9880455" y="3081916"/>
            <a:ext cx="1862152" cy="504497"/>
          </a:xfrm>
          <a:prstGeom prst="rect">
            <a:avLst/>
          </a:prstGeom>
          <a:noFill/>
          <a:ln/>
        </p:spPr>
        <p:txBody>
          <a:bodyPr wrap="square" rtlCol="0" anchor="t"/>
          <a:lstStyle/>
          <a:p>
            <a:pPr marL="0" indent="0" algn="ctr">
              <a:buNone/>
            </a:pPr>
            <a:r>
              <a:rPr lang="en-US" b="1" dirty="0">
                <a:solidFill>
                  <a:srgbClr val="132A43"/>
                </a:solidFill>
                <a:latin typeface="Cambria" pitchFamily="34" charset="0"/>
                <a:ea typeface="Cambria" pitchFamily="34" charset="-122"/>
                <a:cs typeface="Cambria" pitchFamily="34" charset="-120"/>
              </a:rPr>
              <a:t>Geometry Finalised</a:t>
            </a:r>
            <a:endParaRPr lang="en-US" dirty="0"/>
          </a:p>
        </p:txBody>
      </p:sp>
      <p:sp>
        <p:nvSpPr>
          <p:cNvPr id="37" name="Text 30"/>
          <p:cNvSpPr/>
          <p:nvPr/>
        </p:nvSpPr>
        <p:spPr>
          <a:xfrm>
            <a:off x="9911970" y="3632448"/>
            <a:ext cx="1862152" cy="1362141"/>
          </a:xfrm>
          <a:prstGeom prst="rect">
            <a:avLst/>
          </a:prstGeom>
          <a:noFill/>
          <a:ln/>
        </p:spPr>
        <p:txBody>
          <a:bodyPr wrap="square" rtlCol="0" anchor="t"/>
          <a:lstStyle/>
          <a:p>
            <a:pPr marL="0" indent="0" algn="ctr">
              <a:lnSpc>
                <a:spcPct val="105000"/>
              </a:lnSpc>
              <a:buNone/>
            </a:pPr>
            <a:r>
              <a:rPr lang="en-US" sz="1100" dirty="0">
                <a:solidFill>
                  <a:srgbClr val="6B7785"/>
                </a:solidFill>
                <a:latin typeface="Calibri" pitchFamily="34" charset="0"/>
                <a:ea typeface="Calibri" pitchFamily="34" charset="-122"/>
                <a:cs typeface="Calibri" pitchFamily="34" charset="-120"/>
              </a:rPr>
              <a:t>Ready for material assignment, physics setup, and meshing.</a:t>
            </a:r>
            <a:endParaRPr lang="en-US" sz="1100" dirty="0"/>
          </a:p>
        </p:txBody>
      </p:sp>
      <p:sp>
        <p:nvSpPr>
          <p:cNvPr id="47" name="Text 39"/>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4</a:t>
            </a:r>
            <a:endParaRPr lang="en-US" sz="10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CAD GEOMETRY</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Domain Breakdown and Materials</a:t>
            </a:r>
            <a:endParaRPr lang="en-US" sz="3200" dirty="0"/>
          </a:p>
        </p:txBody>
      </p:sp>
      <p:sp>
        <p:nvSpPr>
          <p:cNvPr id="4" name="Shape 2"/>
          <p:cNvSpPr/>
          <p:nvPr/>
        </p:nvSpPr>
        <p:spPr>
          <a:xfrm>
            <a:off x="585216" y="1682496"/>
            <a:ext cx="5230368" cy="3950208"/>
          </a:xfrm>
          <a:prstGeom prst="roundRect">
            <a:avLst>
              <a:gd name="adj" fmla="val 1620"/>
            </a:avLst>
          </a:prstGeom>
          <a:solidFill>
            <a:srgbClr val="FFFFFF"/>
          </a:solidFill>
          <a:ln w="12700">
            <a:solidFill>
              <a:srgbClr val="E3E9EE"/>
            </a:solidFill>
            <a:prstDash val="solid"/>
          </a:ln>
          <a:effectLst>
            <a:outerShdw blurRad="152400" dist="38100" dir="5400000" algn="bl" rotWithShape="0">
              <a:srgbClr val="1B2531">
                <a:alpha val="15000"/>
              </a:srgbClr>
            </a:outerShdw>
          </a:effectLst>
        </p:spPr>
        <p:txBody>
          <a:bodyPr/>
          <a:lstStyle/>
          <a:p>
            <a:endParaRPr lang="en-US"/>
          </a:p>
        </p:txBody>
      </p:sp>
      <p:pic>
        <p:nvPicPr>
          <p:cNvPr id="5" name="Image 0" descr="/home/claude/ppt/img/titleimage.png"/>
          <p:cNvPicPr>
            <a:picLocks noChangeAspect="1"/>
          </p:cNvPicPr>
          <p:nvPr/>
        </p:nvPicPr>
        <p:blipFill>
          <a:blip r:embed="rId3"/>
          <a:srcRect t="23095" r="22678" b="24048"/>
          <a:stretch>
            <a:fillRect/>
          </a:stretch>
        </p:blipFill>
        <p:spPr>
          <a:xfrm>
            <a:off x="585216" y="2258568"/>
            <a:ext cx="5350476" cy="2743200"/>
          </a:xfrm>
          <a:prstGeom prst="rect">
            <a:avLst/>
          </a:prstGeom>
        </p:spPr>
      </p:pic>
      <p:sp>
        <p:nvSpPr>
          <p:cNvPr id="6" name="Text 3"/>
          <p:cNvSpPr/>
          <p:nvPr/>
        </p:nvSpPr>
        <p:spPr>
          <a:xfrm>
            <a:off x="640080" y="5650992"/>
            <a:ext cx="5120640" cy="320040"/>
          </a:xfrm>
          <a:prstGeom prst="rect">
            <a:avLst/>
          </a:prstGeom>
          <a:noFill/>
          <a:ln/>
        </p:spPr>
        <p:txBody>
          <a:bodyPr wrap="square" rtlCol="0" anchor="ctr"/>
          <a:lstStyle/>
          <a:p>
            <a:pPr marL="0" indent="0" algn="ctr">
              <a:buNone/>
            </a:pPr>
            <a:r>
              <a:rPr lang="en-US" sz="1050" i="1" dirty="0">
                <a:solidFill>
                  <a:srgbClr val="6B7785"/>
                </a:solidFill>
                <a:latin typeface="Calibri" pitchFamily="34" charset="0"/>
                <a:ea typeface="Calibri" pitchFamily="34" charset="-122"/>
                <a:cs typeface="Calibri" pitchFamily="34" charset="-120"/>
              </a:rPr>
              <a:t>Overall flow length ≈ 180 mm  |  Shell diameter ≈ 40 mm</a:t>
            </a:r>
            <a:endParaRPr lang="en-US" sz="1050" dirty="0"/>
          </a:p>
        </p:txBody>
      </p:sp>
      <p:sp>
        <p:nvSpPr>
          <p:cNvPr id="7" name="Shape 4"/>
          <p:cNvSpPr/>
          <p:nvPr/>
        </p:nvSpPr>
        <p:spPr>
          <a:xfrm>
            <a:off x="5989320" y="1783080"/>
            <a:ext cx="5562295" cy="914400"/>
          </a:xfrm>
          <a:prstGeom prst="roundRect">
            <a:avLst>
              <a:gd name="adj" fmla="val 9000"/>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8" name="Shape 5"/>
          <p:cNvSpPr/>
          <p:nvPr/>
        </p:nvSpPr>
        <p:spPr>
          <a:xfrm>
            <a:off x="6172200" y="1984248"/>
            <a:ext cx="777240" cy="512064"/>
          </a:xfrm>
          <a:prstGeom prst="roundRect">
            <a:avLst>
              <a:gd name="adj" fmla="val 14286"/>
            </a:avLst>
          </a:prstGeom>
          <a:solidFill>
            <a:srgbClr val="0E7C86"/>
          </a:solidFill>
          <a:ln/>
        </p:spPr>
        <p:txBody>
          <a:bodyPr/>
          <a:lstStyle/>
          <a:p>
            <a:endParaRPr lang="en-US" sz="3200"/>
          </a:p>
        </p:txBody>
      </p:sp>
      <p:sp>
        <p:nvSpPr>
          <p:cNvPr id="9" name="Text 6"/>
          <p:cNvSpPr/>
          <p:nvPr/>
        </p:nvSpPr>
        <p:spPr>
          <a:xfrm>
            <a:off x="6172200" y="1984248"/>
            <a:ext cx="777240" cy="512064"/>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1–3</a:t>
            </a:r>
            <a:endParaRPr lang="en-US" sz="2000" dirty="0"/>
          </a:p>
        </p:txBody>
      </p:sp>
      <p:sp>
        <p:nvSpPr>
          <p:cNvPr id="10" name="Text 7"/>
          <p:cNvSpPr/>
          <p:nvPr/>
        </p:nvSpPr>
        <p:spPr>
          <a:xfrm>
            <a:off x="7132320" y="1892808"/>
            <a:ext cx="4419295" cy="36576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Acrylic Plastic</a:t>
            </a:r>
            <a:endParaRPr lang="en-US" sz="2000" dirty="0"/>
          </a:p>
        </p:txBody>
      </p:sp>
      <p:sp>
        <p:nvSpPr>
          <p:cNvPr id="11" name="Text 8"/>
          <p:cNvSpPr/>
          <p:nvPr/>
        </p:nvSpPr>
        <p:spPr>
          <a:xfrm>
            <a:off x="7132320" y="2258568"/>
            <a:ext cx="4419295" cy="365760"/>
          </a:xfrm>
          <a:prstGeom prst="rect">
            <a:avLst/>
          </a:prstGeom>
          <a:noFill/>
          <a:ln/>
        </p:spPr>
        <p:txBody>
          <a:bodyPr wrap="square" rtlCol="0" anchor="ctr"/>
          <a:lstStyle/>
          <a:p>
            <a:pPr marL="0" indent="0">
              <a:buNone/>
            </a:pPr>
            <a:r>
              <a:rPr lang="en-US" sz="1600" dirty="0">
                <a:solidFill>
                  <a:srgbClr val="6B7785"/>
                </a:solidFill>
                <a:latin typeface="Calibri" pitchFamily="34" charset="0"/>
                <a:ea typeface="Calibri" pitchFamily="34" charset="-122"/>
                <a:cs typeface="Calibri" pitchFamily="34" charset="-120"/>
              </a:rPr>
              <a:t>Transparent outer shell and end headers</a:t>
            </a:r>
            <a:endParaRPr lang="en-US" sz="1600" dirty="0"/>
          </a:p>
        </p:txBody>
      </p:sp>
      <p:sp>
        <p:nvSpPr>
          <p:cNvPr id="12" name="Shape 9"/>
          <p:cNvSpPr/>
          <p:nvPr/>
        </p:nvSpPr>
        <p:spPr>
          <a:xfrm>
            <a:off x="5989320" y="2862072"/>
            <a:ext cx="5562295" cy="914400"/>
          </a:xfrm>
          <a:prstGeom prst="roundRect">
            <a:avLst>
              <a:gd name="adj" fmla="val 9000"/>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13" name="Shape 10"/>
          <p:cNvSpPr/>
          <p:nvPr/>
        </p:nvSpPr>
        <p:spPr>
          <a:xfrm>
            <a:off x="6172200" y="3063240"/>
            <a:ext cx="777240" cy="512064"/>
          </a:xfrm>
          <a:prstGeom prst="roundRect">
            <a:avLst>
              <a:gd name="adj" fmla="val 14286"/>
            </a:avLst>
          </a:prstGeom>
          <a:solidFill>
            <a:srgbClr val="D9622B"/>
          </a:solidFill>
          <a:ln/>
        </p:spPr>
        <p:txBody>
          <a:bodyPr/>
          <a:lstStyle/>
          <a:p>
            <a:endParaRPr lang="en-US" sz="3200"/>
          </a:p>
        </p:txBody>
      </p:sp>
      <p:sp>
        <p:nvSpPr>
          <p:cNvPr id="14" name="Text 11"/>
          <p:cNvSpPr/>
          <p:nvPr/>
        </p:nvSpPr>
        <p:spPr>
          <a:xfrm>
            <a:off x="6172200" y="3063240"/>
            <a:ext cx="777240" cy="512064"/>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5" name="Text 12"/>
          <p:cNvSpPr/>
          <p:nvPr/>
        </p:nvSpPr>
        <p:spPr>
          <a:xfrm>
            <a:off x="7132320" y="2971800"/>
            <a:ext cx="4419295" cy="36576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Al₂O₃–CuO–CNT 1.2%</a:t>
            </a:r>
            <a:endParaRPr lang="en-US" sz="2000" dirty="0"/>
          </a:p>
        </p:txBody>
      </p:sp>
      <p:sp>
        <p:nvSpPr>
          <p:cNvPr id="16" name="Text 13"/>
          <p:cNvSpPr/>
          <p:nvPr/>
        </p:nvSpPr>
        <p:spPr>
          <a:xfrm>
            <a:off x="7132320" y="3337560"/>
            <a:ext cx="4419295" cy="365760"/>
          </a:xfrm>
          <a:prstGeom prst="rect">
            <a:avLst/>
          </a:prstGeom>
          <a:noFill/>
          <a:ln/>
        </p:spPr>
        <p:txBody>
          <a:bodyPr wrap="square" rtlCol="0" anchor="ctr"/>
          <a:lstStyle/>
          <a:p>
            <a:pPr marL="0" indent="0">
              <a:buNone/>
            </a:pPr>
            <a:r>
              <a:rPr lang="en-US" sz="1600" dirty="0">
                <a:solidFill>
                  <a:srgbClr val="6B7785"/>
                </a:solidFill>
                <a:latin typeface="Calibri" pitchFamily="34" charset="0"/>
                <a:ea typeface="Calibri" pitchFamily="34" charset="-122"/>
                <a:cs typeface="Calibri" pitchFamily="34" charset="-120"/>
              </a:rPr>
              <a:t>Hot nanofluid, swirled inner tube passage</a:t>
            </a:r>
            <a:endParaRPr lang="en-US" sz="1600" dirty="0"/>
          </a:p>
        </p:txBody>
      </p:sp>
      <p:sp>
        <p:nvSpPr>
          <p:cNvPr id="17" name="Shape 14"/>
          <p:cNvSpPr/>
          <p:nvPr/>
        </p:nvSpPr>
        <p:spPr>
          <a:xfrm>
            <a:off x="5989320" y="3941064"/>
            <a:ext cx="5562295" cy="914400"/>
          </a:xfrm>
          <a:prstGeom prst="roundRect">
            <a:avLst>
              <a:gd name="adj" fmla="val 9000"/>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18" name="Shape 15"/>
          <p:cNvSpPr/>
          <p:nvPr/>
        </p:nvSpPr>
        <p:spPr>
          <a:xfrm>
            <a:off x="6172200" y="4142232"/>
            <a:ext cx="777240" cy="512064"/>
          </a:xfrm>
          <a:prstGeom prst="roundRect">
            <a:avLst>
              <a:gd name="adj" fmla="val 14286"/>
            </a:avLst>
          </a:prstGeom>
          <a:solidFill>
            <a:srgbClr val="0E7C86"/>
          </a:solidFill>
          <a:ln/>
        </p:spPr>
        <p:txBody>
          <a:bodyPr/>
          <a:lstStyle/>
          <a:p>
            <a:endParaRPr lang="en-US" sz="3200"/>
          </a:p>
        </p:txBody>
      </p:sp>
      <p:sp>
        <p:nvSpPr>
          <p:cNvPr id="19" name="Text 16"/>
          <p:cNvSpPr/>
          <p:nvPr/>
        </p:nvSpPr>
        <p:spPr>
          <a:xfrm>
            <a:off x="6172200" y="4142232"/>
            <a:ext cx="777240" cy="512064"/>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0" name="Text 17"/>
          <p:cNvSpPr/>
          <p:nvPr/>
        </p:nvSpPr>
        <p:spPr>
          <a:xfrm>
            <a:off x="7132320" y="4050792"/>
            <a:ext cx="4419295" cy="36576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Water (liquid)</a:t>
            </a:r>
            <a:endParaRPr lang="en-US" sz="2000" dirty="0"/>
          </a:p>
        </p:txBody>
      </p:sp>
      <p:sp>
        <p:nvSpPr>
          <p:cNvPr id="21" name="Text 18"/>
          <p:cNvSpPr/>
          <p:nvPr/>
        </p:nvSpPr>
        <p:spPr>
          <a:xfrm>
            <a:off x="7132320" y="4416552"/>
            <a:ext cx="4419295" cy="365760"/>
          </a:xfrm>
          <a:prstGeom prst="rect">
            <a:avLst/>
          </a:prstGeom>
          <a:noFill/>
          <a:ln/>
        </p:spPr>
        <p:txBody>
          <a:bodyPr wrap="square" rtlCol="0" anchor="ctr"/>
          <a:lstStyle/>
          <a:p>
            <a:pPr marL="0" indent="0">
              <a:buNone/>
            </a:pPr>
            <a:r>
              <a:rPr lang="en-US" sz="1600" dirty="0">
                <a:solidFill>
                  <a:srgbClr val="6B7785"/>
                </a:solidFill>
                <a:latin typeface="Calibri" pitchFamily="34" charset="0"/>
                <a:ea typeface="Calibri" pitchFamily="34" charset="-122"/>
                <a:cs typeface="Calibri" pitchFamily="34" charset="-120"/>
              </a:rPr>
              <a:t>Cold working fluid, annular shell passage</a:t>
            </a:r>
            <a:endParaRPr lang="en-US" sz="1600" dirty="0"/>
          </a:p>
        </p:txBody>
      </p:sp>
      <p:sp>
        <p:nvSpPr>
          <p:cNvPr id="22" name="Shape 19"/>
          <p:cNvSpPr/>
          <p:nvPr/>
        </p:nvSpPr>
        <p:spPr>
          <a:xfrm>
            <a:off x="5989320" y="5020056"/>
            <a:ext cx="5562295" cy="914400"/>
          </a:xfrm>
          <a:prstGeom prst="roundRect">
            <a:avLst>
              <a:gd name="adj" fmla="val 9000"/>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23" name="Shape 20"/>
          <p:cNvSpPr/>
          <p:nvPr/>
        </p:nvSpPr>
        <p:spPr>
          <a:xfrm>
            <a:off x="6172200" y="5221224"/>
            <a:ext cx="777240" cy="512064"/>
          </a:xfrm>
          <a:prstGeom prst="roundRect">
            <a:avLst>
              <a:gd name="adj" fmla="val 14286"/>
            </a:avLst>
          </a:prstGeom>
          <a:solidFill>
            <a:srgbClr val="132A43"/>
          </a:solidFill>
          <a:ln/>
        </p:spPr>
        <p:txBody>
          <a:bodyPr/>
          <a:lstStyle/>
          <a:p>
            <a:endParaRPr lang="en-US" sz="3200"/>
          </a:p>
        </p:txBody>
      </p:sp>
      <p:sp>
        <p:nvSpPr>
          <p:cNvPr id="24" name="Text 21"/>
          <p:cNvSpPr/>
          <p:nvPr/>
        </p:nvSpPr>
        <p:spPr>
          <a:xfrm>
            <a:off x="6172200" y="5221224"/>
            <a:ext cx="777240" cy="512064"/>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6–12</a:t>
            </a:r>
            <a:endParaRPr lang="en-US" sz="2000" dirty="0"/>
          </a:p>
        </p:txBody>
      </p:sp>
      <p:sp>
        <p:nvSpPr>
          <p:cNvPr id="25" name="Text 22"/>
          <p:cNvSpPr/>
          <p:nvPr/>
        </p:nvSpPr>
        <p:spPr>
          <a:xfrm>
            <a:off x="7132320" y="5129784"/>
            <a:ext cx="4419295" cy="36576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Steel AISI 4340</a:t>
            </a:r>
            <a:endParaRPr lang="en-US" sz="2000" dirty="0"/>
          </a:p>
        </p:txBody>
      </p:sp>
      <p:sp>
        <p:nvSpPr>
          <p:cNvPr id="26" name="Text 23"/>
          <p:cNvSpPr/>
          <p:nvPr/>
        </p:nvSpPr>
        <p:spPr>
          <a:xfrm>
            <a:off x="7132320" y="5495544"/>
            <a:ext cx="4419295" cy="365760"/>
          </a:xfrm>
          <a:prstGeom prst="rect">
            <a:avLst/>
          </a:prstGeom>
          <a:noFill/>
          <a:ln/>
        </p:spPr>
        <p:txBody>
          <a:bodyPr wrap="square" rtlCol="0" anchor="ctr"/>
          <a:lstStyle/>
          <a:p>
            <a:pPr marL="0" indent="0">
              <a:buNone/>
            </a:pPr>
            <a:r>
              <a:rPr lang="en-US" sz="1600" dirty="0">
                <a:solidFill>
                  <a:srgbClr val="6B7785"/>
                </a:solidFill>
                <a:latin typeface="Calibri" pitchFamily="34" charset="0"/>
                <a:ea typeface="Calibri" pitchFamily="34" charset="-122"/>
                <a:cs typeface="Calibri" pitchFamily="34" charset="-120"/>
              </a:rPr>
              <a:t>Tube wall, baffles, structural end plates</a:t>
            </a:r>
            <a:endParaRPr lang="en-US" sz="1600" dirty="0"/>
          </a:p>
        </p:txBody>
      </p:sp>
      <p:sp>
        <p:nvSpPr>
          <p:cNvPr id="27" name="Text 24"/>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5</a:t>
            </a:r>
            <a:endParaRPr lang="en-US" sz="10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B2E"/>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SIMULATION METHODOLOGY</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Six Stage Numerical Workflow</a:t>
            </a:r>
            <a:endParaRPr lang="en-US" sz="3200" dirty="0"/>
          </a:p>
        </p:txBody>
      </p:sp>
      <p:sp>
        <p:nvSpPr>
          <p:cNvPr id="4" name="Shape 2"/>
          <p:cNvSpPr/>
          <p:nvPr/>
        </p:nvSpPr>
        <p:spPr>
          <a:xfrm>
            <a:off x="640080" y="2377440"/>
            <a:ext cx="1391869" cy="2834640"/>
          </a:xfrm>
          <a:prstGeom prst="roundRect">
            <a:avLst>
              <a:gd name="adj" fmla="val 6570"/>
            </a:avLst>
          </a:prstGeom>
          <a:solidFill>
            <a:srgbClr val="16324F"/>
          </a:solidFill>
          <a:ln w="12700">
            <a:solidFill>
              <a:srgbClr val="2A4A6B"/>
            </a:solidFill>
            <a:prstDash val="solid"/>
          </a:ln>
        </p:spPr>
        <p:txBody>
          <a:bodyPr/>
          <a:lstStyle/>
          <a:p>
            <a:endParaRPr lang="en-US" sz="3200"/>
          </a:p>
        </p:txBody>
      </p:sp>
      <p:pic>
        <p:nvPicPr>
          <p:cNvPr id="5" name="Image 0" descr="/home/claude/ppt/img/circles/circ_cube_navy.png"/>
          <p:cNvPicPr>
            <a:picLocks noChangeAspect="1"/>
          </p:cNvPicPr>
          <p:nvPr/>
        </p:nvPicPr>
        <p:blipFill>
          <a:blip r:embed="rId3"/>
          <a:stretch>
            <a:fillRect/>
          </a:stretch>
        </p:blipFill>
        <p:spPr>
          <a:xfrm>
            <a:off x="1025119" y="2670048"/>
            <a:ext cx="621792" cy="621792"/>
          </a:xfrm>
          <a:prstGeom prst="rect">
            <a:avLst/>
          </a:prstGeom>
        </p:spPr>
      </p:pic>
      <p:sp>
        <p:nvSpPr>
          <p:cNvPr id="6" name="Text 3"/>
          <p:cNvSpPr/>
          <p:nvPr/>
        </p:nvSpPr>
        <p:spPr>
          <a:xfrm>
            <a:off x="713232" y="3474720"/>
            <a:ext cx="1245565"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Geometry</a:t>
            </a:r>
            <a:endParaRPr lang="en-US" sz="2000" dirty="0"/>
          </a:p>
        </p:txBody>
      </p:sp>
      <p:sp>
        <p:nvSpPr>
          <p:cNvPr id="7" name="Text 4"/>
          <p:cNvSpPr/>
          <p:nvPr/>
        </p:nvSpPr>
        <p:spPr>
          <a:xfrm>
            <a:off x="713232" y="3950208"/>
            <a:ext cx="1245565" cy="1143000"/>
          </a:xfrm>
          <a:prstGeom prst="rect">
            <a:avLst/>
          </a:prstGeom>
          <a:noFill/>
          <a:ln/>
        </p:spPr>
        <p:txBody>
          <a:bodyPr wrap="square" rtlCol="0" anchor="t"/>
          <a:lstStyle/>
          <a:p>
            <a:pPr marL="0" indent="0" algn="ctr">
              <a:lnSpc>
                <a:spcPct val="110000"/>
              </a:lnSpc>
              <a:buNone/>
            </a:pPr>
            <a:r>
              <a:rPr lang="en-US" sz="1200" dirty="0">
                <a:solidFill>
                  <a:srgbClr val="9FB0C0"/>
                </a:solidFill>
                <a:latin typeface="Calibri" pitchFamily="34" charset="0"/>
                <a:ea typeface="Calibri" pitchFamily="34" charset="-122"/>
                <a:cs typeface="Calibri" pitchFamily="34" charset="-120"/>
              </a:rPr>
              <a:t>Import &amp; domain setup</a:t>
            </a:r>
            <a:endParaRPr lang="en-US" sz="1200" dirty="0"/>
          </a:p>
        </p:txBody>
      </p:sp>
      <p:sp>
        <p:nvSpPr>
          <p:cNvPr id="8" name="Text 5"/>
          <p:cNvSpPr/>
          <p:nvPr/>
        </p:nvSpPr>
        <p:spPr>
          <a:xfrm>
            <a:off x="2031949" y="3520440"/>
            <a:ext cx="310896" cy="548640"/>
          </a:xfrm>
          <a:prstGeom prst="rect">
            <a:avLst/>
          </a:prstGeom>
          <a:noFill/>
          <a:ln/>
        </p:spPr>
        <p:txBody>
          <a:bodyPr wrap="square" rtlCol="0" anchor="ctr"/>
          <a:lstStyle/>
          <a:p>
            <a:pPr marL="0" indent="0" algn="ctr">
              <a:buNone/>
            </a:pPr>
            <a:r>
              <a:rPr lang="en-US" sz="3600" b="1" dirty="0">
                <a:solidFill>
                  <a:srgbClr val="D9622B"/>
                </a:solidFill>
                <a:latin typeface="Calibri" pitchFamily="34" charset="0"/>
                <a:ea typeface="Calibri" pitchFamily="34" charset="-122"/>
                <a:cs typeface="Calibri" pitchFamily="34" charset="-120"/>
              </a:rPr>
              <a:t>→</a:t>
            </a:r>
            <a:endParaRPr lang="en-US" sz="3600" dirty="0"/>
          </a:p>
        </p:txBody>
      </p:sp>
      <p:sp>
        <p:nvSpPr>
          <p:cNvPr id="9" name="Shape 6"/>
          <p:cNvSpPr/>
          <p:nvPr/>
        </p:nvSpPr>
        <p:spPr>
          <a:xfrm>
            <a:off x="2342845" y="2377440"/>
            <a:ext cx="1391869" cy="2834640"/>
          </a:xfrm>
          <a:prstGeom prst="roundRect">
            <a:avLst>
              <a:gd name="adj" fmla="val 6570"/>
            </a:avLst>
          </a:prstGeom>
          <a:solidFill>
            <a:srgbClr val="16324F"/>
          </a:solidFill>
          <a:ln w="12700">
            <a:solidFill>
              <a:srgbClr val="2A4A6B"/>
            </a:solidFill>
            <a:prstDash val="solid"/>
          </a:ln>
        </p:spPr>
        <p:txBody>
          <a:bodyPr/>
          <a:lstStyle/>
          <a:p>
            <a:endParaRPr lang="en-US" sz="3200"/>
          </a:p>
        </p:txBody>
      </p:sp>
      <p:pic>
        <p:nvPicPr>
          <p:cNvPr id="10" name="Image 1" descr="/home/claude/ppt/img/circles/circ_flask_orange.png"/>
          <p:cNvPicPr>
            <a:picLocks noChangeAspect="1"/>
          </p:cNvPicPr>
          <p:nvPr/>
        </p:nvPicPr>
        <p:blipFill>
          <a:blip r:embed="rId4"/>
          <a:stretch>
            <a:fillRect/>
          </a:stretch>
        </p:blipFill>
        <p:spPr>
          <a:xfrm>
            <a:off x="2727884" y="2670048"/>
            <a:ext cx="621792" cy="621792"/>
          </a:xfrm>
          <a:prstGeom prst="rect">
            <a:avLst/>
          </a:prstGeom>
        </p:spPr>
      </p:pic>
      <p:sp>
        <p:nvSpPr>
          <p:cNvPr id="11" name="Text 7"/>
          <p:cNvSpPr/>
          <p:nvPr/>
        </p:nvSpPr>
        <p:spPr>
          <a:xfrm>
            <a:off x="2415997" y="3474720"/>
            <a:ext cx="1245565"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Materials</a:t>
            </a:r>
            <a:endParaRPr lang="en-US" sz="2000" dirty="0"/>
          </a:p>
        </p:txBody>
      </p:sp>
      <p:sp>
        <p:nvSpPr>
          <p:cNvPr id="12" name="Text 8"/>
          <p:cNvSpPr/>
          <p:nvPr/>
        </p:nvSpPr>
        <p:spPr>
          <a:xfrm>
            <a:off x="2415997" y="3950208"/>
            <a:ext cx="1245565" cy="1143000"/>
          </a:xfrm>
          <a:prstGeom prst="rect">
            <a:avLst/>
          </a:prstGeom>
          <a:noFill/>
          <a:ln/>
        </p:spPr>
        <p:txBody>
          <a:bodyPr wrap="square" rtlCol="0" anchor="t"/>
          <a:lstStyle/>
          <a:p>
            <a:pPr marL="0" indent="0" algn="ctr">
              <a:lnSpc>
                <a:spcPct val="110000"/>
              </a:lnSpc>
              <a:buNone/>
            </a:pPr>
            <a:r>
              <a:rPr lang="en-US" sz="1200" dirty="0">
                <a:solidFill>
                  <a:srgbClr val="9FB0C0"/>
                </a:solidFill>
                <a:latin typeface="Calibri" pitchFamily="34" charset="0"/>
                <a:ea typeface="Calibri" pitchFamily="34" charset="-122"/>
                <a:cs typeface="Calibri" pitchFamily="34" charset="-120"/>
              </a:rPr>
              <a:t>Steel, acrylic, water, nanofluid</a:t>
            </a:r>
            <a:endParaRPr lang="en-US" sz="1200" dirty="0"/>
          </a:p>
        </p:txBody>
      </p:sp>
      <p:sp>
        <p:nvSpPr>
          <p:cNvPr id="13" name="Text 9"/>
          <p:cNvSpPr/>
          <p:nvPr/>
        </p:nvSpPr>
        <p:spPr>
          <a:xfrm>
            <a:off x="3734714" y="3520440"/>
            <a:ext cx="310896" cy="548640"/>
          </a:xfrm>
          <a:prstGeom prst="rect">
            <a:avLst/>
          </a:prstGeom>
          <a:noFill/>
          <a:ln/>
        </p:spPr>
        <p:txBody>
          <a:bodyPr wrap="square" rtlCol="0" anchor="ctr"/>
          <a:lstStyle/>
          <a:p>
            <a:pPr marL="0" indent="0" algn="ctr">
              <a:buNone/>
            </a:pPr>
            <a:r>
              <a:rPr lang="en-US" sz="3600" b="1" dirty="0">
                <a:solidFill>
                  <a:srgbClr val="D9622B"/>
                </a:solidFill>
                <a:latin typeface="Calibri" pitchFamily="34" charset="0"/>
                <a:ea typeface="Calibri" pitchFamily="34" charset="-122"/>
                <a:cs typeface="Calibri" pitchFamily="34" charset="-120"/>
              </a:rPr>
              <a:t>→</a:t>
            </a:r>
            <a:endParaRPr lang="en-US" sz="3600" dirty="0"/>
          </a:p>
        </p:txBody>
      </p:sp>
      <p:sp>
        <p:nvSpPr>
          <p:cNvPr id="14" name="Shape 10"/>
          <p:cNvSpPr/>
          <p:nvPr/>
        </p:nvSpPr>
        <p:spPr>
          <a:xfrm>
            <a:off x="4045610" y="2377440"/>
            <a:ext cx="1391869" cy="2834640"/>
          </a:xfrm>
          <a:prstGeom prst="roundRect">
            <a:avLst>
              <a:gd name="adj" fmla="val 6570"/>
            </a:avLst>
          </a:prstGeom>
          <a:solidFill>
            <a:srgbClr val="16324F"/>
          </a:solidFill>
          <a:ln w="12700">
            <a:solidFill>
              <a:srgbClr val="2A4A6B"/>
            </a:solidFill>
            <a:prstDash val="solid"/>
          </a:ln>
        </p:spPr>
        <p:txBody>
          <a:bodyPr/>
          <a:lstStyle/>
          <a:p>
            <a:endParaRPr lang="en-US" sz="3200"/>
          </a:p>
        </p:txBody>
      </p:sp>
      <p:pic>
        <p:nvPicPr>
          <p:cNvPr id="15" name="Image 2" descr="/home/claude/ppt/img/circles/circ_atom_teal.png"/>
          <p:cNvPicPr>
            <a:picLocks noChangeAspect="1"/>
          </p:cNvPicPr>
          <p:nvPr/>
        </p:nvPicPr>
        <p:blipFill>
          <a:blip r:embed="rId5"/>
          <a:stretch>
            <a:fillRect/>
          </a:stretch>
        </p:blipFill>
        <p:spPr>
          <a:xfrm>
            <a:off x="4430649" y="2670048"/>
            <a:ext cx="621792" cy="621792"/>
          </a:xfrm>
          <a:prstGeom prst="rect">
            <a:avLst/>
          </a:prstGeom>
        </p:spPr>
      </p:pic>
      <p:sp>
        <p:nvSpPr>
          <p:cNvPr id="16" name="Text 11"/>
          <p:cNvSpPr/>
          <p:nvPr/>
        </p:nvSpPr>
        <p:spPr>
          <a:xfrm>
            <a:off x="4118762" y="3474720"/>
            <a:ext cx="1245565"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Physics</a:t>
            </a:r>
            <a:endParaRPr lang="en-US" sz="2000" dirty="0"/>
          </a:p>
        </p:txBody>
      </p:sp>
      <p:sp>
        <p:nvSpPr>
          <p:cNvPr id="17" name="Text 12"/>
          <p:cNvSpPr/>
          <p:nvPr/>
        </p:nvSpPr>
        <p:spPr>
          <a:xfrm>
            <a:off x="4118762" y="3950208"/>
            <a:ext cx="1245565" cy="1143000"/>
          </a:xfrm>
          <a:prstGeom prst="rect">
            <a:avLst/>
          </a:prstGeom>
          <a:noFill/>
          <a:ln/>
        </p:spPr>
        <p:txBody>
          <a:bodyPr wrap="square" rtlCol="0" anchor="t"/>
          <a:lstStyle/>
          <a:p>
            <a:pPr marL="0" indent="0" algn="ctr">
              <a:lnSpc>
                <a:spcPct val="110000"/>
              </a:lnSpc>
              <a:buNone/>
            </a:pPr>
            <a:r>
              <a:rPr lang="en-US" sz="1200" dirty="0">
                <a:solidFill>
                  <a:srgbClr val="9FB0C0"/>
                </a:solidFill>
                <a:latin typeface="Calibri" pitchFamily="34" charset="0"/>
                <a:ea typeface="Calibri" pitchFamily="34" charset="-122"/>
                <a:cs typeface="Calibri" pitchFamily="34" charset="-120"/>
              </a:rPr>
              <a:t>Turbulent flow + conjugate heat transfer</a:t>
            </a:r>
            <a:endParaRPr lang="en-US" sz="1200" dirty="0"/>
          </a:p>
        </p:txBody>
      </p:sp>
      <p:sp>
        <p:nvSpPr>
          <p:cNvPr id="18" name="Text 13"/>
          <p:cNvSpPr/>
          <p:nvPr/>
        </p:nvSpPr>
        <p:spPr>
          <a:xfrm>
            <a:off x="5437480" y="3520440"/>
            <a:ext cx="310896" cy="548640"/>
          </a:xfrm>
          <a:prstGeom prst="rect">
            <a:avLst/>
          </a:prstGeom>
          <a:noFill/>
          <a:ln/>
        </p:spPr>
        <p:txBody>
          <a:bodyPr wrap="square" rtlCol="0" anchor="ctr"/>
          <a:lstStyle/>
          <a:p>
            <a:pPr marL="0" indent="0" algn="ctr">
              <a:buNone/>
            </a:pPr>
            <a:r>
              <a:rPr lang="en-US" sz="3600" b="1" dirty="0">
                <a:solidFill>
                  <a:srgbClr val="D9622B"/>
                </a:solidFill>
                <a:latin typeface="Calibri" pitchFamily="34" charset="0"/>
                <a:ea typeface="Calibri" pitchFamily="34" charset="-122"/>
                <a:cs typeface="Calibri" pitchFamily="34" charset="-120"/>
              </a:rPr>
              <a:t>→</a:t>
            </a:r>
            <a:endParaRPr lang="en-US" sz="3600" dirty="0"/>
          </a:p>
        </p:txBody>
      </p:sp>
      <p:sp>
        <p:nvSpPr>
          <p:cNvPr id="19" name="Shape 14"/>
          <p:cNvSpPr/>
          <p:nvPr/>
        </p:nvSpPr>
        <p:spPr>
          <a:xfrm>
            <a:off x="5748376" y="2377440"/>
            <a:ext cx="1391869" cy="2834640"/>
          </a:xfrm>
          <a:prstGeom prst="roundRect">
            <a:avLst>
              <a:gd name="adj" fmla="val 6570"/>
            </a:avLst>
          </a:prstGeom>
          <a:solidFill>
            <a:srgbClr val="16324F"/>
          </a:solidFill>
          <a:ln w="12700">
            <a:solidFill>
              <a:srgbClr val="2A4A6B"/>
            </a:solidFill>
            <a:prstDash val="solid"/>
          </a:ln>
        </p:spPr>
        <p:txBody>
          <a:bodyPr/>
          <a:lstStyle/>
          <a:p>
            <a:endParaRPr lang="en-US" sz="3200"/>
          </a:p>
        </p:txBody>
      </p:sp>
      <p:pic>
        <p:nvPicPr>
          <p:cNvPr id="20" name="Image 3" descr="/home/claude/ppt/img/circles/circ_layergroup_navy.png"/>
          <p:cNvPicPr>
            <a:picLocks noChangeAspect="1"/>
          </p:cNvPicPr>
          <p:nvPr/>
        </p:nvPicPr>
        <p:blipFill>
          <a:blip r:embed="rId6"/>
          <a:stretch>
            <a:fillRect/>
          </a:stretch>
        </p:blipFill>
        <p:spPr>
          <a:xfrm>
            <a:off x="6133414" y="2670048"/>
            <a:ext cx="621792" cy="621792"/>
          </a:xfrm>
          <a:prstGeom prst="rect">
            <a:avLst/>
          </a:prstGeom>
        </p:spPr>
      </p:pic>
      <p:sp>
        <p:nvSpPr>
          <p:cNvPr id="21" name="Text 15"/>
          <p:cNvSpPr/>
          <p:nvPr/>
        </p:nvSpPr>
        <p:spPr>
          <a:xfrm>
            <a:off x="5821528" y="3474720"/>
            <a:ext cx="1245565"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Mesh</a:t>
            </a:r>
            <a:endParaRPr lang="en-US" sz="2000" dirty="0"/>
          </a:p>
        </p:txBody>
      </p:sp>
      <p:sp>
        <p:nvSpPr>
          <p:cNvPr id="22" name="Text 16"/>
          <p:cNvSpPr/>
          <p:nvPr/>
        </p:nvSpPr>
        <p:spPr>
          <a:xfrm>
            <a:off x="5821528" y="3950208"/>
            <a:ext cx="1245565" cy="1143000"/>
          </a:xfrm>
          <a:prstGeom prst="rect">
            <a:avLst/>
          </a:prstGeom>
          <a:noFill/>
          <a:ln/>
        </p:spPr>
        <p:txBody>
          <a:bodyPr wrap="square" rtlCol="0" anchor="t"/>
          <a:lstStyle/>
          <a:p>
            <a:pPr marL="0" indent="0" algn="ctr">
              <a:lnSpc>
                <a:spcPct val="110000"/>
              </a:lnSpc>
              <a:buNone/>
            </a:pPr>
            <a:r>
              <a:rPr lang="en-US" sz="1200" dirty="0">
                <a:solidFill>
                  <a:srgbClr val="9FB0C0"/>
                </a:solidFill>
                <a:latin typeface="Calibri" pitchFamily="34" charset="0"/>
                <a:ea typeface="Calibri" pitchFamily="34" charset="-122"/>
                <a:cs typeface="Calibri" pitchFamily="34" charset="-120"/>
              </a:rPr>
              <a:t>Tetrahedral + boundary layers</a:t>
            </a:r>
            <a:endParaRPr lang="en-US" sz="1200" dirty="0"/>
          </a:p>
        </p:txBody>
      </p:sp>
      <p:sp>
        <p:nvSpPr>
          <p:cNvPr id="23" name="Text 17"/>
          <p:cNvSpPr/>
          <p:nvPr/>
        </p:nvSpPr>
        <p:spPr>
          <a:xfrm>
            <a:off x="7140245" y="3520440"/>
            <a:ext cx="310896" cy="548640"/>
          </a:xfrm>
          <a:prstGeom prst="rect">
            <a:avLst/>
          </a:prstGeom>
          <a:noFill/>
          <a:ln/>
        </p:spPr>
        <p:txBody>
          <a:bodyPr wrap="square" rtlCol="0" anchor="ctr"/>
          <a:lstStyle/>
          <a:p>
            <a:pPr marL="0" indent="0" algn="ctr">
              <a:buNone/>
            </a:pPr>
            <a:r>
              <a:rPr lang="en-US" sz="3600" b="1" dirty="0">
                <a:solidFill>
                  <a:srgbClr val="D9622B"/>
                </a:solidFill>
                <a:latin typeface="Calibri" pitchFamily="34" charset="0"/>
                <a:ea typeface="Calibri" pitchFamily="34" charset="-122"/>
                <a:cs typeface="Calibri" pitchFamily="34" charset="-120"/>
              </a:rPr>
              <a:t>→</a:t>
            </a:r>
            <a:endParaRPr lang="en-US" sz="3600" dirty="0"/>
          </a:p>
        </p:txBody>
      </p:sp>
      <p:sp>
        <p:nvSpPr>
          <p:cNvPr id="24" name="Shape 18"/>
          <p:cNvSpPr/>
          <p:nvPr/>
        </p:nvSpPr>
        <p:spPr>
          <a:xfrm>
            <a:off x="7451141" y="2377440"/>
            <a:ext cx="1391869" cy="2834640"/>
          </a:xfrm>
          <a:prstGeom prst="roundRect">
            <a:avLst>
              <a:gd name="adj" fmla="val 6570"/>
            </a:avLst>
          </a:prstGeom>
          <a:solidFill>
            <a:srgbClr val="16324F"/>
          </a:solidFill>
          <a:ln w="12700">
            <a:solidFill>
              <a:srgbClr val="2A4A6B"/>
            </a:solidFill>
            <a:prstDash val="solid"/>
          </a:ln>
        </p:spPr>
        <p:txBody>
          <a:bodyPr/>
          <a:lstStyle/>
          <a:p>
            <a:endParaRPr lang="en-US" sz="3200"/>
          </a:p>
        </p:txBody>
      </p:sp>
      <p:pic>
        <p:nvPicPr>
          <p:cNvPr id="25" name="Image 4" descr="/home/claude/ppt/img/circles/circ_microchip_navy.png"/>
          <p:cNvPicPr>
            <a:picLocks noChangeAspect="1"/>
          </p:cNvPicPr>
          <p:nvPr/>
        </p:nvPicPr>
        <p:blipFill>
          <a:blip r:embed="rId7"/>
          <a:stretch>
            <a:fillRect/>
          </a:stretch>
        </p:blipFill>
        <p:spPr>
          <a:xfrm>
            <a:off x="7836179" y="2670048"/>
            <a:ext cx="621792" cy="621792"/>
          </a:xfrm>
          <a:prstGeom prst="rect">
            <a:avLst/>
          </a:prstGeom>
        </p:spPr>
      </p:pic>
      <p:sp>
        <p:nvSpPr>
          <p:cNvPr id="26" name="Text 19"/>
          <p:cNvSpPr/>
          <p:nvPr/>
        </p:nvSpPr>
        <p:spPr>
          <a:xfrm>
            <a:off x="7524293" y="3474720"/>
            <a:ext cx="1245565"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Solve</a:t>
            </a:r>
            <a:endParaRPr lang="en-US" sz="2000" dirty="0"/>
          </a:p>
        </p:txBody>
      </p:sp>
      <p:sp>
        <p:nvSpPr>
          <p:cNvPr id="27" name="Text 20"/>
          <p:cNvSpPr/>
          <p:nvPr/>
        </p:nvSpPr>
        <p:spPr>
          <a:xfrm>
            <a:off x="7524293" y="3950208"/>
            <a:ext cx="1245565" cy="1143000"/>
          </a:xfrm>
          <a:prstGeom prst="rect">
            <a:avLst/>
          </a:prstGeom>
          <a:noFill/>
          <a:ln/>
        </p:spPr>
        <p:txBody>
          <a:bodyPr wrap="square" rtlCol="0" anchor="t"/>
          <a:lstStyle/>
          <a:p>
            <a:pPr marL="0" indent="0" algn="ctr">
              <a:lnSpc>
                <a:spcPct val="110000"/>
              </a:lnSpc>
              <a:buNone/>
            </a:pPr>
            <a:r>
              <a:rPr lang="en-US" sz="1200" dirty="0">
                <a:solidFill>
                  <a:srgbClr val="9FB0C0"/>
                </a:solidFill>
                <a:latin typeface="Calibri" pitchFamily="34" charset="0"/>
                <a:ea typeface="Calibri" pitchFamily="34" charset="-122"/>
                <a:cs typeface="Calibri" pitchFamily="34" charset="-120"/>
              </a:rPr>
              <a:t>Stationary, segregated AMG solver</a:t>
            </a:r>
            <a:endParaRPr lang="en-US" sz="1200" dirty="0"/>
          </a:p>
        </p:txBody>
      </p:sp>
      <p:sp>
        <p:nvSpPr>
          <p:cNvPr id="28" name="Text 21"/>
          <p:cNvSpPr/>
          <p:nvPr/>
        </p:nvSpPr>
        <p:spPr>
          <a:xfrm>
            <a:off x="8843010" y="3520440"/>
            <a:ext cx="310896" cy="548640"/>
          </a:xfrm>
          <a:prstGeom prst="rect">
            <a:avLst/>
          </a:prstGeom>
          <a:noFill/>
          <a:ln/>
        </p:spPr>
        <p:txBody>
          <a:bodyPr wrap="square" rtlCol="0" anchor="ctr"/>
          <a:lstStyle/>
          <a:p>
            <a:pPr marL="0" indent="0" algn="ctr">
              <a:buNone/>
            </a:pPr>
            <a:r>
              <a:rPr lang="en-US" sz="3600" b="1" dirty="0">
                <a:solidFill>
                  <a:srgbClr val="D9622B"/>
                </a:solidFill>
                <a:latin typeface="Calibri" pitchFamily="34" charset="0"/>
                <a:ea typeface="Calibri" pitchFamily="34" charset="-122"/>
                <a:cs typeface="Calibri" pitchFamily="34" charset="-120"/>
              </a:rPr>
              <a:t>→</a:t>
            </a:r>
            <a:endParaRPr lang="en-US" sz="3600" dirty="0"/>
          </a:p>
        </p:txBody>
      </p:sp>
      <p:sp>
        <p:nvSpPr>
          <p:cNvPr id="29" name="Shape 22"/>
          <p:cNvSpPr/>
          <p:nvPr/>
        </p:nvSpPr>
        <p:spPr>
          <a:xfrm>
            <a:off x="9153906" y="2377440"/>
            <a:ext cx="1391869" cy="2834640"/>
          </a:xfrm>
          <a:prstGeom prst="roundRect">
            <a:avLst>
              <a:gd name="adj" fmla="val 6570"/>
            </a:avLst>
          </a:prstGeom>
          <a:solidFill>
            <a:srgbClr val="16324F"/>
          </a:solidFill>
          <a:ln w="12700">
            <a:solidFill>
              <a:srgbClr val="2A4A6B"/>
            </a:solidFill>
            <a:prstDash val="solid"/>
          </a:ln>
        </p:spPr>
        <p:txBody>
          <a:bodyPr/>
          <a:lstStyle/>
          <a:p>
            <a:endParaRPr lang="en-US" sz="3200"/>
          </a:p>
        </p:txBody>
      </p:sp>
      <p:pic>
        <p:nvPicPr>
          <p:cNvPr id="30" name="Image 5" descr="/home/claude/ppt/img/circles/circ_chartline_navy.png"/>
          <p:cNvPicPr>
            <a:picLocks noChangeAspect="1"/>
          </p:cNvPicPr>
          <p:nvPr/>
        </p:nvPicPr>
        <p:blipFill>
          <a:blip r:embed="rId8"/>
          <a:stretch>
            <a:fillRect/>
          </a:stretch>
        </p:blipFill>
        <p:spPr>
          <a:xfrm>
            <a:off x="9538945" y="2670048"/>
            <a:ext cx="621792" cy="621792"/>
          </a:xfrm>
          <a:prstGeom prst="rect">
            <a:avLst/>
          </a:prstGeom>
        </p:spPr>
      </p:pic>
      <p:sp>
        <p:nvSpPr>
          <p:cNvPr id="31" name="Text 23"/>
          <p:cNvSpPr/>
          <p:nvPr/>
        </p:nvSpPr>
        <p:spPr>
          <a:xfrm>
            <a:off x="9227058" y="3474720"/>
            <a:ext cx="1245565" cy="45720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Post-process</a:t>
            </a:r>
            <a:endParaRPr lang="en-US" sz="2000" dirty="0"/>
          </a:p>
        </p:txBody>
      </p:sp>
      <p:sp>
        <p:nvSpPr>
          <p:cNvPr id="32" name="Text 24"/>
          <p:cNvSpPr/>
          <p:nvPr/>
        </p:nvSpPr>
        <p:spPr>
          <a:xfrm>
            <a:off x="9227058" y="3950208"/>
            <a:ext cx="1245565" cy="1143000"/>
          </a:xfrm>
          <a:prstGeom prst="rect">
            <a:avLst/>
          </a:prstGeom>
          <a:noFill/>
          <a:ln/>
        </p:spPr>
        <p:txBody>
          <a:bodyPr wrap="square" rtlCol="0" anchor="t"/>
          <a:lstStyle/>
          <a:p>
            <a:pPr marL="0" indent="0" algn="ctr">
              <a:lnSpc>
                <a:spcPct val="110000"/>
              </a:lnSpc>
              <a:buNone/>
            </a:pPr>
            <a:r>
              <a:rPr lang="en-US" sz="1200" dirty="0">
                <a:solidFill>
                  <a:srgbClr val="9FB0C0"/>
                </a:solidFill>
                <a:latin typeface="Calibri" pitchFamily="34" charset="0"/>
                <a:ea typeface="Calibri" pitchFamily="34" charset="-122"/>
                <a:cs typeface="Calibri" pitchFamily="34" charset="-120"/>
              </a:rPr>
              <a:t>Fields, tables, hand calculations</a:t>
            </a:r>
            <a:endParaRPr lang="en-US" sz="1200" dirty="0"/>
          </a:p>
        </p:txBody>
      </p:sp>
      <p:sp>
        <p:nvSpPr>
          <p:cNvPr id="33" name="Text 25"/>
          <p:cNvSpPr/>
          <p:nvPr/>
        </p:nvSpPr>
        <p:spPr>
          <a:xfrm>
            <a:off x="640080" y="5532120"/>
            <a:ext cx="10911535" cy="548640"/>
          </a:xfrm>
          <a:prstGeom prst="rect">
            <a:avLst/>
          </a:prstGeom>
          <a:noFill/>
          <a:ln/>
        </p:spPr>
        <p:txBody>
          <a:bodyPr wrap="square" rtlCol="0" anchor="ctr"/>
          <a:lstStyle/>
          <a:p>
            <a:pPr marL="0" indent="0" algn="ctr">
              <a:buNone/>
            </a:pPr>
            <a:r>
              <a:rPr lang="en-US" sz="1150" i="1" dirty="0">
                <a:solidFill>
                  <a:srgbClr val="9FB0C0"/>
                </a:solidFill>
                <a:latin typeface="Calibri" pitchFamily="34" charset="0"/>
                <a:ea typeface="Calibri" pitchFamily="34" charset="-122"/>
                <a:cs typeface="Calibri" pitchFamily="34" charset="-120"/>
              </a:rPr>
              <a:t>Every stage feeds the next: geometry defines where materials sit, materials and physics define the mesh resolution needed, and the solved fields are what the hand calculations of Section 7 build upon.</a:t>
            </a:r>
            <a:endParaRPr lang="en-US" sz="1150" dirty="0"/>
          </a:p>
        </p:txBody>
      </p:sp>
      <p:sp>
        <p:nvSpPr>
          <p:cNvPr id="34" name="Text 26"/>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9FB0C0"/>
                </a:solidFill>
                <a:latin typeface="Calibri" pitchFamily="34" charset="0"/>
                <a:ea typeface="Calibri" pitchFamily="34" charset="-122"/>
                <a:cs typeface="Calibri" pitchFamily="34" charset="-120"/>
              </a:rPr>
              <a:t>6</a:t>
            </a:r>
            <a:endParaRPr lang="en-US" sz="10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MATHEMATICAL FORMULATION</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Governing Equations</a:t>
            </a:r>
            <a:endParaRPr lang="en-US" sz="3200" dirty="0"/>
          </a:p>
        </p:txBody>
      </p:sp>
      <p:sp>
        <p:nvSpPr>
          <p:cNvPr id="4" name="Shape 2"/>
          <p:cNvSpPr/>
          <p:nvPr/>
        </p:nvSpPr>
        <p:spPr>
          <a:xfrm>
            <a:off x="640080" y="1691640"/>
            <a:ext cx="5272888" cy="1965960"/>
          </a:xfrm>
          <a:prstGeom prst="roundRect">
            <a:avLst>
              <a:gd name="adj" fmla="val 418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5" name="Image 0" descr="/home/claude/ppt/img/circles/circ_atom_teal.png"/>
          <p:cNvPicPr>
            <a:picLocks noChangeAspect="1"/>
          </p:cNvPicPr>
          <p:nvPr/>
        </p:nvPicPr>
        <p:blipFill>
          <a:blip r:embed="rId3"/>
          <a:stretch>
            <a:fillRect/>
          </a:stretch>
        </p:blipFill>
        <p:spPr>
          <a:xfrm>
            <a:off x="896112" y="1929384"/>
            <a:ext cx="512064" cy="512064"/>
          </a:xfrm>
          <a:prstGeom prst="rect">
            <a:avLst/>
          </a:prstGeom>
        </p:spPr>
      </p:pic>
      <p:sp>
        <p:nvSpPr>
          <p:cNvPr id="6" name="Text 3"/>
          <p:cNvSpPr/>
          <p:nvPr/>
        </p:nvSpPr>
        <p:spPr>
          <a:xfrm>
            <a:off x="1554480" y="1892808"/>
            <a:ext cx="4129888" cy="45720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Continuity</a:t>
            </a:r>
            <a:endParaRPr lang="en-US" sz="2000" dirty="0"/>
          </a:p>
        </p:txBody>
      </p:sp>
      <p:sp>
        <p:nvSpPr>
          <p:cNvPr id="7" name="Text 4"/>
          <p:cNvSpPr/>
          <p:nvPr/>
        </p:nvSpPr>
        <p:spPr>
          <a:xfrm>
            <a:off x="896112" y="2560320"/>
            <a:ext cx="4760824" cy="502920"/>
          </a:xfrm>
          <a:prstGeom prst="rect">
            <a:avLst/>
          </a:prstGeom>
          <a:noFill/>
          <a:ln/>
        </p:spPr>
        <p:txBody>
          <a:bodyPr wrap="square" rtlCol="0" anchor="ctr"/>
          <a:lstStyle/>
          <a:p>
            <a:pPr marL="0" indent="0" algn="ctr">
              <a:buNone/>
            </a:pPr>
            <a:r>
              <a:rPr lang="en-US" sz="2000" i="1" dirty="0">
                <a:solidFill>
                  <a:srgbClr val="D9622B"/>
                </a:solidFill>
                <a:latin typeface="Cambria Math" pitchFamily="34" charset="0"/>
                <a:ea typeface="Cambria Math" pitchFamily="34" charset="-122"/>
                <a:cs typeface="Cambria Math" pitchFamily="34" charset="-120"/>
              </a:rPr>
              <a:t>∇·(ρ u) = 0</a:t>
            </a:r>
            <a:endParaRPr lang="en-US" sz="2000" dirty="0"/>
          </a:p>
        </p:txBody>
      </p:sp>
      <p:sp>
        <p:nvSpPr>
          <p:cNvPr id="8" name="Text 5"/>
          <p:cNvSpPr/>
          <p:nvPr/>
        </p:nvSpPr>
        <p:spPr>
          <a:xfrm>
            <a:off x="896112" y="3108960"/>
            <a:ext cx="4760824" cy="457200"/>
          </a:xfrm>
          <a:prstGeom prst="rect">
            <a:avLst/>
          </a:prstGeom>
          <a:noFill/>
          <a:ln/>
        </p:spPr>
        <p:txBody>
          <a:bodyPr wrap="square" rtlCol="0" anchor="t"/>
          <a:lstStyle/>
          <a:p>
            <a:pPr marL="0" indent="0" algn="ctr">
              <a:buNone/>
            </a:pPr>
            <a:r>
              <a:rPr lang="en-US" sz="1200" dirty="0">
                <a:solidFill>
                  <a:srgbClr val="6B7785"/>
                </a:solidFill>
                <a:latin typeface="Calibri" pitchFamily="34" charset="0"/>
                <a:ea typeface="Calibri" pitchFamily="34" charset="-122"/>
                <a:cs typeface="Calibri" pitchFamily="34" charset="-120"/>
              </a:rPr>
              <a:t>Steady state conservation of mass in both fluid domains.</a:t>
            </a:r>
            <a:endParaRPr lang="en-US" sz="1200" dirty="0"/>
          </a:p>
        </p:txBody>
      </p:sp>
      <p:sp>
        <p:nvSpPr>
          <p:cNvPr id="9" name="Shape 6"/>
          <p:cNvSpPr/>
          <p:nvPr/>
        </p:nvSpPr>
        <p:spPr>
          <a:xfrm>
            <a:off x="6278728" y="1691640"/>
            <a:ext cx="5272888" cy="1965960"/>
          </a:xfrm>
          <a:prstGeom prst="roundRect">
            <a:avLst>
              <a:gd name="adj" fmla="val 418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10" name="Image 1" descr="/home/claude/ppt/img/circles/circ_wind_teal.png"/>
          <p:cNvPicPr>
            <a:picLocks noChangeAspect="1"/>
          </p:cNvPicPr>
          <p:nvPr/>
        </p:nvPicPr>
        <p:blipFill>
          <a:blip r:embed="rId4"/>
          <a:stretch>
            <a:fillRect/>
          </a:stretch>
        </p:blipFill>
        <p:spPr>
          <a:xfrm>
            <a:off x="6534760" y="1929384"/>
            <a:ext cx="512064" cy="512064"/>
          </a:xfrm>
          <a:prstGeom prst="rect">
            <a:avLst/>
          </a:prstGeom>
        </p:spPr>
      </p:pic>
      <p:sp>
        <p:nvSpPr>
          <p:cNvPr id="11" name="Text 7"/>
          <p:cNvSpPr/>
          <p:nvPr/>
        </p:nvSpPr>
        <p:spPr>
          <a:xfrm>
            <a:off x="7193128" y="1892808"/>
            <a:ext cx="4129888" cy="45720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Momentum (RANS)</a:t>
            </a:r>
            <a:endParaRPr lang="en-US" sz="2000" dirty="0"/>
          </a:p>
        </p:txBody>
      </p:sp>
      <p:sp>
        <p:nvSpPr>
          <p:cNvPr id="12" name="Text 8"/>
          <p:cNvSpPr/>
          <p:nvPr/>
        </p:nvSpPr>
        <p:spPr>
          <a:xfrm>
            <a:off x="6534760" y="2560320"/>
            <a:ext cx="4760824" cy="502920"/>
          </a:xfrm>
          <a:prstGeom prst="rect">
            <a:avLst/>
          </a:prstGeom>
          <a:noFill/>
          <a:ln/>
        </p:spPr>
        <p:txBody>
          <a:bodyPr wrap="square" rtlCol="0" anchor="ctr"/>
          <a:lstStyle/>
          <a:p>
            <a:pPr marL="0" indent="0" algn="ctr">
              <a:buNone/>
            </a:pPr>
            <a:r>
              <a:rPr lang="en-US" sz="2000" i="1" dirty="0">
                <a:solidFill>
                  <a:srgbClr val="D9622B"/>
                </a:solidFill>
                <a:latin typeface="Cambria Math" pitchFamily="34" charset="0"/>
                <a:ea typeface="Cambria Math" pitchFamily="34" charset="-122"/>
                <a:cs typeface="Cambria Math" pitchFamily="34" charset="-120"/>
              </a:rPr>
              <a:t>ρ(u·∇)u = −∇p + ∇·[(μ+μₜ)(∇u+∇uᵀ)]</a:t>
            </a:r>
            <a:endParaRPr lang="en-US" sz="2000" dirty="0"/>
          </a:p>
        </p:txBody>
      </p:sp>
      <p:sp>
        <p:nvSpPr>
          <p:cNvPr id="13" name="Text 9"/>
          <p:cNvSpPr/>
          <p:nvPr/>
        </p:nvSpPr>
        <p:spPr>
          <a:xfrm>
            <a:off x="6534760" y="3108960"/>
            <a:ext cx="4760824" cy="457200"/>
          </a:xfrm>
          <a:prstGeom prst="rect">
            <a:avLst/>
          </a:prstGeom>
          <a:noFill/>
          <a:ln/>
        </p:spPr>
        <p:txBody>
          <a:bodyPr wrap="square" rtlCol="0" anchor="t"/>
          <a:lstStyle/>
          <a:p>
            <a:pPr marL="0" indent="0" algn="ctr">
              <a:buNone/>
            </a:pPr>
            <a:r>
              <a:rPr lang="en-US" sz="1200" dirty="0">
                <a:solidFill>
                  <a:srgbClr val="6B7785"/>
                </a:solidFill>
                <a:latin typeface="Calibri" pitchFamily="34" charset="0"/>
                <a:ea typeface="Calibri" pitchFamily="34" charset="-122"/>
                <a:cs typeface="Calibri" pitchFamily="34" charset="-120"/>
              </a:rPr>
              <a:t>Time averaged turbulent momentum balance.</a:t>
            </a:r>
            <a:endParaRPr lang="en-US" sz="1200" dirty="0"/>
          </a:p>
        </p:txBody>
      </p:sp>
      <p:sp>
        <p:nvSpPr>
          <p:cNvPr id="14" name="Shape 10"/>
          <p:cNvSpPr/>
          <p:nvPr/>
        </p:nvSpPr>
        <p:spPr>
          <a:xfrm>
            <a:off x="640080" y="3931920"/>
            <a:ext cx="5272888" cy="1965960"/>
          </a:xfrm>
          <a:prstGeom prst="roundRect">
            <a:avLst>
              <a:gd name="adj" fmla="val 418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15" name="Image 2" descr="/home/claude/ppt/img/circles/circ_projectdiagram_navy.png"/>
          <p:cNvPicPr>
            <a:picLocks noChangeAspect="1"/>
          </p:cNvPicPr>
          <p:nvPr/>
        </p:nvPicPr>
        <p:blipFill>
          <a:blip r:embed="rId5"/>
          <a:stretch>
            <a:fillRect/>
          </a:stretch>
        </p:blipFill>
        <p:spPr>
          <a:xfrm>
            <a:off x="896112" y="4169664"/>
            <a:ext cx="512064" cy="512064"/>
          </a:xfrm>
          <a:prstGeom prst="rect">
            <a:avLst/>
          </a:prstGeom>
        </p:spPr>
      </p:pic>
      <p:sp>
        <p:nvSpPr>
          <p:cNvPr id="16" name="Text 11"/>
          <p:cNvSpPr/>
          <p:nvPr/>
        </p:nvSpPr>
        <p:spPr>
          <a:xfrm>
            <a:off x="1554480" y="4133088"/>
            <a:ext cx="4129888" cy="45720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k–ε Turbulence</a:t>
            </a:r>
            <a:endParaRPr lang="en-US" sz="2000" dirty="0"/>
          </a:p>
        </p:txBody>
      </p:sp>
      <p:sp>
        <p:nvSpPr>
          <p:cNvPr id="17" name="Text 12"/>
          <p:cNvSpPr/>
          <p:nvPr/>
        </p:nvSpPr>
        <p:spPr>
          <a:xfrm>
            <a:off x="896112" y="4800600"/>
            <a:ext cx="4760824" cy="502920"/>
          </a:xfrm>
          <a:prstGeom prst="rect">
            <a:avLst/>
          </a:prstGeom>
          <a:noFill/>
          <a:ln/>
        </p:spPr>
        <p:txBody>
          <a:bodyPr wrap="square" rtlCol="0" anchor="ctr"/>
          <a:lstStyle/>
          <a:p>
            <a:pPr marL="0" indent="0" algn="ctr">
              <a:buNone/>
            </a:pPr>
            <a:r>
              <a:rPr lang="en-US" sz="2000" i="1" dirty="0">
                <a:solidFill>
                  <a:srgbClr val="D9622B"/>
                </a:solidFill>
                <a:latin typeface="Cambria Math" pitchFamily="34" charset="0"/>
                <a:ea typeface="Cambria Math" pitchFamily="34" charset="-122"/>
                <a:cs typeface="Cambria Math" pitchFamily="34" charset="-120"/>
              </a:rPr>
              <a:t>μₜ = ρ Cμ k² / ε</a:t>
            </a:r>
            <a:endParaRPr lang="en-US" sz="2000" dirty="0"/>
          </a:p>
        </p:txBody>
      </p:sp>
      <p:sp>
        <p:nvSpPr>
          <p:cNvPr id="18" name="Text 13"/>
          <p:cNvSpPr/>
          <p:nvPr/>
        </p:nvSpPr>
        <p:spPr>
          <a:xfrm>
            <a:off x="896112" y="5349240"/>
            <a:ext cx="4760824" cy="457200"/>
          </a:xfrm>
          <a:prstGeom prst="rect">
            <a:avLst/>
          </a:prstGeom>
          <a:noFill/>
          <a:ln/>
        </p:spPr>
        <p:txBody>
          <a:bodyPr wrap="square" rtlCol="0" anchor="t"/>
          <a:lstStyle/>
          <a:p>
            <a:pPr marL="0" indent="0" algn="ctr">
              <a:buNone/>
            </a:pPr>
            <a:r>
              <a:rPr lang="en-US" sz="1200" dirty="0">
                <a:solidFill>
                  <a:srgbClr val="6B7785"/>
                </a:solidFill>
                <a:latin typeface="Calibri" pitchFamily="34" charset="0"/>
                <a:ea typeface="Calibri" pitchFamily="34" charset="-122"/>
                <a:cs typeface="Calibri" pitchFamily="34" charset="-120"/>
              </a:rPr>
              <a:t>Two equation closure with standard wall functions.</a:t>
            </a:r>
            <a:endParaRPr lang="en-US" sz="1200" dirty="0"/>
          </a:p>
        </p:txBody>
      </p:sp>
      <p:sp>
        <p:nvSpPr>
          <p:cNvPr id="19" name="Shape 14"/>
          <p:cNvSpPr/>
          <p:nvPr/>
        </p:nvSpPr>
        <p:spPr>
          <a:xfrm>
            <a:off x="6278728" y="3931920"/>
            <a:ext cx="5272888" cy="1965960"/>
          </a:xfrm>
          <a:prstGeom prst="roundRect">
            <a:avLst>
              <a:gd name="adj" fmla="val 418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20" name="Image 3" descr="/home/claude/ppt/img/circles/circ_fire_orange.png"/>
          <p:cNvPicPr>
            <a:picLocks noChangeAspect="1"/>
          </p:cNvPicPr>
          <p:nvPr/>
        </p:nvPicPr>
        <p:blipFill>
          <a:blip r:embed="rId6"/>
          <a:stretch>
            <a:fillRect/>
          </a:stretch>
        </p:blipFill>
        <p:spPr>
          <a:xfrm>
            <a:off x="6534760" y="4169664"/>
            <a:ext cx="512064" cy="512064"/>
          </a:xfrm>
          <a:prstGeom prst="rect">
            <a:avLst/>
          </a:prstGeom>
        </p:spPr>
      </p:pic>
      <p:sp>
        <p:nvSpPr>
          <p:cNvPr id="21" name="Text 15"/>
          <p:cNvSpPr/>
          <p:nvPr/>
        </p:nvSpPr>
        <p:spPr>
          <a:xfrm>
            <a:off x="7193128" y="4133088"/>
            <a:ext cx="4129888" cy="45720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Conjugate Energy</a:t>
            </a:r>
            <a:endParaRPr lang="en-US" sz="2000" dirty="0"/>
          </a:p>
        </p:txBody>
      </p:sp>
      <p:sp>
        <p:nvSpPr>
          <p:cNvPr id="22" name="Text 16"/>
          <p:cNvSpPr/>
          <p:nvPr/>
        </p:nvSpPr>
        <p:spPr>
          <a:xfrm>
            <a:off x="6534760" y="4800600"/>
            <a:ext cx="4760824" cy="502920"/>
          </a:xfrm>
          <a:prstGeom prst="rect">
            <a:avLst/>
          </a:prstGeom>
          <a:noFill/>
          <a:ln/>
        </p:spPr>
        <p:txBody>
          <a:bodyPr wrap="square" rtlCol="0" anchor="ctr"/>
          <a:lstStyle/>
          <a:p>
            <a:pPr marL="0" indent="0" algn="ctr">
              <a:buNone/>
            </a:pPr>
            <a:r>
              <a:rPr lang="en-US" sz="2000" i="1" dirty="0">
                <a:solidFill>
                  <a:srgbClr val="D9622B"/>
                </a:solidFill>
                <a:latin typeface="Cambria Math" pitchFamily="34" charset="0"/>
                <a:ea typeface="Cambria Math" pitchFamily="34" charset="-122"/>
                <a:cs typeface="Cambria Math" pitchFamily="34" charset="-120"/>
              </a:rPr>
              <a:t>ρ Cp u·∇T = ∇·(k∇T)</a:t>
            </a:r>
            <a:endParaRPr lang="en-US" sz="2000" dirty="0"/>
          </a:p>
        </p:txBody>
      </p:sp>
      <p:sp>
        <p:nvSpPr>
          <p:cNvPr id="23" name="Text 17"/>
          <p:cNvSpPr/>
          <p:nvPr/>
        </p:nvSpPr>
        <p:spPr>
          <a:xfrm>
            <a:off x="6534760" y="5349240"/>
            <a:ext cx="4760824" cy="457200"/>
          </a:xfrm>
          <a:prstGeom prst="rect">
            <a:avLst/>
          </a:prstGeom>
          <a:noFill/>
          <a:ln/>
        </p:spPr>
        <p:txBody>
          <a:bodyPr wrap="square" rtlCol="0" anchor="t"/>
          <a:lstStyle/>
          <a:p>
            <a:pPr marL="0" indent="0" algn="ctr">
              <a:buNone/>
            </a:pPr>
            <a:r>
              <a:rPr lang="en-US" sz="1200" dirty="0">
                <a:solidFill>
                  <a:srgbClr val="6B7785"/>
                </a:solidFill>
                <a:latin typeface="Calibri" pitchFamily="34" charset="0"/>
                <a:ea typeface="Calibri" pitchFamily="34" charset="-122"/>
                <a:cs typeface="Calibri" pitchFamily="34" charset="-120"/>
              </a:rPr>
              <a:t>Coupled fluid convection and solid conduction, no assumed film coefficient.</a:t>
            </a:r>
            <a:endParaRPr lang="en-US" sz="1200" dirty="0"/>
          </a:p>
        </p:txBody>
      </p:sp>
      <p:sp>
        <p:nvSpPr>
          <p:cNvPr id="24" name="Text 18"/>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7</a:t>
            </a:r>
            <a:endParaRPr lang="en-US" sz="10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MATERIALS</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Nanofluid Enhancement Over Base Fluid</a:t>
            </a:r>
            <a:endParaRPr lang="en-US" sz="3200" dirty="0"/>
          </a:p>
        </p:txBody>
      </p:sp>
      <p:sp>
        <p:nvSpPr>
          <p:cNvPr id="4" name="Shape 2"/>
          <p:cNvSpPr/>
          <p:nvPr/>
        </p:nvSpPr>
        <p:spPr>
          <a:xfrm>
            <a:off x="640080" y="1691640"/>
            <a:ext cx="5989320" cy="4343400"/>
          </a:xfrm>
          <a:prstGeom prst="roundRect">
            <a:avLst>
              <a:gd name="adj" fmla="val 1895"/>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5" name="Text 3"/>
          <p:cNvSpPr/>
          <p:nvPr/>
        </p:nvSpPr>
        <p:spPr>
          <a:xfrm>
            <a:off x="914400" y="1874520"/>
            <a:ext cx="5486400" cy="365760"/>
          </a:xfrm>
          <a:prstGeom prst="rect">
            <a:avLst/>
          </a:prstGeom>
          <a:noFill/>
          <a:ln/>
        </p:spPr>
        <p:txBody>
          <a:bodyPr wrap="square" rtlCol="0" anchor="ctr"/>
          <a:lstStyle/>
          <a:p>
            <a:pPr marL="0" indent="0">
              <a:buNone/>
            </a:pPr>
            <a:r>
              <a:rPr lang="en-US" sz="1400" b="1" dirty="0">
                <a:solidFill>
                  <a:srgbClr val="132A43"/>
                </a:solidFill>
                <a:latin typeface="Cambria" pitchFamily="34" charset="0"/>
                <a:ea typeface="Cambria" pitchFamily="34" charset="-122"/>
                <a:cs typeface="Cambria" pitchFamily="34" charset="-120"/>
              </a:rPr>
              <a:t>Thermal Conductivity vs. Nanoparticle Concentration</a:t>
            </a:r>
            <a:endParaRPr lang="en-US" sz="1400" dirty="0"/>
          </a:p>
        </p:txBody>
      </p:sp>
      <p:graphicFrame>
        <p:nvGraphicFramePr>
          <p:cNvPr id="6" name="Chart 0"/>
          <p:cNvGraphicFramePr/>
          <p:nvPr/>
        </p:nvGraphicFramePr>
        <p:xfrm>
          <a:off x="914400" y="2331720"/>
          <a:ext cx="544068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6903720" y="1691640"/>
            <a:ext cx="4647895" cy="2103120"/>
          </a:xfrm>
          <a:prstGeom prst="roundRect">
            <a:avLst>
              <a:gd name="adj" fmla="val 3913"/>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8" name="Shape 5"/>
          <p:cNvSpPr/>
          <p:nvPr/>
        </p:nvSpPr>
        <p:spPr>
          <a:xfrm>
            <a:off x="7132320" y="1892808"/>
            <a:ext cx="128016" cy="1700784"/>
          </a:xfrm>
          <a:prstGeom prst="roundRect">
            <a:avLst>
              <a:gd name="adj" fmla="val 14286"/>
            </a:avLst>
          </a:prstGeom>
          <a:solidFill>
            <a:srgbClr val="D9622B"/>
          </a:solidFill>
          <a:ln/>
        </p:spPr>
        <p:txBody>
          <a:bodyPr/>
          <a:lstStyle/>
          <a:p>
            <a:endParaRPr lang="en-US" sz="2800"/>
          </a:p>
        </p:txBody>
      </p:sp>
      <p:sp>
        <p:nvSpPr>
          <p:cNvPr id="9" name="Text 6"/>
          <p:cNvSpPr/>
          <p:nvPr/>
        </p:nvSpPr>
        <p:spPr>
          <a:xfrm>
            <a:off x="7406640" y="1874520"/>
            <a:ext cx="3657600" cy="32004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Hot Stream</a:t>
            </a:r>
            <a:endParaRPr lang="en-US" sz="2000" dirty="0"/>
          </a:p>
        </p:txBody>
      </p:sp>
      <p:sp>
        <p:nvSpPr>
          <p:cNvPr id="10" name="Text 7"/>
          <p:cNvSpPr/>
          <p:nvPr/>
        </p:nvSpPr>
        <p:spPr>
          <a:xfrm>
            <a:off x="7406640" y="2194560"/>
            <a:ext cx="3657600" cy="274320"/>
          </a:xfrm>
          <a:prstGeom prst="rect">
            <a:avLst/>
          </a:prstGeom>
          <a:noFill/>
          <a:ln/>
        </p:spPr>
        <p:txBody>
          <a:bodyPr wrap="square" rtlCol="0" anchor="ctr"/>
          <a:lstStyle/>
          <a:p>
            <a:pPr marL="0" indent="0">
              <a:buNone/>
            </a:pPr>
            <a:r>
              <a:rPr lang="en-US" sz="1400" i="1" dirty="0">
                <a:solidFill>
                  <a:srgbClr val="6B7785"/>
                </a:solidFill>
                <a:latin typeface="Calibri" pitchFamily="34" charset="0"/>
                <a:ea typeface="Calibri" pitchFamily="34" charset="-122"/>
                <a:cs typeface="Calibri" pitchFamily="34" charset="-120"/>
              </a:rPr>
              <a:t>Al₂O₃–CuO–CNT, 1.2%</a:t>
            </a:r>
            <a:endParaRPr lang="en-US" sz="1400" dirty="0"/>
          </a:p>
        </p:txBody>
      </p:sp>
      <p:sp>
        <p:nvSpPr>
          <p:cNvPr id="11" name="Text 8"/>
          <p:cNvSpPr/>
          <p:nvPr/>
        </p:nvSpPr>
        <p:spPr>
          <a:xfrm>
            <a:off x="7406640" y="2587752"/>
            <a:ext cx="1645920" cy="292608"/>
          </a:xfrm>
          <a:prstGeom prst="rect">
            <a:avLst/>
          </a:prstGeom>
          <a:noFill/>
          <a:ln/>
        </p:spPr>
        <p:txBody>
          <a:bodyPr wrap="square" rtlCol="0" anchor="ctr"/>
          <a:lstStyle/>
          <a:p>
            <a:pPr marL="0" indent="0">
              <a:buNone/>
            </a:pPr>
            <a:r>
              <a:rPr lang="en-US" sz="1400" dirty="0">
                <a:solidFill>
                  <a:srgbClr val="6B7785"/>
                </a:solidFill>
                <a:latin typeface="Calibri" pitchFamily="34" charset="0"/>
                <a:ea typeface="Calibri" pitchFamily="34" charset="-122"/>
                <a:cs typeface="Calibri" pitchFamily="34" charset="-120"/>
              </a:rPr>
              <a:t>Density</a:t>
            </a:r>
            <a:endParaRPr lang="en-US" sz="1400" dirty="0"/>
          </a:p>
        </p:txBody>
      </p:sp>
      <p:sp>
        <p:nvSpPr>
          <p:cNvPr id="12" name="Text 9"/>
          <p:cNvSpPr/>
          <p:nvPr/>
        </p:nvSpPr>
        <p:spPr>
          <a:xfrm>
            <a:off x="9052560" y="2587752"/>
            <a:ext cx="1920240" cy="292608"/>
          </a:xfrm>
          <a:prstGeom prst="rect">
            <a:avLst/>
          </a:prstGeom>
          <a:noFill/>
          <a:ln/>
        </p:spPr>
        <p:txBody>
          <a:bodyPr wrap="square" rtlCol="0" anchor="ctr"/>
          <a:lstStyle/>
          <a:p>
            <a:pPr marL="0" indent="0" algn="r">
              <a:buNone/>
            </a:pPr>
            <a:r>
              <a:rPr lang="en-US" sz="1400" b="1" dirty="0">
                <a:solidFill>
                  <a:srgbClr val="132A43"/>
                </a:solidFill>
                <a:latin typeface="Calibri" pitchFamily="34" charset="0"/>
                <a:ea typeface="Calibri" pitchFamily="34" charset="-122"/>
                <a:cs typeface="Calibri" pitchFamily="34" charset="-120"/>
              </a:rPr>
              <a:t>1021.7 kg/m³</a:t>
            </a:r>
            <a:endParaRPr lang="en-US" sz="1400" dirty="0"/>
          </a:p>
        </p:txBody>
      </p:sp>
      <p:sp>
        <p:nvSpPr>
          <p:cNvPr id="13" name="Text 10"/>
          <p:cNvSpPr/>
          <p:nvPr/>
        </p:nvSpPr>
        <p:spPr>
          <a:xfrm>
            <a:off x="7406640" y="2935224"/>
            <a:ext cx="1645920" cy="292608"/>
          </a:xfrm>
          <a:prstGeom prst="rect">
            <a:avLst/>
          </a:prstGeom>
          <a:noFill/>
          <a:ln/>
        </p:spPr>
        <p:txBody>
          <a:bodyPr wrap="square" rtlCol="0" anchor="ctr"/>
          <a:lstStyle/>
          <a:p>
            <a:pPr marL="0" indent="0">
              <a:buNone/>
            </a:pPr>
            <a:r>
              <a:rPr lang="en-US" sz="1400" dirty="0">
                <a:solidFill>
                  <a:srgbClr val="6B7785"/>
                </a:solidFill>
                <a:latin typeface="Calibri" pitchFamily="34" charset="0"/>
                <a:ea typeface="Calibri" pitchFamily="34" charset="-122"/>
                <a:cs typeface="Calibri" pitchFamily="34" charset="-120"/>
              </a:rPr>
              <a:t>Specific heat</a:t>
            </a:r>
            <a:endParaRPr lang="en-US" sz="1400" dirty="0"/>
          </a:p>
        </p:txBody>
      </p:sp>
      <p:sp>
        <p:nvSpPr>
          <p:cNvPr id="14" name="Text 11"/>
          <p:cNvSpPr/>
          <p:nvPr/>
        </p:nvSpPr>
        <p:spPr>
          <a:xfrm>
            <a:off x="9052560" y="2935224"/>
            <a:ext cx="1920240" cy="292608"/>
          </a:xfrm>
          <a:prstGeom prst="rect">
            <a:avLst/>
          </a:prstGeom>
          <a:noFill/>
          <a:ln/>
        </p:spPr>
        <p:txBody>
          <a:bodyPr wrap="square" rtlCol="0" anchor="ctr"/>
          <a:lstStyle/>
          <a:p>
            <a:pPr marL="0" indent="0" algn="r">
              <a:buNone/>
            </a:pPr>
            <a:r>
              <a:rPr lang="en-US" sz="1400" b="1" dirty="0">
                <a:solidFill>
                  <a:srgbClr val="132A43"/>
                </a:solidFill>
                <a:latin typeface="Calibri" pitchFamily="34" charset="0"/>
                <a:ea typeface="Calibri" pitchFamily="34" charset="-122"/>
                <a:cs typeface="Calibri" pitchFamily="34" charset="-120"/>
              </a:rPr>
              <a:t>3997 J/(kg·K)</a:t>
            </a:r>
            <a:endParaRPr lang="en-US" sz="1400" dirty="0"/>
          </a:p>
        </p:txBody>
      </p:sp>
      <p:sp>
        <p:nvSpPr>
          <p:cNvPr id="15" name="Text 12"/>
          <p:cNvSpPr/>
          <p:nvPr/>
        </p:nvSpPr>
        <p:spPr>
          <a:xfrm>
            <a:off x="7406640" y="3282696"/>
            <a:ext cx="1645920" cy="292608"/>
          </a:xfrm>
          <a:prstGeom prst="rect">
            <a:avLst/>
          </a:prstGeom>
          <a:noFill/>
          <a:ln/>
        </p:spPr>
        <p:txBody>
          <a:bodyPr wrap="square" rtlCol="0" anchor="ctr"/>
          <a:lstStyle/>
          <a:p>
            <a:pPr marL="0" indent="0">
              <a:buNone/>
            </a:pPr>
            <a:r>
              <a:rPr lang="en-US" sz="1400" dirty="0">
                <a:solidFill>
                  <a:srgbClr val="6B7785"/>
                </a:solidFill>
                <a:latin typeface="Calibri" pitchFamily="34" charset="0"/>
                <a:ea typeface="Calibri" pitchFamily="34" charset="-122"/>
                <a:cs typeface="Calibri" pitchFamily="34" charset="-120"/>
              </a:rPr>
              <a:t>Conductivity</a:t>
            </a:r>
            <a:endParaRPr lang="en-US" sz="1400" dirty="0"/>
          </a:p>
        </p:txBody>
      </p:sp>
      <p:sp>
        <p:nvSpPr>
          <p:cNvPr id="16" name="Text 13"/>
          <p:cNvSpPr/>
          <p:nvPr/>
        </p:nvSpPr>
        <p:spPr>
          <a:xfrm>
            <a:off x="9052560" y="3282696"/>
            <a:ext cx="1920240" cy="292608"/>
          </a:xfrm>
          <a:prstGeom prst="rect">
            <a:avLst/>
          </a:prstGeom>
          <a:noFill/>
          <a:ln/>
        </p:spPr>
        <p:txBody>
          <a:bodyPr wrap="square" rtlCol="0" anchor="ctr"/>
          <a:lstStyle/>
          <a:p>
            <a:pPr marL="0" indent="0" algn="r">
              <a:buNone/>
            </a:pPr>
            <a:r>
              <a:rPr lang="en-US" sz="1400" b="1" dirty="0">
                <a:solidFill>
                  <a:srgbClr val="132A43"/>
                </a:solidFill>
                <a:latin typeface="Calibri" pitchFamily="34" charset="0"/>
                <a:ea typeface="Calibri" pitchFamily="34" charset="-122"/>
                <a:cs typeface="Calibri" pitchFamily="34" charset="-120"/>
              </a:rPr>
              <a:t>1.003 W/(m·K)</a:t>
            </a:r>
            <a:endParaRPr lang="en-US" sz="1400" dirty="0"/>
          </a:p>
        </p:txBody>
      </p:sp>
      <p:sp>
        <p:nvSpPr>
          <p:cNvPr id="17" name="Shape 14"/>
          <p:cNvSpPr/>
          <p:nvPr/>
        </p:nvSpPr>
        <p:spPr>
          <a:xfrm>
            <a:off x="6903720" y="3977640"/>
            <a:ext cx="4647895" cy="2103120"/>
          </a:xfrm>
          <a:prstGeom prst="roundRect">
            <a:avLst>
              <a:gd name="adj" fmla="val 3913"/>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18" name="Shape 15"/>
          <p:cNvSpPr/>
          <p:nvPr/>
        </p:nvSpPr>
        <p:spPr>
          <a:xfrm>
            <a:off x="7132320" y="4178808"/>
            <a:ext cx="128016" cy="1700784"/>
          </a:xfrm>
          <a:prstGeom prst="roundRect">
            <a:avLst>
              <a:gd name="adj" fmla="val 14286"/>
            </a:avLst>
          </a:prstGeom>
          <a:solidFill>
            <a:srgbClr val="0E7C86"/>
          </a:solidFill>
          <a:ln/>
        </p:spPr>
        <p:txBody>
          <a:bodyPr/>
          <a:lstStyle/>
          <a:p>
            <a:endParaRPr lang="en-US" sz="2800"/>
          </a:p>
        </p:txBody>
      </p:sp>
      <p:sp>
        <p:nvSpPr>
          <p:cNvPr id="19" name="Text 16"/>
          <p:cNvSpPr/>
          <p:nvPr/>
        </p:nvSpPr>
        <p:spPr>
          <a:xfrm>
            <a:off x="7406640" y="4160520"/>
            <a:ext cx="3657600" cy="32004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Cold Stream</a:t>
            </a:r>
            <a:endParaRPr lang="en-US" sz="2000" dirty="0"/>
          </a:p>
        </p:txBody>
      </p:sp>
      <p:sp>
        <p:nvSpPr>
          <p:cNvPr id="20" name="Text 17"/>
          <p:cNvSpPr/>
          <p:nvPr/>
        </p:nvSpPr>
        <p:spPr>
          <a:xfrm>
            <a:off x="7406640" y="4480560"/>
            <a:ext cx="3657600" cy="274320"/>
          </a:xfrm>
          <a:prstGeom prst="rect">
            <a:avLst/>
          </a:prstGeom>
          <a:noFill/>
          <a:ln/>
        </p:spPr>
        <p:txBody>
          <a:bodyPr wrap="square" rtlCol="0" anchor="ctr"/>
          <a:lstStyle/>
          <a:p>
            <a:pPr marL="0" indent="0">
              <a:buNone/>
            </a:pPr>
            <a:r>
              <a:rPr lang="en-US" sz="1400" i="1" dirty="0">
                <a:solidFill>
                  <a:srgbClr val="6B7785"/>
                </a:solidFill>
                <a:latin typeface="Calibri" pitchFamily="34" charset="0"/>
                <a:ea typeface="Calibri" pitchFamily="34" charset="-122"/>
                <a:cs typeface="Calibri" pitchFamily="34" charset="-120"/>
              </a:rPr>
              <a:t>Water (liquid)</a:t>
            </a:r>
            <a:endParaRPr lang="en-US" sz="1400" dirty="0"/>
          </a:p>
        </p:txBody>
      </p:sp>
      <p:sp>
        <p:nvSpPr>
          <p:cNvPr id="21" name="Text 18"/>
          <p:cNvSpPr/>
          <p:nvPr/>
        </p:nvSpPr>
        <p:spPr>
          <a:xfrm>
            <a:off x="7406640" y="4873752"/>
            <a:ext cx="1645920" cy="292608"/>
          </a:xfrm>
          <a:prstGeom prst="rect">
            <a:avLst/>
          </a:prstGeom>
          <a:noFill/>
          <a:ln/>
        </p:spPr>
        <p:txBody>
          <a:bodyPr wrap="square" rtlCol="0" anchor="ctr"/>
          <a:lstStyle/>
          <a:p>
            <a:pPr marL="0" indent="0">
              <a:buNone/>
            </a:pPr>
            <a:r>
              <a:rPr lang="en-US" sz="1400" dirty="0">
                <a:solidFill>
                  <a:srgbClr val="6B7785"/>
                </a:solidFill>
                <a:latin typeface="Calibri" pitchFamily="34" charset="0"/>
                <a:ea typeface="Calibri" pitchFamily="34" charset="-122"/>
                <a:cs typeface="Calibri" pitchFamily="34" charset="-120"/>
              </a:rPr>
              <a:t>Density</a:t>
            </a:r>
            <a:endParaRPr lang="en-US" sz="1400" dirty="0"/>
          </a:p>
        </p:txBody>
      </p:sp>
      <p:sp>
        <p:nvSpPr>
          <p:cNvPr id="22" name="Text 19"/>
          <p:cNvSpPr/>
          <p:nvPr/>
        </p:nvSpPr>
        <p:spPr>
          <a:xfrm>
            <a:off x="9052560" y="4873752"/>
            <a:ext cx="1920240" cy="292608"/>
          </a:xfrm>
          <a:prstGeom prst="rect">
            <a:avLst/>
          </a:prstGeom>
          <a:noFill/>
          <a:ln/>
        </p:spPr>
        <p:txBody>
          <a:bodyPr wrap="square" rtlCol="0" anchor="ctr"/>
          <a:lstStyle/>
          <a:p>
            <a:pPr marL="0" indent="0" algn="r">
              <a:buNone/>
            </a:pPr>
            <a:r>
              <a:rPr lang="en-US" sz="1400" b="1" dirty="0">
                <a:solidFill>
                  <a:srgbClr val="132A43"/>
                </a:solidFill>
                <a:latin typeface="Calibri" pitchFamily="34" charset="0"/>
                <a:ea typeface="Calibri" pitchFamily="34" charset="-122"/>
                <a:cs typeface="Calibri" pitchFamily="34" charset="-120"/>
              </a:rPr>
              <a:t>997 kg/m³</a:t>
            </a:r>
            <a:endParaRPr lang="en-US" sz="1400" dirty="0"/>
          </a:p>
        </p:txBody>
      </p:sp>
      <p:sp>
        <p:nvSpPr>
          <p:cNvPr id="23" name="Text 20"/>
          <p:cNvSpPr/>
          <p:nvPr/>
        </p:nvSpPr>
        <p:spPr>
          <a:xfrm>
            <a:off x="7406640" y="5221224"/>
            <a:ext cx="1645920" cy="292608"/>
          </a:xfrm>
          <a:prstGeom prst="rect">
            <a:avLst/>
          </a:prstGeom>
          <a:noFill/>
          <a:ln/>
        </p:spPr>
        <p:txBody>
          <a:bodyPr wrap="square" rtlCol="0" anchor="ctr"/>
          <a:lstStyle/>
          <a:p>
            <a:pPr marL="0" indent="0">
              <a:buNone/>
            </a:pPr>
            <a:r>
              <a:rPr lang="en-US" sz="1400" dirty="0">
                <a:solidFill>
                  <a:srgbClr val="6B7785"/>
                </a:solidFill>
                <a:latin typeface="Calibri" pitchFamily="34" charset="0"/>
                <a:ea typeface="Calibri" pitchFamily="34" charset="-122"/>
                <a:cs typeface="Calibri" pitchFamily="34" charset="-120"/>
              </a:rPr>
              <a:t>Specific heat</a:t>
            </a:r>
            <a:endParaRPr lang="en-US" sz="1400" dirty="0"/>
          </a:p>
        </p:txBody>
      </p:sp>
      <p:sp>
        <p:nvSpPr>
          <p:cNvPr id="24" name="Text 21"/>
          <p:cNvSpPr/>
          <p:nvPr/>
        </p:nvSpPr>
        <p:spPr>
          <a:xfrm>
            <a:off x="9052560" y="5221224"/>
            <a:ext cx="1920240" cy="292608"/>
          </a:xfrm>
          <a:prstGeom prst="rect">
            <a:avLst/>
          </a:prstGeom>
          <a:noFill/>
          <a:ln/>
        </p:spPr>
        <p:txBody>
          <a:bodyPr wrap="square" rtlCol="0" anchor="ctr"/>
          <a:lstStyle/>
          <a:p>
            <a:pPr marL="0" indent="0" algn="r">
              <a:buNone/>
            </a:pPr>
            <a:r>
              <a:rPr lang="en-US" sz="1400" b="1" dirty="0">
                <a:solidFill>
                  <a:srgbClr val="132A43"/>
                </a:solidFill>
                <a:latin typeface="Calibri" pitchFamily="34" charset="0"/>
                <a:ea typeface="Calibri" pitchFamily="34" charset="-122"/>
                <a:cs typeface="Calibri" pitchFamily="34" charset="-120"/>
              </a:rPr>
              <a:t>4182 J/(kg·K)</a:t>
            </a:r>
            <a:endParaRPr lang="en-US" sz="1400" dirty="0"/>
          </a:p>
        </p:txBody>
      </p:sp>
      <p:sp>
        <p:nvSpPr>
          <p:cNvPr id="25" name="Text 22"/>
          <p:cNvSpPr/>
          <p:nvPr/>
        </p:nvSpPr>
        <p:spPr>
          <a:xfrm>
            <a:off x="7406640" y="5568696"/>
            <a:ext cx="1645920" cy="292608"/>
          </a:xfrm>
          <a:prstGeom prst="rect">
            <a:avLst/>
          </a:prstGeom>
          <a:noFill/>
          <a:ln/>
        </p:spPr>
        <p:txBody>
          <a:bodyPr wrap="square" rtlCol="0" anchor="ctr"/>
          <a:lstStyle/>
          <a:p>
            <a:pPr marL="0" indent="0">
              <a:buNone/>
            </a:pPr>
            <a:r>
              <a:rPr lang="en-US" sz="1400" dirty="0">
                <a:solidFill>
                  <a:srgbClr val="6B7785"/>
                </a:solidFill>
                <a:latin typeface="Calibri" pitchFamily="34" charset="0"/>
                <a:ea typeface="Calibri" pitchFamily="34" charset="-122"/>
                <a:cs typeface="Calibri" pitchFamily="34" charset="-120"/>
              </a:rPr>
              <a:t>Conductivity</a:t>
            </a:r>
            <a:endParaRPr lang="en-US" sz="1400" dirty="0"/>
          </a:p>
        </p:txBody>
      </p:sp>
      <p:sp>
        <p:nvSpPr>
          <p:cNvPr id="26" name="Text 23"/>
          <p:cNvSpPr/>
          <p:nvPr/>
        </p:nvSpPr>
        <p:spPr>
          <a:xfrm>
            <a:off x="9052560" y="5568696"/>
            <a:ext cx="1920240" cy="292608"/>
          </a:xfrm>
          <a:prstGeom prst="rect">
            <a:avLst/>
          </a:prstGeom>
          <a:noFill/>
          <a:ln/>
        </p:spPr>
        <p:txBody>
          <a:bodyPr wrap="square" rtlCol="0" anchor="ctr"/>
          <a:lstStyle/>
          <a:p>
            <a:pPr marL="0" indent="0" algn="r">
              <a:buNone/>
            </a:pPr>
            <a:r>
              <a:rPr lang="en-US" sz="1400" b="1" dirty="0">
                <a:solidFill>
                  <a:srgbClr val="132A43"/>
                </a:solidFill>
                <a:latin typeface="Calibri" pitchFamily="34" charset="0"/>
                <a:ea typeface="Calibri" pitchFamily="34" charset="-122"/>
                <a:cs typeface="Calibri" pitchFamily="34" charset="-120"/>
              </a:rPr>
              <a:t>0.613 W/(m·K)</a:t>
            </a:r>
            <a:endParaRPr lang="en-US" sz="1400" dirty="0"/>
          </a:p>
        </p:txBody>
      </p:sp>
      <p:sp>
        <p:nvSpPr>
          <p:cNvPr id="27" name="Text 24"/>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8</a:t>
            </a:r>
            <a:endParaRPr lang="en-US" sz="10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NUMERICAL SETUP</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Mesh and Solver Configuration</a:t>
            </a:r>
            <a:endParaRPr lang="en-US" sz="3200" dirty="0"/>
          </a:p>
        </p:txBody>
      </p:sp>
      <p:sp>
        <p:nvSpPr>
          <p:cNvPr id="4" name="Shape 2"/>
          <p:cNvSpPr/>
          <p:nvPr/>
        </p:nvSpPr>
        <p:spPr>
          <a:xfrm>
            <a:off x="585216" y="1682496"/>
            <a:ext cx="5687568" cy="4297680"/>
          </a:xfrm>
          <a:prstGeom prst="roundRect">
            <a:avLst>
              <a:gd name="adj" fmla="val 1489"/>
            </a:avLst>
          </a:prstGeom>
          <a:solidFill>
            <a:srgbClr val="FFFFFF"/>
          </a:solidFill>
          <a:ln w="12700">
            <a:solidFill>
              <a:srgbClr val="E3E9EE"/>
            </a:solidFill>
            <a:prstDash val="solid"/>
          </a:ln>
          <a:effectLst>
            <a:outerShdw blurRad="152400" dist="38100" dir="5400000" algn="bl" rotWithShape="0">
              <a:srgbClr val="1B2531">
                <a:alpha val="15000"/>
              </a:srgbClr>
            </a:outerShdw>
          </a:effectLst>
        </p:spPr>
        <p:txBody>
          <a:bodyPr/>
          <a:lstStyle/>
          <a:p>
            <a:endParaRPr lang="en-US"/>
          </a:p>
        </p:txBody>
      </p:sp>
      <p:pic>
        <p:nvPicPr>
          <p:cNvPr id="5" name="Image 0" descr="/home/claude/ppt/img/mesh_mesh1_view1.png"/>
          <p:cNvPicPr>
            <a:picLocks noChangeAspect="1"/>
          </p:cNvPicPr>
          <p:nvPr/>
        </p:nvPicPr>
        <p:blipFill>
          <a:blip r:embed="rId3"/>
          <a:srcRect l="9344" t="17686" r="8689" b="8952"/>
          <a:stretch>
            <a:fillRect/>
          </a:stretch>
        </p:blipFill>
        <p:spPr>
          <a:xfrm>
            <a:off x="585216" y="1838822"/>
            <a:ext cx="5687568" cy="3822046"/>
          </a:xfrm>
          <a:prstGeom prst="rect">
            <a:avLst/>
          </a:prstGeom>
        </p:spPr>
      </p:pic>
      <p:sp>
        <p:nvSpPr>
          <p:cNvPr id="6" name="Shape 3"/>
          <p:cNvSpPr/>
          <p:nvPr/>
        </p:nvSpPr>
        <p:spPr>
          <a:xfrm>
            <a:off x="6492240" y="1737360"/>
            <a:ext cx="5059375" cy="960120"/>
          </a:xfrm>
          <a:prstGeom prst="roundRect">
            <a:avLst>
              <a:gd name="adj" fmla="val 8571"/>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3200"/>
          </a:p>
        </p:txBody>
      </p:sp>
      <p:pic>
        <p:nvPicPr>
          <p:cNvPr id="7" name="Image 1" descr="/home/claude/ppt/img/circles/circ_ruler_navy.png"/>
          <p:cNvPicPr>
            <a:picLocks noChangeAspect="1"/>
          </p:cNvPicPr>
          <p:nvPr/>
        </p:nvPicPr>
        <p:blipFill>
          <a:blip r:embed="rId4"/>
          <a:stretch>
            <a:fillRect/>
          </a:stretch>
        </p:blipFill>
        <p:spPr>
          <a:xfrm>
            <a:off x="6675120" y="1970532"/>
            <a:ext cx="493776" cy="493776"/>
          </a:xfrm>
          <a:prstGeom prst="rect">
            <a:avLst/>
          </a:prstGeom>
        </p:spPr>
      </p:pic>
      <p:sp>
        <p:nvSpPr>
          <p:cNvPr id="8" name="Text 4"/>
          <p:cNvSpPr/>
          <p:nvPr/>
        </p:nvSpPr>
        <p:spPr>
          <a:xfrm>
            <a:off x="7360920" y="1856232"/>
            <a:ext cx="4007815" cy="32004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Fluid Element Size</a:t>
            </a:r>
            <a:endParaRPr lang="en-US" sz="2000" dirty="0"/>
          </a:p>
        </p:txBody>
      </p:sp>
      <p:sp>
        <p:nvSpPr>
          <p:cNvPr id="9" name="Text 5"/>
          <p:cNvSpPr/>
          <p:nvPr/>
        </p:nvSpPr>
        <p:spPr>
          <a:xfrm>
            <a:off x="7360920" y="2194560"/>
            <a:ext cx="4007815" cy="45720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6.89 mm max, 1.291 mm min, with resolution of narrow regions at 0.5</a:t>
            </a:r>
            <a:endParaRPr lang="en-US" sz="1400" dirty="0"/>
          </a:p>
        </p:txBody>
      </p:sp>
      <p:sp>
        <p:nvSpPr>
          <p:cNvPr id="10" name="Shape 6"/>
          <p:cNvSpPr/>
          <p:nvPr/>
        </p:nvSpPr>
        <p:spPr>
          <a:xfrm>
            <a:off x="6492240" y="2862072"/>
            <a:ext cx="5059375" cy="960120"/>
          </a:xfrm>
          <a:prstGeom prst="roundRect">
            <a:avLst>
              <a:gd name="adj" fmla="val 8571"/>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3200"/>
          </a:p>
        </p:txBody>
      </p:sp>
      <p:pic>
        <p:nvPicPr>
          <p:cNvPr id="11" name="Image 2" descr="/home/claude/ppt/img/circles/circ_layergroup_navy.png"/>
          <p:cNvPicPr>
            <a:picLocks noChangeAspect="1"/>
          </p:cNvPicPr>
          <p:nvPr/>
        </p:nvPicPr>
        <p:blipFill>
          <a:blip r:embed="rId5"/>
          <a:stretch>
            <a:fillRect/>
          </a:stretch>
        </p:blipFill>
        <p:spPr>
          <a:xfrm>
            <a:off x="6675120" y="3095244"/>
            <a:ext cx="493776" cy="493776"/>
          </a:xfrm>
          <a:prstGeom prst="rect">
            <a:avLst/>
          </a:prstGeom>
        </p:spPr>
      </p:pic>
      <p:sp>
        <p:nvSpPr>
          <p:cNvPr id="12" name="Text 7"/>
          <p:cNvSpPr/>
          <p:nvPr/>
        </p:nvSpPr>
        <p:spPr>
          <a:xfrm>
            <a:off x="7360920" y="2980944"/>
            <a:ext cx="4007815" cy="32004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Boundary Layers</a:t>
            </a:r>
            <a:endParaRPr lang="en-US" sz="2000" dirty="0"/>
          </a:p>
        </p:txBody>
      </p:sp>
      <p:sp>
        <p:nvSpPr>
          <p:cNvPr id="13" name="Text 8"/>
          <p:cNvSpPr/>
          <p:nvPr/>
        </p:nvSpPr>
        <p:spPr>
          <a:xfrm>
            <a:off x="7360920" y="3319272"/>
            <a:ext cx="4007815" cy="45720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5 prismatic layers at every fluid wall, thickness adjustment factor 2.5</a:t>
            </a:r>
            <a:endParaRPr lang="en-US" sz="1400" dirty="0"/>
          </a:p>
        </p:txBody>
      </p:sp>
      <p:sp>
        <p:nvSpPr>
          <p:cNvPr id="14" name="Shape 9"/>
          <p:cNvSpPr/>
          <p:nvPr/>
        </p:nvSpPr>
        <p:spPr>
          <a:xfrm>
            <a:off x="6492240" y="3986784"/>
            <a:ext cx="5059375" cy="960120"/>
          </a:xfrm>
          <a:prstGeom prst="roundRect">
            <a:avLst>
              <a:gd name="adj" fmla="val 8571"/>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3200"/>
          </a:p>
        </p:txBody>
      </p:sp>
      <p:pic>
        <p:nvPicPr>
          <p:cNvPr id="15" name="Image 3" descr="/home/claude/ppt/img/circles/circ_microchip_navy.png"/>
          <p:cNvPicPr>
            <a:picLocks noChangeAspect="1"/>
          </p:cNvPicPr>
          <p:nvPr/>
        </p:nvPicPr>
        <p:blipFill>
          <a:blip r:embed="rId6"/>
          <a:stretch>
            <a:fillRect/>
          </a:stretch>
        </p:blipFill>
        <p:spPr>
          <a:xfrm>
            <a:off x="6675120" y="4219956"/>
            <a:ext cx="493776" cy="493776"/>
          </a:xfrm>
          <a:prstGeom prst="rect">
            <a:avLst/>
          </a:prstGeom>
        </p:spPr>
      </p:pic>
      <p:sp>
        <p:nvSpPr>
          <p:cNvPr id="16" name="Text 10"/>
          <p:cNvSpPr/>
          <p:nvPr/>
        </p:nvSpPr>
        <p:spPr>
          <a:xfrm>
            <a:off x="7360920" y="4105656"/>
            <a:ext cx="4007815" cy="32004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Solver</a:t>
            </a:r>
            <a:endParaRPr lang="en-US" sz="2000" dirty="0"/>
          </a:p>
        </p:txBody>
      </p:sp>
      <p:sp>
        <p:nvSpPr>
          <p:cNvPr id="17" name="Text 11"/>
          <p:cNvSpPr/>
          <p:nvPr/>
        </p:nvSpPr>
        <p:spPr>
          <a:xfrm>
            <a:off x="7360920" y="4443984"/>
            <a:ext cx="4007815" cy="45720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Stationary study, segregated solver with 3 groups, AMG linear solver</a:t>
            </a:r>
            <a:endParaRPr lang="en-US" sz="1400" dirty="0"/>
          </a:p>
        </p:txBody>
      </p:sp>
      <p:sp>
        <p:nvSpPr>
          <p:cNvPr id="18" name="Shape 12"/>
          <p:cNvSpPr/>
          <p:nvPr/>
        </p:nvSpPr>
        <p:spPr>
          <a:xfrm>
            <a:off x="6492240" y="5111496"/>
            <a:ext cx="5059375" cy="960120"/>
          </a:xfrm>
          <a:prstGeom prst="roundRect">
            <a:avLst>
              <a:gd name="adj" fmla="val 8571"/>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3200"/>
          </a:p>
        </p:txBody>
      </p:sp>
      <p:pic>
        <p:nvPicPr>
          <p:cNvPr id="19" name="Image 4" descr="/home/claude/ppt/img/circles/circ_checkcircle_teal.png"/>
          <p:cNvPicPr>
            <a:picLocks noChangeAspect="1"/>
          </p:cNvPicPr>
          <p:nvPr/>
        </p:nvPicPr>
        <p:blipFill>
          <a:blip r:embed="rId7"/>
          <a:stretch>
            <a:fillRect/>
          </a:stretch>
        </p:blipFill>
        <p:spPr>
          <a:xfrm>
            <a:off x="6675120" y="5344668"/>
            <a:ext cx="493776" cy="493776"/>
          </a:xfrm>
          <a:prstGeom prst="rect">
            <a:avLst/>
          </a:prstGeom>
        </p:spPr>
      </p:pic>
      <p:sp>
        <p:nvSpPr>
          <p:cNvPr id="20" name="Text 13"/>
          <p:cNvSpPr/>
          <p:nvPr/>
        </p:nvSpPr>
        <p:spPr>
          <a:xfrm>
            <a:off x="7360920" y="5230368"/>
            <a:ext cx="4007815" cy="32004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Tolerance</a:t>
            </a:r>
            <a:endParaRPr lang="en-US" sz="2000" dirty="0"/>
          </a:p>
        </p:txBody>
      </p:sp>
      <p:sp>
        <p:nvSpPr>
          <p:cNvPr id="21" name="Text 14"/>
          <p:cNvSpPr/>
          <p:nvPr/>
        </p:nvSpPr>
        <p:spPr>
          <a:xfrm>
            <a:off x="7360920" y="5568696"/>
            <a:ext cx="4007815" cy="45720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User controlled relative tolerance of 1 × 10⁻⁴</a:t>
            </a:r>
            <a:endParaRPr lang="en-US" sz="1400" dirty="0"/>
          </a:p>
        </p:txBody>
      </p:sp>
      <p:sp>
        <p:nvSpPr>
          <p:cNvPr id="22" name="Text 15"/>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9</a:t>
            </a:r>
            <a:endParaRPr lang="en-US" sz="10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SIMULATION RESULTS</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Temperature Field</a:t>
            </a:r>
            <a:endParaRPr lang="en-US" sz="3200" dirty="0"/>
          </a:p>
        </p:txBody>
      </p:sp>
      <p:sp>
        <p:nvSpPr>
          <p:cNvPr id="4" name="Text 2"/>
          <p:cNvSpPr/>
          <p:nvPr/>
        </p:nvSpPr>
        <p:spPr>
          <a:xfrm>
            <a:off x="640080" y="1417320"/>
            <a:ext cx="5760720" cy="1645920"/>
          </a:xfrm>
          <a:prstGeom prst="rect">
            <a:avLst/>
          </a:prstGeom>
          <a:noFill/>
          <a:ln/>
        </p:spPr>
        <p:txBody>
          <a:bodyPr wrap="square" rtlCol="0" anchor="t"/>
          <a:lstStyle/>
          <a:p>
            <a:pPr marL="0" indent="0">
              <a:lnSpc>
                <a:spcPct val="125000"/>
              </a:lnSpc>
              <a:buNone/>
            </a:pPr>
            <a:r>
              <a:rPr lang="en-US" sz="1400" dirty="0">
                <a:solidFill>
                  <a:srgbClr val="1B2531"/>
                </a:solidFill>
                <a:latin typeface="Calibri" pitchFamily="34" charset="0"/>
                <a:ea typeface="Calibri" pitchFamily="34" charset="-122"/>
                <a:cs typeface="Calibri" pitchFamily="34" charset="-120"/>
              </a:rPr>
              <a:t>The hot nanofluid enters the swirled inner tube at 65.0°C and is progressively cooled as it releases heat through the steel wall to the cold water stream, which is heated in the annular shell passage. The helical banding visible in the volume plot is the signature of swirl induced secondary flow, which repeatedly folds hot and cold fluid layers together along the tube length.</a:t>
            </a:r>
            <a:endParaRPr lang="en-US" sz="1400" dirty="0"/>
          </a:p>
        </p:txBody>
      </p:sp>
      <p:sp>
        <p:nvSpPr>
          <p:cNvPr id="5" name="Shape 3"/>
          <p:cNvSpPr/>
          <p:nvPr/>
        </p:nvSpPr>
        <p:spPr>
          <a:xfrm>
            <a:off x="640080" y="3246120"/>
            <a:ext cx="5760720" cy="868680"/>
          </a:xfrm>
          <a:prstGeom prst="roundRect">
            <a:avLst>
              <a:gd name="adj" fmla="val 9474"/>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6" name="Text 4"/>
          <p:cNvSpPr/>
          <p:nvPr/>
        </p:nvSpPr>
        <p:spPr>
          <a:xfrm>
            <a:off x="868680" y="3520440"/>
            <a:ext cx="3291840" cy="320040"/>
          </a:xfrm>
          <a:prstGeom prst="rect">
            <a:avLst/>
          </a:prstGeom>
          <a:noFill/>
          <a:ln/>
        </p:spPr>
        <p:txBody>
          <a:bodyPr wrap="square" rtlCol="0" anchor="ctr"/>
          <a:lstStyle/>
          <a:p>
            <a:pPr marL="0" indent="0">
              <a:buNone/>
            </a:pPr>
            <a:r>
              <a:rPr lang="en-US" sz="2000" dirty="0">
                <a:solidFill>
                  <a:srgbClr val="6B7785"/>
                </a:solidFill>
                <a:latin typeface="Calibri" pitchFamily="34" charset="0"/>
                <a:ea typeface="Calibri" pitchFamily="34" charset="-122"/>
                <a:cs typeface="Calibri" pitchFamily="34" charset="-120"/>
              </a:rPr>
              <a:t>Hot inlet → outlet</a:t>
            </a:r>
            <a:endParaRPr lang="en-US" sz="2000" dirty="0"/>
          </a:p>
        </p:txBody>
      </p:sp>
      <p:sp>
        <p:nvSpPr>
          <p:cNvPr id="7" name="Text 5"/>
          <p:cNvSpPr/>
          <p:nvPr/>
        </p:nvSpPr>
        <p:spPr>
          <a:xfrm>
            <a:off x="868680" y="3383280"/>
            <a:ext cx="5257800" cy="594360"/>
          </a:xfrm>
          <a:prstGeom prst="rect">
            <a:avLst/>
          </a:prstGeom>
          <a:noFill/>
          <a:ln/>
        </p:spPr>
        <p:txBody>
          <a:bodyPr wrap="square" rtlCol="0" anchor="ctr"/>
          <a:lstStyle/>
          <a:p>
            <a:pPr marL="0" indent="0" algn="r">
              <a:buNone/>
            </a:pPr>
            <a:r>
              <a:rPr lang="en-US" sz="1900" b="1" dirty="0">
                <a:solidFill>
                  <a:srgbClr val="D9622B"/>
                </a:solidFill>
                <a:latin typeface="Cambria" pitchFamily="34" charset="0"/>
                <a:ea typeface="Cambria" pitchFamily="34" charset="-122"/>
                <a:cs typeface="Cambria" pitchFamily="34" charset="-120"/>
              </a:rPr>
              <a:t>65.00°C → 57.15°C</a:t>
            </a:r>
            <a:endParaRPr lang="en-US" sz="1900" dirty="0"/>
          </a:p>
        </p:txBody>
      </p:sp>
      <p:sp>
        <p:nvSpPr>
          <p:cNvPr id="8" name="Shape 6"/>
          <p:cNvSpPr/>
          <p:nvPr/>
        </p:nvSpPr>
        <p:spPr>
          <a:xfrm>
            <a:off x="640080" y="4270248"/>
            <a:ext cx="5760720" cy="868680"/>
          </a:xfrm>
          <a:prstGeom prst="roundRect">
            <a:avLst>
              <a:gd name="adj" fmla="val 9474"/>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9" name="Text 7"/>
          <p:cNvSpPr/>
          <p:nvPr/>
        </p:nvSpPr>
        <p:spPr>
          <a:xfrm>
            <a:off x="868680" y="4544568"/>
            <a:ext cx="3291840" cy="320040"/>
          </a:xfrm>
          <a:prstGeom prst="rect">
            <a:avLst/>
          </a:prstGeom>
          <a:noFill/>
          <a:ln/>
        </p:spPr>
        <p:txBody>
          <a:bodyPr wrap="square" rtlCol="0" anchor="ctr"/>
          <a:lstStyle/>
          <a:p>
            <a:pPr marL="0" indent="0">
              <a:buNone/>
            </a:pPr>
            <a:r>
              <a:rPr lang="en-US" sz="2000" dirty="0">
                <a:solidFill>
                  <a:srgbClr val="6B7785"/>
                </a:solidFill>
                <a:latin typeface="Calibri" pitchFamily="34" charset="0"/>
                <a:ea typeface="Calibri" pitchFamily="34" charset="-122"/>
                <a:cs typeface="Calibri" pitchFamily="34" charset="-120"/>
              </a:rPr>
              <a:t>Cold inlet → outlet</a:t>
            </a:r>
            <a:endParaRPr lang="en-US" sz="2000" dirty="0"/>
          </a:p>
        </p:txBody>
      </p:sp>
      <p:sp>
        <p:nvSpPr>
          <p:cNvPr id="10" name="Text 8"/>
          <p:cNvSpPr/>
          <p:nvPr/>
        </p:nvSpPr>
        <p:spPr>
          <a:xfrm>
            <a:off x="868680" y="4407408"/>
            <a:ext cx="5257800" cy="594360"/>
          </a:xfrm>
          <a:prstGeom prst="rect">
            <a:avLst/>
          </a:prstGeom>
          <a:noFill/>
          <a:ln/>
        </p:spPr>
        <p:txBody>
          <a:bodyPr wrap="square" rtlCol="0" anchor="ctr"/>
          <a:lstStyle/>
          <a:p>
            <a:pPr marL="0" indent="0" algn="r">
              <a:buNone/>
            </a:pPr>
            <a:r>
              <a:rPr lang="en-US" sz="1900" b="1" dirty="0">
                <a:solidFill>
                  <a:srgbClr val="D9622B"/>
                </a:solidFill>
                <a:latin typeface="Cambria" pitchFamily="34" charset="0"/>
                <a:ea typeface="Cambria" pitchFamily="34" charset="-122"/>
                <a:cs typeface="Cambria" pitchFamily="34" charset="-120"/>
              </a:rPr>
              <a:t>25.40°C → 55.00°C</a:t>
            </a:r>
            <a:endParaRPr lang="en-US" sz="1900" dirty="0"/>
          </a:p>
        </p:txBody>
      </p:sp>
      <p:sp>
        <p:nvSpPr>
          <p:cNvPr id="11" name="Shape 9"/>
          <p:cNvSpPr/>
          <p:nvPr/>
        </p:nvSpPr>
        <p:spPr>
          <a:xfrm>
            <a:off x="6665976" y="1362456"/>
            <a:ext cx="4956048" cy="3744468"/>
          </a:xfrm>
          <a:prstGeom prst="roundRect">
            <a:avLst>
              <a:gd name="adj" fmla="val 1709"/>
            </a:avLst>
          </a:prstGeom>
          <a:solidFill>
            <a:srgbClr val="FFFFFF"/>
          </a:solidFill>
          <a:ln w="12700">
            <a:solidFill>
              <a:srgbClr val="E3E9EE"/>
            </a:solidFill>
            <a:prstDash val="solid"/>
          </a:ln>
          <a:effectLst>
            <a:outerShdw blurRad="152400" dist="38100" dir="5400000" algn="bl" rotWithShape="0">
              <a:srgbClr val="1B2531">
                <a:alpha val="15000"/>
              </a:srgbClr>
            </a:outerShdw>
          </a:effectLst>
        </p:spPr>
        <p:txBody>
          <a:bodyPr/>
          <a:lstStyle/>
          <a:p>
            <a:endParaRPr lang="en-US"/>
          </a:p>
        </p:txBody>
      </p:sp>
      <p:pic>
        <p:nvPicPr>
          <p:cNvPr id="12" name="Image 0" descr="/home/claude/ppt/img/pg_pg9.png"/>
          <p:cNvPicPr>
            <a:picLocks noChangeAspect="1"/>
          </p:cNvPicPr>
          <p:nvPr/>
        </p:nvPicPr>
        <p:blipFill>
          <a:blip r:embed="rId3"/>
          <a:stretch>
            <a:fillRect/>
          </a:stretch>
        </p:blipFill>
        <p:spPr>
          <a:xfrm>
            <a:off x="6720840" y="1417320"/>
            <a:ext cx="4846320" cy="3634740"/>
          </a:xfrm>
          <a:prstGeom prst="rect">
            <a:avLst/>
          </a:prstGeom>
        </p:spPr>
      </p:pic>
      <p:sp>
        <p:nvSpPr>
          <p:cNvPr id="13" name="Text 10"/>
          <p:cNvSpPr/>
          <p:nvPr/>
        </p:nvSpPr>
        <p:spPr>
          <a:xfrm>
            <a:off x="6720840" y="5138928"/>
            <a:ext cx="4846320" cy="365760"/>
          </a:xfrm>
          <a:prstGeom prst="rect">
            <a:avLst/>
          </a:prstGeom>
          <a:noFill/>
          <a:ln/>
        </p:spPr>
        <p:txBody>
          <a:bodyPr wrap="square" rtlCol="0" anchor="ctr"/>
          <a:lstStyle/>
          <a:p>
            <a:pPr marL="0" indent="0" algn="ctr">
              <a:buNone/>
            </a:pPr>
            <a:r>
              <a:rPr lang="en-US" sz="1000" i="1" dirty="0">
                <a:solidFill>
                  <a:srgbClr val="6B7785"/>
                </a:solidFill>
                <a:latin typeface="Calibri" pitchFamily="34" charset="0"/>
                <a:ea typeface="Calibri" pitchFamily="34" charset="-122"/>
                <a:cs typeface="Calibri" pitchFamily="34" charset="-120"/>
              </a:rPr>
              <a:t>Volumetric temperature field with contour lines over the complete assembly</a:t>
            </a:r>
            <a:endParaRPr lang="en-US" sz="1000" dirty="0"/>
          </a:p>
        </p:txBody>
      </p:sp>
      <p:sp>
        <p:nvSpPr>
          <p:cNvPr id="14" name="Text 11"/>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10</a:t>
            </a:r>
            <a:endParaRPr lang="en-US" sz="10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SIMULATION RESULTS</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Velocity Field and Streamlines</a:t>
            </a:r>
            <a:endParaRPr lang="en-US" sz="3200" dirty="0"/>
          </a:p>
        </p:txBody>
      </p:sp>
      <p:sp>
        <p:nvSpPr>
          <p:cNvPr id="4" name="Text 2"/>
          <p:cNvSpPr/>
          <p:nvPr/>
        </p:nvSpPr>
        <p:spPr>
          <a:xfrm>
            <a:off x="640080" y="1417320"/>
            <a:ext cx="5760720" cy="2473452"/>
          </a:xfrm>
          <a:prstGeom prst="rect">
            <a:avLst/>
          </a:prstGeom>
          <a:noFill/>
          <a:ln/>
        </p:spPr>
        <p:txBody>
          <a:bodyPr wrap="square" rtlCol="0" anchor="t"/>
          <a:lstStyle/>
          <a:p>
            <a:pPr marL="0" indent="0" algn="just">
              <a:lnSpc>
                <a:spcPct val="125000"/>
              </a:lnSpc>
              <a:buNone/>
            </a:pPr>
            <a:r>
              <a:rPr lang="en-US" dirty="0">
                <a:solidFill>
                  <a:srgbClr val="1B2531"/>
                </a:solidFill>
                <a:latin typeface="Calibri" pitchFamily="34" charset="0"/>
                <a:ea typeface="Calibri" pitchFamily="34" charset="-122"/>
                <a:cs typeface="Calibri" pitchFamily="34" charset="-120"/>
              </a:rPr>
              <a:t>Streamlines confirm that both fluid streams closely follow the intended helical path imposed by the swirled tube geometry. The highest velocity magnitudes occur where the flow cross section is locally constricted by the swirl, consistent with mass continuity, and this constant redirection is exactly what drives the enhanced radial mixing.</a:t>
            </a:r>
            <a:endParaRPr lang="en-US" dirty="0"/>
          </a:p>
        </p:txBody>
      </p:sp>
      <p:sp>
        <p:nvSpPr>
          <p:cNvPr id="5" name="Shape 3"/>
          <p:cNvSpPr/>
          <p:nvPr/>
        </p:nvSpPr>
        <p:spPr>
          <a:xfrm>
            <a:off x="569976" y="4027932"/>
            <a:ext cx="5760720" cy="868680"/>
          </a:xfrm>
          <a:prstGeom prst="roundRect">
            <a:avLst>
              <a:gd name="adj" fmla="val 9474"/>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6" name="Text 4"/>
          <p:cNvSpPr/>
          <p:nvPr/>
        </p:nvSpPr>
        <p:spPr>
          <a:xfrm>
            <a:off x="1005840" y="4297680"/>
            <a:ext cx="3291840" cy="320040"/>
          </a:xfrm>
          <a:prstGeom prst="rect">
            <a:avLst/>
          </a:prstGeom>
          <a:noFill/>
          <a:ln/>
        </p:spPr>
        <p:txBody>
          <a:bodyPr wrap="square" rtlCol="0" anchor="ctr"/>
          <a:lstStyle/>
          <a:p>
            <a:pPr marL="0" indent="0">
              <a:buNone/>
            </a:pPr>
            <a:r>
              <a:rPr lang="en-US" sz="2000" dirty="0">
                <a:solidFill>
                  <a:srgbClr val="6B7785"/>
                </a:solidFill>
                <a:latin typeface="Calibri" pitchFamily="34" charset="0"/>
                <a:ea typeface="Calibri" pitchFamily="34" charset="-122"/>
                <a:cs typeface="Calibri" pitchFamily="34" charset="-120"/>
              </a:rPr>
              <a:t>Hot flow rate</a:t>
            </a:r>
            <a:endParaRPr lang="en-US" sz="2000" dirty="0"/>
          </a:p>
        </p:txBody>
      </p:sp>
      <p:sp>
        <p:nvSpPr>
          <p:cNvPr id="7" name="Text 5"/>
          <p:cNvSpPr/>
          <p:nvPr/>
        </p:nvSpPr>
        <p:spPr>
          <a:xfrm>
            <a:off x="798576" y="4165092"/>
            <a:ext cx="5257800" cy="594360"/>
          </a:xfrm>
          <a:prstGeom prst="rect">
            <a:avLst/>
          </a:prstGeom>
          <a:noFill/>
          <a:ln/>
        </p:spPr>
        <p:txBody>
          <a:bodyPr wrap="square" rtlCol="0" anchor="ctr"/>
          <a:lstStyle/>
          <a:p>
            <a:pPr marL="0" indent="0" algn="r">
              <a:buNone/>
            </a:pPr>
            <a:r>
              <a:rPr lang="en-US" sz="1900" b="1" dirty="0">
                <a:solidFill>
                  <a:srgbClr val="0E7C86"/>
                </a:solidFill>
                <a:latin typeface="Cambria" pitchFamily="34" charset="0"/>
                <a:ea typeface="Cambria" pitchFamily="34" charset="-122"/>
                <a:cs typeface="Cambria" pitchFamily="34" charset="-120"/>
              </a:rPr>
              <a:t>8 L/min (nanofluid)</a:t>
            </a:r>
            <a:endParaRPr lang="en-US" sz="1900" dirty="0"/>
          </a:p>
        </p:txBody>
      </p:sp>
      <p:sp>
        <p:nvSpPr>
          <p:cNvPr id="8" name="Shape 6"/>
          <p:cNvSpPr/>
          <p:nvPr/>
        </p:nvSpPr>
        <p:spPr>
          <a:xfrm>
            <a:off x="569976" y="5052060"/>
            <a:ext cx="5760720" cy="868680"/>
          </a:xfrm>
          <a:prstGeom prst="roundRect">
            <a:avLst>
              <a:gd name="adj" fmla="val 9474"/>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9" name="Text 7"/>
          <p:cNvSpPr/>
          <p:nvPr/>
        </p:nvSpPr>
        <p:spPr>
          <a:xfrm>
            <a:off x="1005840" y="5321808"/>
            <a:ext cx="3291840" cy="320040"/>
          </a:xfrm>
          <a:prstGeom prst="rect">
            <a:avLst/>
          </a:prstGeom>
          <a:noFill/>
          <a:ln/>
        </p:spPr>
        <p:txBody>
          <a:bodyPr wrap="square" rtlCol="0" anchor="ctr"/>
          <a:lstStyle/>
          <a:p>
            <a:pPr marL="0" indent="0">
              <a:buNone/>
            </a:pPr>
            <a:r>
              <a:rPr lang="en-US" sz="2000" dirty="0">
                <a:solidFill>
                  <a:srgbClr val="6B7785"/>
                </a:solidFill>
                <a:latin typeface="Calibri" pitchFamily="34" charset="0"/>
                <a:ea typeface="Calibri" pitchFamily="34" charset="-122"/>
                <a:cs typeface="Calibri" pitchFamily="34" charset="-120"/>
              </a:rPr>
              <a:t>Cold flow rate</a:t>
            </a:r>
            <a:endParaRPr lang="en-US" sz="2000" dirty="0"/>
          </a:p>
        </p:txBody>
      </p:sp>
      <p:sp>
        <p:nvSpPr>
          <p:cNvPr id="10" name="Text 8"/>
          <p:cNvSpPr/>
          <p:nvPr/>
        </p:nvSpPr>
        <p:spPr>
          <a:xfrm>
            <a:off x="798576" y="5189220"/>
            <a:ext cx="5257800" cy="594360"/>
          </a:xfrm>
          <a:prstGeom prst="rect">
            <a:avLst/>
          </a:prstGeom>
          <a:noFill/>
          <a:ln/>
        </p:spPr>
        <p:txBody>
          <a:bodyPr wrap="square" rtlCol="0" anchor="ctr"/>
          <a:lstStyle/>
          <a:p>
            <a:pPr marL="0" indent="0" algn="r">
              <a:buNone/>
            </a:pPr>
            <a:r>
              <a:rPr lang="en-US" sz="1900" b="1" dirty="0">
                <a:solidFill>
                  <a:srgbClr val="0E7C86"/>
                </a:solidFill>
                <a:latin typeface="Cambria" pitchFamily="34" charset="0"/>
                <a:ea typeface="Cambria" pitchFamily="34" charset="-122"/>
                <a:cs typeface="Cambria" pitchFamily="34" charset="-120"/>
              </a:rPr>
              <a:t>2 L/min (water)</a:t>
            </a:r>
            <a:endParaRPr lang="en-US" sz="1900" dirty="0"/>
          </a:p>
        </p:txBody>
      </p:sp>
      <p:sp>
        <p:nvSpPr>
          <p:cNvPr id="11" name="Shape 9"/>
          <p:cNvSpPr/>
          <p:nvPr/>
        </p:nvSpPr>
        <p:spPr>
          <a:xfrm>
            <a:off x="6665976" y="1362456"/>
            <a:ext cx="4956048" cy="3744468"/>
          </a:xfrm>
          <a:prstGeom prst="roundRect">
            <a:avLst>
              <a:gd name="adj" fmla="val 1709"/>
            </a:avLst>
          </a:prstGeom>
          <a:solidFill>
            <a:srgbClr val="FFFFFF"/>
          </a:solidFill>
          <a:ln w="12700">
            <a:solidFill>
              <a:srgbClr val="E3E9EE"/>
            </a:solidFill>
            <a:prstDash val="solid"/>
          </a:ln>
          <a:effectLst>
            <a:outerShdw blurRad="152400" dist="38100" dir="5400000" algn="bl" rotWithShape="0">
              <a:srgbClr val="1B2531">
                <a:alpha val="15000"/>
              </a:srgbClr>
            </a:outerShdw>
          </a:effectLst>
        </p:spPr>
        <p:txBody>
          <a:bodyPr/>
          <a:lstStyle/>
          <a:p>
            <a:endParaRPr lang="en-US"/>
          </a:p>
        </p:txBody>
      </p:sp>
      <p:pic>
        <p:nvPicPr>
          <p:cNvPr id="12" name="Image 0" descr="/home/claude/ppt/img/pg_pg2.png"/>
          <p:cNvPicPr>
            <a:picLocks noChangeAspect="1"/>
          </p:cNvPicPr>
          <p:nvPr/>
        </p:nvPicPr>
        <p:blipFill>
          <a:blip r:embed="rId3"/>
          <a:stretch>
            <a:fillRect/>
          </a:stretch>
        </p:blipFill>
        <p:spPr>
          <a:xfrm>
            <a:off x="6720840" y="1417320"/>
            <a:ext cx="4846320" cy="3634740"/>
          </a:xfrm>
          <a:prstGeom prst="rect">
            <a:avLst/>
          </a:prstGeom>
        </p:spPr>
      </p:pic>
      <p:sp>
        <p:nvSpPr>
          <p:cNvPr id="13" name="Text 10"/>
          <p:cNvSpPr/>
          <p:nvPr/>
        </p:nvSpPr>
        <p:spPr>
          <a:xfrm>
            <a:off x="6720840" y="5138928"/>
            <a:ext cx="4846320" cy="365760"/>
          </a:xfrm>
          <a:prstGeom prst="rect">
            <a:avLst/>
          </a:prstGeom>
          <a:noFill/>
          <a:ln/>
        </p:spPr>
        <p:txBody>
          <a:bodyPr wrap="square" rtlCol="0" anchor="ctr"/>
          <a:lstStyle/>
          <a:p>
            <a:pPr marL="0" indent="0" algn="ctr">
              <a:buNone/>
            </a:pPr>
            <a:r>
              <a:rPr lang="en-US" sz="1000" i="1" dirty="0">
                <a:solidFill>
                  <a:srgbClr val="6B7785"/>
                </a:solidFill>
                <a:latin typeface="Calibri" pitchFamily="34" charset="0"/>
                <a:ea typeface="Calibri" pitchFamily="34" charset="-122"/>
                <a:cs typeface="Calibri" pitchFamily="34" charset="-120"/>
              </a:rPr>
              <a:t>Velocity streamlines illustrating the helical secondary flow pattern</a:t>
            </a:r>
            <a:endParaRPr lang="en-US" sz="1000" dirty="0"/>
          </a:p>
        </p:txBody>
      </p:sp>
      <p:sp>
        <p:nvSpPr>
          <p:cNvPr id="14" name="Text 11"/>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11</a:t>
            </a:r>
            <a:endParaRPr lang="en-US" sz="10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SIMULATION RESULTS</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Static Pressure Field</a:t>
            </a:r>
            <a:endParaRPr lang="en-US" sz="3200" dirty="0"/>
          </a:p>
        </p:txBody>
      </p:sp>
      <p:sp>
        <p:nvSpPr>
          <p:cNvPr id="4" name="Text 2"/>
          <p:cNvSpPr/>
          <p:nvPr/>
        </p:nvSpPr>
        <p:spPr>
          <a:xfrm>
            <a:off x="640080" y="1417320"/>
            <a:ext cx="5760720" cy="2642616"/>
          </a:xfrm>
          <a:prstGeom prst="rect">
            <a:avLst/>
          </a:prstGeom>
          <a:noFill/>
          <a:ln/>
        </p:spPr>
        <p:txBody>
          <a:bodyPr wrap="square" rtlCol="0" anchor="t"/>
          <a:lstStyle/>
          <a:p>
            <a:pPr marL="0" indent="0" algn="just">
              <a:lnSpc>
                <a:spcPct val="125000"/>
              </a:lnSpc>
              <a:buNone/>
            </a:pPr>
            <a:r>
              <a:rPr lang="en-US" dirty="0">
                <a:solidFill>
                  <a:srgbClr val="1B2531"/>
                </a:solidFill>
                <a:latin typeface="Calibri" pitchFamily="34" charset="0"/>
                <a:ea typeface="Calibri" pitchFamily="34" charset="-122"/>
                <a:cs typeface="Calibri" pitchFamily="34" charset="-120"/>
              </a:rPr>
              <a:t>Because the exchanger operates at low mean velocity, of order 2 to 8 litres per minute through a compact cross section, the overall magnitude of the static pressure variation across the unit is small. Both outlets are referenced to a fixed 0 Pa gauge condition, so the plotted field reflects only the small frictional and swirl induced dynamic pressure changes within each circuit.</a:t>
            </a:r>
            <a:endParaRPr lang="en-US" dirty="0"/>
          </a:p>
        </p:txBody>
      </p:sp>
      <p:sp>
        <p:nvSpPr>
          <p:cNvPr id="5" name="Shape 3"/>
          <p:cNvSpPr/>
          <p:nvPr/>
        </p:nvSpPr>
        <p:spPr>
          <a:xfrm>
            <a:off x="640080" y="4215384"/>
            <a:ext cx="5760720" cy="868680"/>
          </a:xfrm>
          <a:prstGeom prst="roundRect">
            <a:avLst>
              <a:gd name="adj" fmla="val 9474"/>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6" name="Text 4"/>
          <p:cNvSpPr/>
          <p:nvPr/>
        </p:nvSpPr>
        <p:spPr>
          <a:xfrm>
            <a:off x="1060704" y="4494276"/>
            <a:ext cx="3291840" cy="320040"/>
          </a:xfrm>
          <a:prstGeom prst="rect">
            <a:avLst/>
          </a:prstGeom>
          <a:noFill/>
          <a:ln/>
        </p:spPr>
        <p:txBody>
          <a:bodyPr wrap="square" rtlCol="0" anchor="ctr"/>
          <a:lstStyle/>
          <a:p>
            <a:pPr marL="0" indent="0">
              <a:buNone/>
            </a:pPr>
            <a:r>
              <a:rPr lang="en-US" sz="2000" dirty="0">
                <a:solidFill>
                  <a:srgbClr val="6B7785"/>
                </a:solidFill>
                <a:latin typeface="Calibri" pitchFamily="34" charset="0"/>
                <a:ea typeface="Calibri" pitchFamily="34" charset="-122"/>
                <a:cs typeface="Calibri" pitchFamily="34" charset="-120"/>
              </a:rPr>
              <a:t>Hot side pressure change</a:t>
            </a:r>
            <a:endParaRPr lang="en-US" sz="2000" dirty="0"/>
          </a:p>
        </p:txBody>
      </p:sp>
      <p:sp>
        <p:nvSpPr>
          <p:cNvPr id="7" name="Text 5"/>
          <p:cNvSpPr/>
          <p:nvPr/>
        </p:nvSpPr>
        <p:spPr>
          <a:xfrm>
            <a:off x="868680" y="4352544"/>
            <a:ext cx="5257800" cy="594360"/>
          </a:xfrm>
          <a:prstGeom prst="rect">
            <a:avLst/>
          </a:prstGeom>
          <a:noFill/>
          <a:ln/>
        </p:spPr>
        <p:txBody>
          <a:bodyPr wrap="square" rtlCol="0" anchor="ctr"/>
          <a:lstStyle/>
          <a:p>
            <a:pPr marL="0" indent="0" algn="r">
              <a:buNone/>
            </a:pPr>
            <a:r>
              <a:rPr lang="en-US" sz="1900" b="1" dirty="0">
                <a:solidFill>
                  <a:srgbClr val="132A43"/>
                </a:solidFill>
                <a:latin typeface="Cambria" pitchFamily="34" charset="0"/>
                <a:ea typeface="Cambria" pitchFamily="34" charset="-122"/>
                <a:cs typeface="Cambria" pitchFamily="34" charset="-120"/>
              </a:rPr>
              <a:t>≈ 2.39 Pa</a:t>
            </a:r>
            <a:endParaRPr lang="en-US" sz="1900" dirty="0"/>
          </a:p>
        </p:txBody>
      </p:sp>
      <p:sp>
        <p:nvSpPr>
          <p:cNvPr id="8" name="Shape 6"/>
          <p:cNvSpPr/>
          <p:nvPr/>
        </p:nvSpPr>
        <p:spPr>
          <a:xfrm>
            <a:off x="640080" y="5239512"/>
            <a:ext cx="5760720" cy="868680"/>
          </a:xfrm>
          <a:prstGeom prst="roundRect">
            <a:avLst>
              <a:gd name="adj" fmla="val 9474"/>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a:p>
        </p:txBody>
      </p:sp>
      <p:sp>
        <p:nvSpPr>
          <p:cNvPr id="9" name="Text 7"/>
          <p:cNvSpPr/>
          <p:nvPr/>
        </p:nvSpPr>
        <p:spPr>
          <a:xfrm>
            <a:off x="1060704" y="5518404"/>
            <a:ext cx="3291840" cy="320040"/>
          </a:xfrm>
          <a:prstGeom prst="rect">
            <a:avLst/>
          </a:prstGeom>
          <a:noFill/>
          <a:ln/>
        </p:spPr>
        <p:txBody>
          <a:bodyPr wrap="square" rtlCol="0" anchor="ctr"/>
          <a:lstStyle/>
          <a:p>
            <a:pPr marL="0" indent="0">
              <a:buNone/>
            </a:pPr>
            <a:r>
              <a:rPr lang="en-US" sz="2000" dirty="0">
                <a:solidFill>
                  <a:srgbClr val="6B7785"/>
                </a:solidFill>
                <a:latin typeface="Calibri" pitchFamily="34" charset="0"/>
                <a:ea typeface="Calibri" pitchFamily="34" charset="-122"/>
                <a:cs typeface="Calibri" pitchFamily="34" charset="-120"/>
              </a:rPr>
              <a:t>Cold side pressure change</a:t>
            </a:r>
            <a:endParaRPr lang="en-US" sz="2000" dirty="0"/>
          </a:p>
        </p:txBody>
      </p:sp>
      <p:sp>
        <p:nvSpPr>
          <p:cNvPr id="10" name="Text 8"/>
          <p:cNvSpPr/>
          <p:nvPr/>
        </p:nvSpPr>
        <p:spPr>
          <a:xfrm>
            <a:off x="868680" y="5376672"/>
            <a:ext cx="5257800" cy="594360"/>
          </a:xfrm>
          <a:prstGeom prst="rect">
            <a:avLst/>
          </a:prstGeom>
          <a:noFill/>
          <a:ln/>
        </p:spPr>
        <p:txBody>
          <a:bodyPr wrap="square" rtlCol="0" anchor="ctr"/>
          <a:lstStyle/>
          <a:p>
            <a:pPr marL="0" indent="0" algn="r">
              <a:buNone/>
            </a:pPr>
            <a:r>
              <a:rPr lang="en-US" sz="1900" b="1" dirty="0">
                <a:solidFill>
                  <a:srgbClr val="132A43"/>
                </a:solidFill>
                <a:latin typeface="Cambria" pitchFamily="34" charset="0"/>
                <a:ea typeface="Cambria" pitchFamily="34" charset="-122"/>
                <a:cs typeface="Cambria" pitchFamily="34" charset="-120"/>
              </a:rPr>
              <a:t>≈ 1.22 Pa</a:t>
            </a:r>
            <a:endParaRPr lang="en-US" sz="1900" dirty="0"/>
          </a:p>
        </p:txBody>
      </p:sp>
      <p:sp>
        <p:nvSpPr>
          <p:cNvPr id="11" name="Shape 9"/>
          <p:cNvSpPr/>
          <p:nvPr/>
        </p:nvSpPr>
        <p:spPr>
          <a:xfrm>
            <a:off x="6665976" y="1362456"/>
            <a:ext cx="4956048" cy="3744468"/>
          </a:xfrm>
          <a:prstGeom prst="roundRect">
            <a:avLst>
              <a:gd name="adj" fmla="val 1709"/>
            </a:avLst>
          </a:prstGeom>
          <a:solidFill>
            <a:srgbClr val="FFFFFF"/>
          </a:solidFill>
          <a:ln w="12700">
            <a:solidFill>
              <a:srgbClr val="E3E9EE"/>
            </a:solidFill>
            <a:prstDash val="solid"/>
          </a:ln>
          <a:effectLst>
            <a:outerShdw blurRad="152400" dist="38100" dir="5400000" algn="bl" rotWithShape="0">
              <a:srgbClr val="1B2531">
                <a:alpha val="15000"/>
              </a:srgbClr>
            </a:outerShdw>
          </a:effectLst>
        </p:spPr>
        <p:txBody>
          <a:bodyPr/>
          <a:lstStyle/>
          <a:p>
            <a:endParaRPr lang="en-US"/>
          </a:p>
        </p:txBody>
      </p:sp>
      <p:pic>
        <p:nvPicPr>
          <p:cNvPr id="12" name="Image 0" descr="/home/claude/ppt/img/pg_pg3.png"/>
          <p:cNvPicPr>
            <a:picLocks noChangeAspect="1"/>
          </p:cNvPicPr>
          <p:nvPr/>
        </p:nvPicPr>
        <p:blipFill>
          <a:blip r:embed="rId3"/>
          <a:stretch>
            <a:fillRect/>
          </a:stretch>
        </p:blipFill>
        <p:spPr>
          <a:xfrm>
            <a:off x="6720840" y="1417320"/>
            <a:ext cx="4846320" cy="3634740"/>
          </a:xfrm>
          <a:prstGeom prst="rect">
            <a:avLst/>
          </a:prstGeom>
        </p:spPr>
      </p:pic>
      <p:sp>
        <p:nvSpPr>
          <p:cNvPr id="13" name="Text 10"/>
          <p:cNvSpPr/>
          <p:nvPr/>
        </p:nvSpPr>
        <p:spPr>
          <a:xfrm>
            <a:off x="6720840" y="5138928"/>
            <a:ext cx="4846320" cy="365760"/>
          </a:xfrm>
          <a:prstGeom prst="rect">
            <a:avLst/>
          </a:prstGeom>
          <a:noFill/>
          <a:ln/>
        </p:spPr>
        <p:txBody>
          <a:bodyPr wrap="square" rtlCol="0" anchor="ctr"/>
          <a:lstStyle/>
          <a:p>
            <a:pPr marL="0" indent="0" algn="ctr">
              <a:buNone/>
            </a:pPr>
            <a:r>
              <a:rPr lang="en-US" sz="1000" i="1" dirty="0">
                <a:solidFill>
                  <a:srgbClr val="6B7785"/>
                </a:solidFill>
                <a:latin typeface="Calibri" pitchFamily="34" charset="0"/>
                <a:ea typeface="Calibri" pitchFamily="34" charset="-122"/>
                <a:cs typeface="Calibri" pitchFamily="34" charset="-120"/>
              </a:rPr>
              <a:t>Static pressure field throughout the fluid domains</a:t>
            </a:r>
            <a:endParaRPr lang="en-US" sz="1000" dirty="0"/>
          </a:p>
        </p:txBody>
      </p:sp>
      <p:sp>
        <p:nvSpPr>
          <p:cNvPr id="14" name="Text 11"/>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12</a:t>
            </a:r>
            <a:endParaRPr lang="en-US" sz="10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HAND CALCULATED PERFORMANCE</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From Raw Fields to Validated Performance</a:t>
            </a:r>
            <a:endParaRPr lang="en-US" sz="3200" dirty="0"/>
          </a:p>
        </p:txBody>
      </p:sp>
      <p:sp>
        <p:nvSpPr>
          <p:cNvPr id="4" name="Shape 2"/>
          <p:cNvSpPr/>
          <p:nvPr/>
        </p:nvSpPr>
        <p:spPr>
          <a:xfrm>
            <a:off x="1263624" y="1979676"/>
            <a:ext cx="1247089" cy="2286000"/>
          </a:xfrm>
          <a:prstGeom prst="roundRect">
            <a:avLst>
              <a:gd name="adj" fmla="val 6599"/>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000"/>
          </a:p>
        </p:txBody>
      </p:sp>
      <p:pic>
        <p:nvPicPr>
          <p:cNvPr id="5" name="Image 0" descr="/home/claude/ppt/img/circles/circ_water_teal.png"/>
          <p:cNvPicPr>
            <a:picLocks noChangeAspect="1"/>
          </p:cNvPicPr>
          <p:nvPr/>
        </p:nvPicPr>
        <p:blipFill>
          <a:blip r:embed="rId3"/>
          <a:stretch>
            <a:fillRect/>
          </a:stretch>
        </p:blipFill>
        <p:spPr>
          <a:xfrm>
            <a:off x="1594561" y="2180844"/>
            <a:ext cx="585216" cy="585216"/>
          </a:xfrm>
          <a:prstGeom prst="rect">
            <a:avLst/>
          </a:prstGeom>
        </p:spPr>
      </p:pic>
      <p:sp>
        <p:nvSpPr>
          <p:cNvPr id="6" name="Shape 3"/>
          <p:cNvSpPr/>
          <p:nvPr/>
        </p:nvSpPr>
        <p:spPr>
          <a:xfrm>
            <a:off x="2126665" y="2071116"/>
            <a:ext cx="292608" cy="292608"/>
          </a:xfrm>
          <a:prstGeom prst="ellipse">
            <a:avLst/>
          </a:prstGeom>
          <a:solidFill>
            <a:srgbClr val="132A43"/>
          </a:solidFill>
          <a:ln/>
        </p:spPr>
        <p:txBody>
          <a:bodyPr/>
          <a:lstStyle/>
          <a:p>
            <a:endParaRPr lang="en-US" sz="2000"/>
          </a:p>
        </p:txBody>
      </p:sp>
      <p:sp>
        <p:nvSpPr>
          <p:cNvPr id="7" name="Text 4"/>
          <p:cNvSpPr/>
          <p:nvPr/>
        </p:nvSpPr>
        <p:spPr>
          <a:xfrm>
            <a:off x="2126665" y="2071116"/>
            <a:ext cx="292608" cy="29260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5"/>
          <p:cNvSpPr/>
          <p:nvPr/>
        </p:nvSpPr>
        <p:spPr>
          <a:xfrm>
            <a:off x="1355064" y="2894076"/>
            <a:ext cx="1064209" cy="457200"/>
          </a:xfrm>
          <a:prstGeom prst="rect">
            <a:avLst/>
          </a:prstGeom>
          <a:noFill/>
          <a:ln/>
        </p:spPr>
        <p:txBody>
          <a:bodyPr wrap="square" rtlCol="0" anchor="t"/>
          <a:lstStyle/>
          <a:p>
            <a:pPr marL="0" indent="0" algn="ctr">
              <a:buNone/>
            </a:pPr>
            <a:r>
              <a:rPr lang="en-US" sz="1400" b="1" dirty="0">
                <a:solidFill>
                  <a:srgbClr val="132A43"/>
                </a:solidFill>
                <a:latin typeface="Cambria" pitchFamily="34" charset="0"/>
                <a:ea typeface="Cambria" pitchFamily="34" charset="-122"/>
                <a:cs typeface="Cambria" pitchFamily="34" charset="-120"/>
              </a:rPr>
              <a:t>Mass Flow Rates</a:t>
            </a:r>
            <a:endParaRPr lang="en-US" sz="1400" dirty="0"/>
          </a:p>
        </p:txBody>
      </p:sp>
      <p:sp>
        <p:nvSpPr>
          <p:cNvPr id="9" name="Text 6"/>
          <p:cNvSpPr/>
          <p:nvPr/>
        </p:nvSpPr>
        <p:spPr>
          <a:xfrm>
            <a:off x="1355064" y="3332988"/>
            <a:ext cx="1064209" cy="868680"/>
          </a:xfrm>
          <a:prstGeom prst="rect">
            <a:avLst/>
          </a:prstGeom>
          <a:noFill/>
          <a:ln/>
        </p:spPr>
        <p:txBody>
          <a:bodyPr wrap="square" rtlCol="0" anchor="t"/>
          <a:lstStyle/>
          <a:p>
            <a:pPr marL="0" indent="0" algn="ctr">
              <a:lnSpc>
                <a:spcPct val="105000"/>
              </a:lnSpc>
              <a:buNone/>
            </a:pPr>
            <a:r>
              <a:rPr lang="en-US" sz="1200" dirty="0">
                <a:solidFill>
                  <a:srgbClr val="6B7785"/>
                </a:solidFill>
                <a:latin typeface="Calibri" pitchFamily="34" charset="0"/>
                <a:ea typeface="Calibri" pitchFamily="34" charset="-122"/>
                <a:cs typeface="Calibri" pitchFamily="34" charset="-120"/>
              </a:rPr>
              <a:t>ρQ for hot and cold streams</a:t>
            </a:r>
            <a:endParaRPr lang="en-US" sz="1200" dirty="0"/>
          </a:p>
        </p:txBody>
      </p:sp>
      <p:sp>
        <p:nvSpPr>
          <p:cNvPr id="10" name="Text 7"/>
          <p:cNvSpPr/>
          <p:nvPr/>
        </p:nvSpPr>
        <p:spPr>
          <a:xfrm>
            <a:off x="2510713" y="2802636"/>
            <a:ext cx="365760" cy="640080"/>
          </a:xfrm>
          <a:prstGeom prst="rect">
            <a:avLst/>
          </a:prstGeom>
          <a:noFill/>
          <a:ln/>
        </p:spPr>
        <p:txBody>
          <a:bodyPr wrap="square" rtlCol="0" anchor="ctr"/>
          <a:lstStyle/>
          <a:p>
            <a:pPr marL="0" indent="0" algn="ctr">
              <a:buNone/>
            </a:pPr>
            <a:r>
              <a:rPr lang="en-US" sz="2400" b="1" dirty="0">
                <a:solidFill>
                  <a:srgbClr val="C7D2DB"/>
                </a:solidFill>
                <a:latin typeface="Calibri" pitchFamily="34" charset="0"/>
                <a:ea typeface="Calibri" pitchFamily="34" charset="-122"/>
                <a:cs typeface="Calibri" pitchFamily="34" charset="-120"/>
              </a:rPr>
              <a:t>→</a:t>
            </a:r>
            <a:endParaRPr lang="en-US" sz="2400" dirty="0"/>
          </a:p>
        </p:txBody>
      </p:sp>
      <p:sp>
        <p:nvSpPr>
          <p:cNvPr id="11" name="Shape 8"/>
          <p:cNvSpPr/>
          <p:nvPr/>
        </p:nvSpPr>
        <p:spPr>
          <a:xfrm>
            <a:off x="2876473" y="1979676"/>
            <a:ext cx="1247089" cy="2286000"/>
          </a:xfrm>
          <a:prstGeom prst="roundRect">
            <a:avLst>
              <a:gd name="adj" fmla="val 6599"/>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000"/>
          </a:p>
        </p:txBody>
      </p:sp>
      <p:pic>
        <p:nvPicPr>
          <p:cNvPr id="12" name="Image 1" descr="/home/claude/ppt/img/circles/circ_fire_orange.png"/>
          <p:cNvPicPr>
            <a:picLocks noChangeAspect="1"/>
          </p:cNvPicPr>
          <p:nvPr/>
        </p:nvPicPr>
        <p:blipFill>
          <a:blip r:embed="rId4"/>
          <a:stretch>
            <a:fillRect/>
          </a:stretch>
        </p:blipFill>
        <p:spPr>
          <a:xfrm>
            <a:off x="3207410" y="2180844"/>
            <a:ext cx="585216" cy="585216"/>
          </a:xfrm>
          <a:prstGeom prst="rect">
            <a:avLst/>
          </a:prstGeom>
        </p:spPr>
      </p:pic>
      <p:sp>
        <p:nvSpPr>
          <p:cNvPr id="13" name="Shape 9"/>
          <p:cNvSpPr/>
          <p:nvPr/>
        </p:nvSpPr>
        <p:spPr>
          <a:xfrm>
            <a:off x="3739514" y="2071116"/>
            <a:ext cx="292608" cy="292608"/>
          </a:xfrm>
          <a:prstGeom prst="ellipse">
            <a:avLst/>
          </a:prstGeom>
          <a:solidFill>
            <a:srgbClr val="132A43"/>
          </a:solidFill>
          <a:ln/>
        </p:spPr>
        <p:txBody>
          <a:bodyPr/>
          <a:lstStyle/>
          <a:p>
            <a:endParaRPr lang="en-US" sz="2000"/>
          </a:p>
        </p:txBody>
      </p:sp>
      <p:sp>
        <p:nvSpPr>
          <p:cNvPr id="14" name="Text 10"/>
          <p:cNvSpPr/>
          <p:nvPr/>
        </p:nvSpPr>
        <p:spPr>
          <a:xfrm>
            <a:off x="3739514" y="2071116"/>
            <a:ext cx="292608" cy="29260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1"/>
          <p:cNvSpPr/>
          <p:nvPr/>
        </p:nvSpPr>
        <p:spPr>
          <a:xfrm>
            <a:off x="2967913" y="2894076"/>
            <a:ext cx="1064209" cy="457200"/>
          </a:xfrm>
          <a:prstGeom prst="rect">
            <a:avLst/>
          </a:prstGeom>
          <a:noFill/>
          <a:ln/>
        </p:spPr>
        <p:txBody>
          <a:bodyPr wrap="square" rtlCol="0" anchor="t"/>
          <a:lstStyle/>
          <a:p>
            <a:pPr marL="0" indent="0" algn="ctr">
              <a:buNone/>
            </a:pPr>
            <a:r>
              <a:rPr lang="en-US" sz="1400" b="1" dirty="0">
                <a:solidFill>
                  <a:srgbClr val="132A43"/>
                </a:solidFill>
                <a:latin typeface="Cambria" pitchFamily="34" charset="0"/>
                <a:ea typeface="Cambria" pitchFamily="34" charset="-122"/>
                <a:cs typeface="Cambria" pitchFamily="34" charset="-120"/>
              </a:rPr>
              <a:t>Heat Duty</a:t>
            </a:r>
            <a:endParaRPr lang="en-US" sz="1400" dirty="0"/>
          </a:p>
        </p:txBody>
      </p:sp>
      <p:sp>
        <p:nvSpPr>
          <p:cNvPr id="16" name="Text 12"/>
          <p:cNvSpPr/>
          <p:nvPr/>
        </p:nvSpPr>
        <p:spPr>
          <a:xfrm>
            <a:off x="2967913" y="3332988"/>
            <a:ext cx="1064209" cy="868680"/>
          </a:xfrm>
          <a:prstGeom prst="rect">
            <a:avLst/>
          </a:prstGeom>
          <a:noFill/>
          <a:ln/>
        </p:spPr>
        <p:txBody>
          <a:bodyPr wrap="square" rtlCol="0" anchor="t"/>
          <a:lstStyle/>
          <a:p>
            <a:pPr marL="0" indent="0" algn="ctr">
              <a:lnSpc>
                <a:spcPct val="105000"/>
              </a:lnSpc>
              <a:buNone/>
            </a:pPr>
            <a:r>
              <a:rPr lang="en-US" sz="1200" dirty="0">
                <a:solidFill>
                  <a:srgbClr val="6B7785"/>
                </a:solidFill>
                <a:latin typeface="Calibri" pitchFamily="34" charset="0"/>
                <a:ea typeface="Calibri" pitchFamily="34" charset="-122"/>
                <a:cs typeface="Calibri" pitchFamily="34" charset="-120"/>
              </a:rPr>
              <a:t>Energy balance, both streams</a:t>
            </a:r>
            <a:endParaRPr lang="en-US" sz="1200" dirty="0"/>
          </a:p>
        </p:txBody>
      </p:sp>
      <p:sp>
        <p:nvSpPr>
          <p:cNvPr id="17" name="Text 13"/>
          <p:cNvSpPr/>
          <p:nvPr/>
        </p:nvSpPr>
        <p:spPr>
          <a:xfrm>
            <a:off x="4123562" y="2802636"/>
            <a:ext cx="365760" cy="640080"/>
          </a:xfrm>
          <a:prstGeom prst="rect">
            <a:avLst/>
          </a:prstGeom>
          <a:noFill/>
          <a:ln/>
        </p:spPr>
        <p:txBody>
          <a:bodyPr wrap="square" rtlCol="0" anchor="ctr"/>
          <a:lstStyle/>
          <a:p>
            <a:pPr marL="0" indent="0" algn="ctr">
              <a:buNone/>
            </a:pPr>
            <a:r>
              <a:rPr lang="en-US" sz="2400" b="1" dirty="0">
                <a:solidFill>
                  <a:srgbClr val="C7D2DB"/>
                </a:solidFill>
                <a:latin typeface="Calibri" pitchFamily="34" charset="0"/>
                <a:ea typeface="Calibri" pitchFamily="34" charset="-122"/>
                <a:cs typeface="Calibri" pitchFamily="34" charset="-120"/>
              </a:rPr>
              <a:t>→</a:t>
            </a:r>
            <a:endParaRPr lang="en-US" sz="2400" dirty="0"/>
          </a:p>
        </p:txBody>
      </p:sp>
      <p:sp>
        <p:nvSpPr>
          <p:cNvPr id="18" name="Shape 14"/>
          <p:cNvSpPr/>
          <p:nvPr/>
        </p:nvSpPr>
        <p:spPr>
          <a:xfrm>
            <a:off x="4489322" y="1979676"/>
            <a:ext cx="1247089" cy="2286000"/>
          </a:xfrm>
          <a:prstGeom prst="roundRect">
            <a:avLst>
              <a:gd name="adj" fmla="val 6599"/>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000"/>
          </a:p>
        </p:txBody>
      </p:sp>
      <p:pic>
        <p:nvPicPr>
          <p:cNvPr id="19" name="Image 2" descr="/home/claude/ppt/img/circles/circ_chartline_navy.png"/>
          <p:cNvPicPr>
            <a:picLocks noChangeAspect="1"/>
          </p:cNvPicPr>
          <p:nvPr/>
        </p:nvPicPr>
        <p:blipFill>
          <a:blip r:embed="rId5"/>
          <a:stretch>
            <a:fillRect/>
          </a:stretch>
        </p:blipFill>
        <p:spPr>
          <a:xfrm>
            <a:off x="4820259" y="2180844"/>
            <a:ext cx="585216" cy="585216"/>
          </a:xfrm>
          <a:prstGeom prst="rect">
            <a:avLst/>
          </a:prstGeom>
        </p:spPr>
      </p:pic>
      <p:sp>
        <p:nvSpPr>
          <p:cNvPr id="20" name="Shape 15"/>
          <p:cNvSpPr/>
          <p:nvPr/>
        </p:nvSpPr>
        <p:spPr>
          <a:xfrm>
            <a:off x="5352364" y="2071116"/>
            <a:ext cx="292608" cy="292608"/>
          </a:xfrm>
          <a:prstGeom prst="ellipse">
            <a:avLst/>
          </a:prstGeom>
          <a:solidFill>
            <a:srgbClr val="132A43"/>
          </a:solidFill>
          <a:ln/>
        </p:spPr>
        <p:txBody>
          <a:bodyPr/>
          <a:lstStyle/>
          <a:p>
            <a:endParaRPr lang="en-US" sz="2000"/>
          </a:p>
        </p:txBody>
      </p:sp>
      <p:sp>
        <p:nvSpPr>
          <p:cNvPr id="21" name="Text 16"/>
          <p:cNvSpPr/>
          <p:nvPr/>
        </p:nvSpPr>
        <p:spPr>
          <a:xfrm>
            <a:off x="5352364" y="2071116"/>
            <a:ext cx="292608" cy="29260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2" name="Text 17"/>
          <p:cNvSpPr/>
          <p:nvPr/>
        </p:nvSpPr>
        <p:spPr>
          <a:xfrm>
            <a:off x="4580762" y="2894076"/>
            <a:ext cx="1064209" cy="457200"/>
          </a:xfrm>
          <a:prstGeom prst="rect">
            <a:avLst/>
          </a:prstGeom>
          <a:noFill/>
          <a:ln/>
        </p:spPr>
        <p:txBody>
          <a:bodyPr wrap="square" rtlCol="0" anchor="t"/>
          <a:lstStyle/>
          <a:p>
            <a:pPr marL="0" indent="0" algn="ctr">
              <a:buNone/>
            </a:pPr>
            <a:r>
              <a:rPr lang="en-US" sz="1400" b="1" dirty="0">
                <a:solidFill>
                  <a:srgbClr val="132A43"/>
                </a:solidFill>
                <a:latin typeface="Cambria" pitchFamily="34" charset="0"/>
                <a:ea typeface="Cambria" pitchFamily="34" charset="-122"/>
                <a:cs typeface="Cambria" pitchFamily="34" charset="-120"/>
              </a:rPr>
              <a:t>LMTD</a:t>
            </a:r>
            <a:endParaRPr lang="en-US" sz="1400" dirty="0"/>
          </a:p>
        </p:txBody>
      </p:sp>
      <p:sp>
        <p:nvSpPr>
          <p:cNvPr id="23" name="Text 18"/>
          <p:cNvSpPr/>
          <p:nvPr/>
        </p:nvSpPr>
        <p:spPr>
          <a:xfrm>
            <a:off x="4580762" y="3332988"/>
            <a:ext cx="1064209" cy="868680"/>
          </a:xfrm>
          <a:prstGeom prst="rect">
            <a:avLst/>
          </a:prstGeom>
          <a:noFill/>
          <a:ln/>
        </p:spPr>
        <p:txBody>
          <a:bodyPr wrap="square" rtlCol="0" anchor="t"/>
          <a:lstStyle/>
          <a:p>
            <a:pPr marL="0" indent="0" algn="ctr">
              <a:lnSpc>
                <a:spcPct val="105000"/>
              </a:lnSpc>
              <a:buNone/>
            </a:pPr>
            <a:r>
              <a:rPr lang="en-US" sz="1200" dirty="0">
                <a:solidFill>
                  <a:srgbClr val="6B7785"/>
                </a:solidFill>
                <a:latin typeface="Calibri" pitchFamily="34" charset="0"/>
                <a:ea typeface="Calibri" pitchFamily="34" charset="-122"/>
                <a:cs typeface="Calibri" pitchFamily="34" charset="-120"/>
              </a:rPr>
              <a:t>Counter current log mean ΔT</a:t>
            </a:r>
            <a:endParaRPr lang="en-US" sz="1200" dirty="0"/>
          </a:p>
        </p:txBody>
      </p:sp>
      <p:sp>
        <p:nvSpPr>
          <p:cNvPr id="24" name="Text 19"/>
          <p:cNvSpPr/>
          <p:nvPr/>
        </p:nvSpPr>
        <p:spPr>
          <a:xfrm>
            <a:off x="5736412" y="2802636"/>
            <a:ext cx="365760" cy="640080"/>
          </a:xfrm>
          <a:prstGeom prst="rect">
            <a:avLst/>
          </a:prstGeom>
          <a:noFill/>
          <a:ln/>
        </p:spPr>
        <p:txBody>
          <a:bodyPr wrap="square" rtlCol="0" anchor="ctr"/>
          <a:lstStyle/>
          <a:p>
            <a:pPr marL="0" indent="0" algn="ctr">
              <a:buNone/>
            </a:pPr>
            <a:r>
              <a:rPr lang="en-US" sz="2400" b="1" dirty="0">
                <a:solidFill>
                  <a:srgbClr val="C7D2DB"/>
                </a:solidFill>
                <a:latin typeface="Calibri" pitchFamily="34" charset="0"/>
                <a:ea typeface="Calibri" pitchFamily="34" charset="-122"/>
                <a:cs typeface="Calibri" pitchFamily="34" charset="-120"/>
              </a:rPr>
              <a:t>→</a:t>
            </a:r>
            <a:endParaRPr lang="en-US" sz="2400" dirty="0"/>
          </a:p>
        </p:txBody>
      </p:sp>
      <p:sp>
        <p:nvSpPr>
          <p:cNvPr id="25" name="Shape 20"/>
          <p:cNvSpPr/>
          <p:nvPr/>
        </p:nvSpPr>
        <p:spPr>
          <a:xfrm>
            <a:off x="6102172" y="1979676"/>
            <a:ext cx="1247089" cy="2286000"/>
          </a:xfrm>
          <a:prstGeom prst="roundRect">
            <a:avLst>
              <a:gd name="adj" fmla="val 6599"/>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000"/>
          </a:p>
        </p:txBody>
      </p:sp>
      <p:pic>
        <p:nvPicPr>
          <p:cNvPr id="26" name="Image 3" descr="/home/claude/ppt/img/circles/circ_calculator_navy.png"/>
          <p:cNvPicPr>
            <a:picLocks noChangeAspect="1"/>
          </p:cNvPicPr>
          <p:nvPr/>
        </p:nvPicPr>
        <p:blipFill>
          <a:blip r:embed="rId6"/>
          <a:stretch>
            <a:fillRect/>
          </a:stretch>
        </p:blipFill>
        <p:spPr>
          <a:xfrm>
            <a:off x="6433108" y="2180844"/>
            <a:ext cx="585216" cy="585216"/>
          </a:xfrm>
          <a:prstGeom prst="rect">
            <a:avLst/>
          </a:prstGeom>
        </p:spPr>
      </p:pic>
      <p:sp>
        <p:nvSpPr>
          <p:cNvPr id="27" name="Shape 21"/>
          <p:cNvSpPr/>
          <p:nvPr/>
        </p:nvSpPr>
        <p:spPr>
          <a:xfrm>
            <a:off x="6965213" y="2071116"/>
            <a:ext cx="292608" cy="292608"/>
          </a:xfrm>
          <a:prstGeom prst="ellipse">
            <a:avLst/>
          </a:prstGeom>
          <a:solidFill>
            <a:srgbClr val="132A43"/>
          </a:solidFill>
          <a:ln/>
        </p:spPr>
        <p:txBody>
          <a:bodyPr/>
          <a:lstStyle/>
          <a:p>
            <a:endParaRPr lang="en-US" sz="2000"/>
          </a:p>
        </p:txBody>
      </p:sp>
      <p:sp>
        <p:nvSpPr>
          <p:cNvPr id="28" name="Text 22"/>
          <p:cNvSpPr/>
          <p:nvPr/>
        </p:nvSpPr>
        <p:spPr>
          <a:xfrm>
            <a:off x="6965213" y="2071116"/>
            <a:ext cx="292608" cy="29260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9" name="Text 23"/>
          <p:cNvSpPr/>
          <p:nvPr/>
        </p:nvSpPr>
        <p:spPr>
          <a:xfrm>
            <a:off x="6193612" y="2894076"/>
            <a:ext cx="1064209" cy="457200"/>
          </a:xfrm>
          <a:prstGeom prst="rect">
            <a:avLst/>
          </a:prstGeom>
          <a:noFill/>
          <a:ln/>
        </p:spPr>
        <p:txBody>
          <a:bodyPr wrap="square" rtlCol="0" anchor="t"/>
          <a:lstStyle/>
          <a:p>
            <a:pPr marL="0" indent="0" algn="ctr">
              <a:buNone/>
            </a:pPr>
            <a:r>
              <a:rPr lang="en-US" sz="1400" b="1" dirty="0">
                <a:solidFill>
                  <a:srgbClr val="132A43"/>
                </a:solidFill>
                <a:latin typeface="Cambria" pitchFamily="34" charset="0"/>
                <a:ea typeface="Cambria" pitchFamily="34" charset="-122"/>
                <a:cs typeface="Cambria" pitchFamily="34" charset="-120"/>
              </a:rPr>
              <a:t>Overall UA</a:t>
            </a:r>
            <a:endParaRPr lang="en-US" sz="1400" dirty="0"/>
          </a:p>
        </p:txBody>
      </p:sp>
      <p:sp>
        <p:nvSpPr>
          <p:cNvPr id="30" name="Text 24"/>
          <p:cNvSpPr/>
          <p:nvPr/>
        </p:nvSpPr>
        <p:spPr>
          <a:xfrm>
            <a:off x="6193612" y="3332988"/>
            <a:ext cx="1064209" cy="868680"/>
          </a:xfrm>
          <a:prstGeom prst="rect">
            <a:avLst/>
          </a:prstGeom>
          <a:noFill/>
          <a:ln/>
        </p:spPr>
        <p:txBody>
          <a:bodyPr wrap="square" rtlCol="0" anchor="t"/>
          <a:lstStyle/>
          <a:p>
            <a:pPr marL="0" indent="0" algn="ctr">
              <a:lnSpc>
                <a:spcPct val="105000"/>
              </a:lnSpc>
              <a:buNone/>
            </a:pPr>
            <a:r>
              <a:rPr lang="en-US" sz="1200" dirty="0">
                <a:solidFill>
                  <a:srgbClr val="6B7785"/>
                </a:solidFill>
                <a:latin typeface="Calibri" pitchFamily="34" charset="0"/>
                <a:ea typeface="Calibri" pitchFamily="34" charset="-122"/>
                <a:cs typeface="Calibri" pitchFamily="34" charset="-120"/>
              </a:rPr>
              <a:t>Q / ΔTlm</a:t>
            </a:r>
            <a:endParaRPr lang="en-US" sz="1200" dirty="0"/>
          </a:p>
        </p:txBody>
      </p:sp>
      <p:sp>
        <p:nvSpPr>
          <p:cNvPr id="31" name="Text 25"/>
          <p:cNvSpPr/>
          <p:nvPr/>
        </p:nvSpPr>
        <p:spPr>
          <a:xfrm>
            <a:off x="7349261" y="2802636"/>
            <a:ext cx="365760" cy="640080"/>
          </a:xfrm>
          <a:prstGeom prst="rect">
            <a:avLst/>
          </a:prstGeom>
          <a:noFill/>
          <a:ln/>
        </p:spPr>
        <p:txBody>
          <a:bodyPr wrap="square" rtlCol="0" anchor="ctr"/>
          <a:lstStyle/>
          <a:p>
            <a:pPr marL="0" indent="0" algn="ctr">
              <a:buNone/>
            </a:pPr>
            <a:r>
              <a:rPr lang="en-US" sz="2400" b="1" dirty="0">
                <a:solidFill>
                  <a:srgbClr val="C7D2DB"/>
                </a:solidFill>
                <a:latin typeface="Calibri" pitchFamily="34" charset="0"/>
                <a:ea typeface="Calibri" pitchFamily="34" charset="-122"/>
                <a:cs typeface="Calibri" pitchFamily="34" charset="-120"/>
              </a:rPr>
              <a:t>→</a:t>
            </a:r>
            <a:endParaRPr lang="en-US" sz="2400" dirty="0"/>
          </a:p>
        </p:txBody>
      </p:sp>
      <p:sp>
        <p:nvSpPr>
          <p:cNvPr id="32" name="Shape 26"/>
          <p:cNvSpPr/>
          <p:nvPr/>
        </p:nvSpPr>
        <p:spPr>
          <a:xfrm>
            <a:off x="7715021" y="1979676"/>
            <a:ext cx="1247089" cy="2286000"/>
          </a:xfrm>
          <a:prstGeom prst="roundRect">
            <a:avLst>
              <a:gd name="adj" fmla="val 6599"/>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000"/>
          </a:p>
        </p:txBody>
      </p:sp>
      <p:pic>
        <p:nvPicPr>
          <p:cNvPr id="33" name="Image 4" descr="/home/claude/ppt/img/circles/circ_atom_teal.png"/>
          <p:cNvPicPr>
            <a:picLocks noChangeAspect="1"/>
          </p:cNvPicPr>
          <p:nvPr/>
        </p:nvPicPr>
        <p:blipFill>
          <a:blip r:embed="rId7"/>
          <a:stretch>
            <a:fillRect/>
          </a:stretch>
        </p:blipFill>
        <p:spPr>
          <a:xfrm>
            <a:off x="8045957" y="2180844"/>
            <a:ext cx="585216" cy="585216"/>
          </a:xfrm>
          <a:prstGeom prst="rect">
            <a:avLst/>
          </a:prstGeom>
        </p:spPr>
      </p:pic>
      <p:sp>
        <p:nvSpPr>
          <p:cNvPr id="34" name="Shape 27"/>
          <p:cNvSpPr/>
          <p:nvPr/>
        </p:nvSpPr>
        <p:spPr>
          <a:xfrm>
            <a:off x="8578062" y="2071116"/>
            <a:ext cx="292608" cy="292608"/>
          </a:xfrm>
          <a:prstGeom prst="ellipse">
            <a:avLst/>
          </a:prstGeom>
          <a:solidFill>
            <a:srgbClr val="132A43"/>
          </a:solidFill>
          <a:ln/>
        </p:spPr>
        <p:txBody>
          <a:bodyPr/>
          <a:lstStyle/>
          <a:p>
            <a:endParaRPr lang="en-US" sz="2000"/>
          </a:p>
        </p:txBody>
      </p:sp>
      <p:sp>
        <p:nvSpPr>
          <p:cNvPr id="35" name="Text 28"/>
          <p:cNvSpPr/>
          <p:nvPr/>
        </p:nvSpPr>
        <p:spPr>
          <a:xfrm>
            <a:off x="8578062" y="2071116"/>
            <a:ext cx="292608" cy="29260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36" name="Text 29"/>
          <p:cNvSpPr/>
          <p:nvPr/>
        </p:nvSpPr>
        <p:spPr>
          <a:xfrm>
            <a:off x="7806461" y="2894076"/>
            <a:ext cx="1064209" cy="457200"/>
          </a:xfrm>
          <a:prstGeom prst="rect">
            <a:avLst/>
          </a:prstGeom>
          <a:noFill/>
          <a:ln/>
        </p:spPr>
        <p:txBody>
          <a:bodyPr wrap="square" rtlCol="0" anchor="t"/>
          <a:lstStyle/>
          <a:p>
            <a:pPr marL="0" indent="0" algn="ctr">
              <a:buNone/>
            </a:pPr>
            <a:r>
              <a:rPr lang="en-US" sz="1400" b="1" dirty="0">
                <a:solidFill>
                  <a:srgbClr val="132A43"/>
                </a:solidFill>
                <a:latin typeface="Cambria" pitchFamily="34" charset="0"/>
                <a:ea typeface="Cambria" pitchFamily="34" charset="-122"/>
                <a:cs typeface="Cambria" pitchFamily="34" charset="-120"/>
              </a:rPr>
              <a:t>ε–NTU Method</a:t>
            </a:r>
            <a:endParaRPr lang="en-US" sz="1400" dirty="0"/>
          </a:p>
        </p:txBody>
      </p:sp>
      <p:sp>
        <p:nvSpPr>
          <p:cNvPr id="37" name="Text 30"/>
          <p:cNvSpPr/>
          <p:nvPr/>
        </p:nvSpPr>
        <p:spPr>
          <a:xfrm>
            <a:off x="7806461" y="3332988"/>
            <a:ext cx="1064209" cy="868680"/>
          </a:xfrm>
          <a:prstGeom prst="rect">
            <a:avLst/>
          </a:prstGeom>
          <a:noFill/>
          <a:ln/>
        </p:spPr>
        <p:txBody>
          <a:bodyPr wrap="square" rtlCol="0" anchor="t"/>
          <a:lstStyle/>
          <a:p>
            <a:pPr marL="0" indent="0" algn="ctr">
              <a:lnSpc>
                <a:spcPct val="105000"/>
              </a:lnSpc>
              <a:buNone/>
            </a:pPr>
            <a:r>
              <a:rPr lang="en-US" sz="1200" dirty="0">
                <a:solidFill>
                  <a:srgbClr val="6B7785"/>
                </a:solidFill>
                <a:latin typeface="Calibri" pitchFamily="34" charset="0"/>
                <a:ea typeface="Calibri" pitchFamily="34" charset="-122"/>
                <a:cs typeface="Calibri" pitchFamily="34" charset="-120"/>
              </a:rPr>
              <a:t>Independent cross check</a:t>
            </a:r>
            <a:endParaRPr lang="en-US" sz="1200" dirty="0"/>
          </a:p>
        </p:txBody>
      </p:sp>
      <p:sp>
        <p:nvSpPr>
          <p:cNvPr id="38" name="Text 31"/>
          <p:cNvSpPr/>
          <p:nvPr/>
        </p:nvSpPr>
        <p:spPr>
          <a:xfrm>
            <a:off x="8962110" y="2802636"/>
            <a:ext cx="365760" cy="640080"/>
          </a:xfrm>
          <a:prstGeom prst="rect">
            <a:avLst/>
          </a:prstGeom>
          <a:noFill/>
          <a:ln/>
        </p:spPr>
        <p:txBody>
          <a:bodyPr wrap="square" rtlCol="0" anchor="ctr"/>
          <a:lstStyle/>
          <a:p>
            <a:pPr marL="0" indent="0" algn="ctr">
              <a:buNone/>
            </a:pPr>
            <a:r>
              <a:rPr lang="en-US" sz="2400" b="1" dirty="0">
                <a:solidFill>
                  <a:srgbClr val="C7D2DB"/>
                </a:solidFill>
                <a:latin typeface="Calibri" pitchFamily="34" charset="0"/>
                <a:ea typeface="Calibri" pitchFamily="34" charset="-122"/>
                <a:cs typeface="Calibri" pitchFamily="34" charset="-120"/>
              </a:rPr>
              <a:t>→</a:t>
            </a:r>
            <a:endParaRPr lang="en-US" sz="2400" dirty="0"/>
          </a:p>
        </p:txBody>
      </p:sp>
      <p:sp>
        <p:nvSpPr>
          <p:cNvPr id="39" name="Shape 32"/>
          <p:cNvSpPr/>
          <p:nvPr/>
        </p:nvSpPr>
        <p:spPr>
          <a:xfrm>
            <a:off x="9327870" y="1979676"/>
            <a:ext cx="1247089" cy="2286000"/>
          </a:xfrm>
          <a:prstGeom prst="roundRect">
            <a:avLst>
              <a:gd name="adj" fmla="val 6599"/>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000"/>
          </a:p>
        </p:txBody>
      </p:sp>
      <p:pic>
        <p:nvPicPr>
          <p:cNvPr id="40" name="Image 5" descr="/home/claude/ppt/img/circles/circ_checkcircle_teal.png"/>
          <p:cNvPicPr>
            <a:picLocks noChangeAspect="1"/>
          </p:cNvPicPr>
          <p:nvPr/>
        </p:nvPicPr>
        <p:blipFill>
          <a:blip r:embed="rId8"/>
          <a:stretch>
            <a:fillRect/>
          </a:stretch>
        </p:blipFill>
        <p:spPr>
          <a:xfrm>
            <a:off x="9658807" y="2180844"/>
            <a:ext cx="585216" cy="585216"/>
          </a:xfrm>
          <a:prstGeom prst="rect">
            <a:avLst/>
          </a:prstGeom>
        </p:spPr>
      </p:pic>
      <p:sp>
        <p:nvSpPr>
          <p:cNvPr id="41" name="Shape 33"/>
          <p:cNvSpPr/>
          <p:nvPr/>
        </p:nvSpPr>
        <p:spPr>
          <a:xfrm>
            <a:off x="10190911" y="2071116"/>
            <a:ext cx="292608" cy="292608"/>
          </a:xfrm>
          <a:prstGeom prst="ellipse">
            <a:avLst/>
          </a:prstGeom>
          <a:solidFill>
            <a:srgbClr val="132A43"/>
          </a:solidFill>
          <a:ln/>
        </p:spPr>
        <p:txBody>
          <a:bodyPr/>
          <a:lstStyle/>
          <a:p>
            <a:endParaRPr lang="en-US" sz="2000"/>
          </a:p>
        </p:txBody>
      </p:sp>
      <p:sp>
        <p:nvSpPr>
          <p:cNvPr id="42" name="Text 34"/>
          <p:cNvSpPr/>
          <p:nvPr/>
        </p:nvSpPr>
        <p:spPr>
          <a:xfrm>
            <a:off x="10190911" y="2071116"/>
            <a:ext cx="292608" cy="292608"/>
          </a:xfrm>
          <a:prstGeom prst="rect">
            <a:avLst/>
          </a:prstGeom>
          <a:noFill/>
          <a:ln/>
        </p:spPr>
        <p:txBody>
          <a:bodyPr wrap="square"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43" name="Text 35"/>
          <p:cNvSpPr/>
          <p:nvPr/>
        </p:nvSpPr>
        <p:spPr>
          <a:xfrm>
            <a:off x="9419310" y="2894076"/>
            <a:ext cx="1064209" cy="457200"/>
          </a:xfrm>
          <a:prstGeom prst="rect">
            <a:avLst/>
          </a:prstGeom>
          <a:noFill/>
          <a:ln/>
        </p:spPr>
        <p:txBody>
          <a:bodyPr wrap="square" rtlCol="0" anchor="t"/>
          <a:lstStyle/>
          <a:p>
            <a:pPr marL="0" indent="0" algn="ctr">
              <a:buNone/>
            </a:pPr>
            <a:r>
              <a:rPr lang="en-US" sz="1400" b="1" dirty="0">
                <a:solidFill>
                  <a:srgbClr val="132A43"/>
                </a:solidFill>
                <a:latin typeface="Cambria" pitchFamily="34" charset="0"/>
                <a:ea typeface="Cambria" pitchFamily="34" charset="-122"/>
                <a:cs typeface="Cambria" pitchFamily="34" charset="-120"/>
              </a:rPr>
              <a:t>Validated Result</a:t>
            </a:r>
            <a:endParaRPr lang="en-US" sz="1400" dirty="0"/>
          </a:p>
        </p:txBody>
      </p:sp>
      <p:sp>
        <p:nvSpPr>
          <p:cNvPr id="44" name="Text 36"/>
          <p:cNvSpPr/>
          <p:nvPr/>
        </p:nvSpPr>
        <p:spPr>
          <a:xfrm>
            <a:off x="9419310" y="3332988"/>
            <a:ext cx="1064209" cy="868680"/>
          </a:xfrm>
          <a:prstGeom prst="rect">
            <a:avLst/>
          </a:prstGeom>
          <a:noFill/>
          <a:ln/>
        </p:spPr>
        <p:txBody>
          <a:bodyPr wrap="square" rtlCol="0" anchor="t"/>
          <a:lstStyle/>
          <a:p>
            <a:pPr marL="0" indent="0" algn="ctr">
              <a:lnSpc>
                <a:spcPct val="105000"/>
              </a:lnSpc>
              <a:buNone/>
            </a:pPr>
            <a:r>
              <a:rPr lang="en-US" sz="1200" dirty="0">
                <a:solidFill>
                  <a:srgbClr val="6B7785"/>
                </a:solidFill>
                <a:latin typeface="Calibri" pitchFamily="34" charset="0"/>
                <a:ea typeface="Calibri" pitchFamily="34" charset="-122"/>
                <a:cs typeface="Calibri" pitchFamily="34" charset="-120"/>
              </a:rPr>
              <a:t>Agreement within 0.8%</a:t>
            </a:r>
            <a:endParaRPr lang="en-US" sz="1200" dirty="0"/>
          </a:p>
        </p:txBody>
      </p:sp>
      <p:sp>
        <p:nvSpPr>
          <p:cNvPr id="45" name="Text 37"/>
          <p:cNvSpPr/>
          <p:nvPr/>
        </p:nvSpPr>
        <p:spPr>
          <a:xfrm>
            <a:off x="640080" y="4617720"/>
            <a:ext cx="10911535" cy="548640"/>
          </a:xfrm>
          <a:prstGeom prst="rect">
            <a:avLst/>
          </a:prstGeom>
          <a:noFill/>
          <a:ln/>
        </p:spPr>
        <p:txBody>
          <a:bodyPr wrap="square" rtlCol="0" anchor="ctr"/>
          <a:lstStyle/>
          <a:p>
            <a:pPr marL="0" indent="0" algn="ctr">
              <a:buNone/>
            </a:pPr>
            <a:r>
              <a:rPr lang="en-US" sz="1600" i="1" dirty="0">
                <a:solidFill>
                  <a:srgbClr val="1B2531"/>
                </a:solidFill>
                <a:latin typeface="Calibri" pitchFamily="34" charset="0"/>
                <a:ea typeface="Calibri" pitchFamily="34" charset="-122"/>
                <a:cs typeface="Calibri" pitchFamily="34" charset="-120"/>
              </a:rPr>
              <a:t>Two independent methods, the LMTD method and the effectiveness–NTU method, </a:t>
            </a:r>
            <a:r>
              <a:rPr lang="en-US" sz="1600" b="1" i="1" dirty="0">
                <a:solidFill>
                  <a:srgbClr val="D9622B"/>
                </a:solidFill>
                <a:latin typeface="Calibri" pitchFamily="34" charset="0"/>
                <a:ea typeface="Calibri" pitchFamily="34" charset="-122"/>
                <a:cs typeface="Calibri" pitchFamily="34" charset="-120"/>
              </a:rPr>
              <a:t>converge to within 0.8% </a:t>
            </a:r>
            <a:r>
              <a:rPr lang="en-US" sz="1600" i="1" dirty="0">
                <a:solidFill>
                  <a:srgbClr val="1B2531"/>
                </a:solidFill>
                <a:latin typeface="Calibri" pitchFamily="34" charset="0"/>
                <a:ea typeface="Calibri" pitchFamily="34" charset="-122"/>
                <a:cs typeface="Calibri" pitchFamily="34" charset="-120"/>
              </a:rPr>
              <a:t>of one another, confirming the extracted boundary values are thermodynamically self consistent.</a:t>
            </a:r>
            <a:endParaRPr lang="en-US" sz="1600" dirty="0"/>
          </a:p>
        </p:txBody>
      </p:sp>
      <p:sp>
        <p:nvSpPr>
          <p:cNvPr id="46" name="Shape 38"/>
          <p:cNvSpPr/>
          <p:nvPr/>
        </p:nvSpPr>
        <p:spPr>
          <a:xfrm>
            <a:off x="640080" y="5349240"/>
            <a:ext cx="3423818" cy="1051560"/>
          </a:xfrm>
          <a:prstGeom prst="roundRect">
            <a:avLst>
              <a:gd name="adj" fmla="val 782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400"/>
          </a:p>
        </p:txBody>
      </p:sp>
      <p:sp>
        <p:nvSpPr>
          <p:cNvPr id="47" name="Text 39"/>
          <p:cNvSpPr/>
          <p:nvPr/>
        </p:nvSpPr>
        <p:spPr>
          <a:xfrm>
            <a:off x="822960" y="5468112"/>
            <a:ext cx="3058058" cy="502920"/>
          </a:xfrm>
          <a:prstGeom prst="rect">
            <a:avLst/>
          </a:prstGeom>
          <a:noFill/>
          <a:ln/>
        </p:spPr>
        <p:txBody>
          <a:bodyPr wrap="square" rtlCol="0" anchor="ctr"/>
          <a:lstStyle/>
          <a:p>
            <a:pPr marL="0" indent="0" algn="ctr">
              <a:buNone/>
            </a:pPr>
            <a:r>
              <a:rPr lang="en-US" sz="1400" i="1" dirty="0">
                <a:solidFill>
                  <a:srgbClr val="132A43"/>
                </a:solidFill>
                <a:latin typeface="Cambria Math" pitchFamily="34" charset="0"/>
                <a:ea typeface="Cambria Math" pitchFamily="34" charset="-122"/>
                <a:cs typeface="Cambria Math" pitchFamily="34" charset="-120"/>
              </a:rPr>
              <a:t>ΔTlm = (ΔT₂ − ΔT₁) / ln(ΔT₂/ΔT₁)</a:t>
            </a:r>
            <a:endParaRPr lang="en-US" sz="1400" dirty="0"/>
          </a:p>
        </p:txBody>
      </p:sp>
      <p:sp>
        <p:nvSpPr>
          <p:cNvPr id="48" name="Text 40"/>
          <p:cNvSpPr/>
          <p:nvPr/>
        </p:nvSpPr>
        <p:spPr>
          <a:xfrm>
            <a:off x="822960" y="5989320"/>
            <a:ext cx="3058058" cy="320040"/>
          </a:xfrm>
          <a:prstGeom prst="rect">
            <a:avLst/>
          </a:prstGeom>
          <a:noFill/>
          <a:ln/>
        </p:spPr>
        <p:txBody>
          <a:bodyPr wrap="square" rtlCol="0" anchor="ctr"/>
          <a:lstStyle/>
          <a:p>
            <a:pPr marL="0" indent="0" algn="ctr">
              <a:buNone/>
            </a:pPr>
            <a:r>
              <a:rPr lang="en-US" b="1" dirty="0">
                <a:solidFill>
                  <a:srgbClr val="D9622B"/>
                </a:solidFill>
                <a:latin typeface="Cambria" pitchFamily="34" charset="0"/>
                <a:ea typeface="Cambria" pitchFamily="34" charset="-122"/>
                <a:cs typeface="Cambria" pitchFamily="34" charset="-120"/>
              </a:rPr>
              <a:t>18.83 K</a:t>
            </a:r>
            <a:endParaRPr lang="en-US" dirty="0"/>
          </a:p>
        </p:txBody>
      </p:sp>
      <p:sp>
        <p:nvSpPr>
          <p:cNvPr id="49" name="Shape 41"/>
          <p:cNvSpPr/>
          <p:nvPr/>
        </p:nvSpPr>
        <p:spPr>
          <a:xfrm>
            <a:off x="4383938" y="5349240"/>
            <a:ext cx="3423818" cy="1051560"/>
          </a:xfrm>
          <a:prstGeom prst="roundRect">
            <a:avLst>
              <a:gd name="adj" fmla="val 782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400"/>
          </a:p>
        </p:txBody>
      </p:sp>
      <p:sp>
        <p:nvSpPr>
          <p:cNvPr id="50" name="Text 42"/>
          <p:cNvSpPr/>
          <p:nvPr/>
        </p:nvSpPr>
        <p:spPr>
          <a:xfrm>
            <a:off x="4566818" y="5468112"/>
            <a:ext cx="3058058" cy="502920"/>
          </a:xfrm>
          <a:prstGeom prst="rect">
            <a:avLst/>
          </a:prstGeom>
          <a:noFill/>
          <a:ln/>
        </p:spPr>
        <p:txBody>
          <a:bodyPr wrap="square" rtlCol="0" anchor="ctr"/>
          <a:lstStyle/>
          <a:p>
            <a:pPr marL="0" indent="0" algn="ctr">
              <a:buNone/>
            </a:pPr>
            <a:r>
              <a:rPr lang="en-US" sz="1400" i="1" dirty="0">
                <a:solidFill>
                  <a:srgbClr val="132A43"/>
                </a:solidFill>
                <a:latin typeface="Cambria Math" pitchFamily="34" charset="0"/>
                <a:ea typeface="Cambria Math" pitchFamily="34" charset="-122"/>
                <a:cs typeface="Cambria Math" pitchFamily="34" charset="-120"/>
              </a:rPr>
              <a:t>UA = Q / ΔTlm</a:t>
            </a:r>
            <a:endParaRPr lang="en-US" sz="1400" dirty="0"/>
          </a:p>
        </p:txBody>
      </p:sp>
      <p:sp>
        <p:nvSpPr>
          <p:cNvPr id="51" name="Text 43"/>
          <p:cNvSpPr/>
          <p:nvPr/>
        </p:nvSpPr>
        <p:spPr>
          <a:xfrm>
            <a:off x="4566818" y="5989320"/>
            <a:ext cx="3058058" cy="320040"/>
          </a:xfrm>
          <a:prstGeom prst="rect">
            <a:avLst/>
          </a:prstGeom>
          <a:noFill/>
          <a:ln/>
        </p:spPr>
        <p:txBody>
          <a:bodyPr wrap="square" rtlCol="0" anchor="ctr"/>
          <a:lstStyle/>
          <a:p>
            <a:pPr marL="0" indent="0" algn="ctr">
              <a:buNone/>
            </a:pPr>
            <a:r>
              <a:rPr lang="en-US" b="1" dirty="0">
                <a:solidFill>
                  <a:srgbClr val="D9622B"/>
                </a:solidFill>
                <a:latin typeface="Cambria" pitchFamily="34" charset="0"/>
                <a:ea typeface="Cambria" pitchFamily="34" charset="-122"/>
                <a:cs typeface="Cambria" pitchFamily="34" charset="-120"/>
              </a:rPr>
              <a:t>220.0 W/K</a:t>
            </a:r>
            <a:endParaRPr lang="en-US" dirty="0"/>
          </a:p>
        </p:txBody>
      </p:sp>
      <p:sp>
        <p:nvSpPr>
          <p:cNvPr id="52" name="Shape 44"/>
          <p:cNvSpPr/>
          <p:nvPr/>
        </p:nvSpPr>
        <p:spPr>
          <a:xfrm>
            <a:off x="8127797" y="5349240"/>
            <a:ext cx="3423818" cy="1051560"/>
          </a:xfrm>
          <a:prstGeom prst="roundRect">
            <a:avLst>
              <a:gd name="adj" fmla="val 782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400"/>
          </a:p>
        </p:txBody>
      </p:sp>
      <p:sp>
        <p:nvSpPr>
          <p:cNvPr id="53" name="Text 45"/>
          <p:cNvSpPr/>
          <p:nvPr/>
        </p:nvSpPr>
        <p:spPr>
          <a:xfrm>
            <a:off x="8310677" y="5468112"/>
            <a:ext cx="3058058" cy="502920"/>
          </a:xfrm>
          <a:prstGeom prst="rect">
            <a:avLst/>
          </a:prstGeom>
          <a:noFill/>
          <a:ln/>
        </p:spPr>
        <p:txBody>
          <a:bodyPr wrap="square" rtlCol="0" anchor="ctr"/>
          <a:lstStyle/>
          <a:p>
            <a:pPr marL="0" indent="0" algn="ctr">
              <a:buNone/>
            </a:pPr>
            <a:r>
              <a:rPr lang="en-US" sz="1400" i="1" dirty="0">
                <a:solidFill>
                  <a:srgbClr val="132A43"/>
                </a:solidFill>
                <a:latin typeface="Cambria Math" pitchFamily="34" charset="0"/>
                <a:ea typeface="Cambria Math" pitchFamily="34" charset="-122"/>
                <a:cs typeface="Cambria Math" pitchFamily="34" charset="-120"/>
              </a:rPr>
              <a:t>ε = [1 − exp(−NTU(1−Cr))] / [1 − Cr·exp(−NTU(1−Cr))]</a:t>
            </a:r>
            <a:endParaRPr lang="en-US" sz="1400" dirty="0"/>
          </a:p>
        </p:txBody>
      </p:sp>
      <p:sp>
        <p:nvSpPr>
          <p:cNvPr id="54" name="Text 46"/>
          <p:cNvSpPr/>
          <p:nvPr/>
        </p:nvSpPr>
        <p:spPr>
          <a:xfrm>
            <a:off x="8310677" y="5989320"/>
            <a:ext cx="3058058" cy="320040"/>
          </a:xfrm>
          <a:prstGeom prst="rect">
            <a:avLst/>
          </a:prstGeom>
          <a:noFill/>
          <a:ln/>
        </p:spPr>
        <p:txBody>
          <a:bodyPr wrap="square" rtlCol="0" anchor="ctr"/>
          <a:lstStyle/>
          <a:p>
            <a:pPr marL="0" indent="0" algn="ctr">
              <a:buNone/>
            </a:pPr>
            <a:r>
              <a:rPr lang="en-US" b="1" dirty="0">
                <a:solidFill>
                  <a:srgbClr val="D9622B"/>
                </a:solidFill>
                <a:latin typeface="Cambria" pitchFamily="34" charset="0"/>
                <a:ea typeface="Cambria" pitchFamily="34" charset="-122"/>
                <a:cs typeface="Cambria" pitchFamily="34" charset="-120"/>
              </a:rPr>
              <a:t>75.3%</a:t>
            </a:r>
            <a:endParaRPr lang="en-US" dirty="0"/>
          </a:p>
        </p:txBody>
      </p:sp>
      <p:sp>
        <p:nvSpPr>
          <p:cNvPr id="55" name="Text 47"/>
          <p:cNvSpPr/>
          <p:nvPr/>
        </p:nvSpPr>
        <p:spPr>
          <a:xfrm>
            <a:off x="11551615" y="6446520"/>
            <a:ext cx="365760" cy="274320"/>
          </a:xfrm>
          <a:prstGeom prst="rect">
            <a:avLst/>
          </a:prstGeom>
          <a:noFill/>
          <a:ln/>
        </p:spPr>
        <p:txBody>
          <a:bodyPr wrap="square" rtlCol="0" anchor="ctr"/>
          <a:lstStyle/>
          <a:p>
            <a:pPr marL="0" indent="0" algn="r">
              <a:buNone/>
            </a:pPr>
            <a:r>
              <a:rPr lang="en-US" sz="1100" dirty="0">
                <a:solidFill>
                  <a:srgbClr val="6B7785"/>
                </a:solidFill>
                <a:latin typeface="Calibri" pitchFamily="34" charset="0"/>
                <a:ea typeface="Calibri" pitchFamily="34" charset="-122"/>
                <a:cs typeface="Calibri" pitchFamily="34" charset="-120"/>
              </a:rPr>
              <a:t>13</a:t>
            </a:r>
            <a:endParaRPr lang="en-US" sz="11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B2E"/>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32A43">
              <a:alpha val="55000"/>
            </a:srgbClr>
          </a:solidFill>
          <a:ln/>
        </p:spPr>
        <p:txBody>
          <a:bodyPr/>
          <a:lstStyle/>
          <a:p>
            <a:endParaRPr lang="en-US"/>
          </a:p>
        </p:txBody>
      </p:sp>
      <p:sp>
        <p:nvSpPr>
          <p:cNvPr id="3" name="Text 1"/>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PERFORMANCE SUMMARY</a:t>
            </a:r>
            <a:endParaRPr lang="en-US" sz="1300" dirty="0"/>
          </a:p>
        </p:txBody>
      </p:sp>
      <p:sp>
        <p:nvSpPr>
          <p:cNvPr id="4" name="Text 2"/>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Key Results at a Glance</a:t>
            </a:r>
            <a:endParaRPr lang="en-US" sz="3200" dirty="0"/>
          </a:p>
        </p:txBody>
      </p:sp>
      <p:sp>
        <p:nvSpPr>
          <p:cNvPr id="5" name="Shape 3"/>
          <p:cNvSpPr/>
          <p:nvPr/>
        </p:nvSpPr>
        <p:spPr>
          <a:xfrm>
            <a:off x="640080" y="1783080"/>
            <a:ext cx="3566160" cy="4434840"/>
          </a:xfrm>
          <a:prstGeom prst="roundRect">
            <a:avLst>
              <a:gd name="adj" fmla="val 2308"/>
            </a:avLst>
          </a:prstGeom>
          <a:solidFill>
            <a:srgbClr val="16324F"/>
          </a:solidFill>
          <a:ln/>
          <a:effectLst>
            <a:outerShdw blurRad="127000" dist="38100" dir="5400000" algn="bl" rotWithShape="0">
              <a:srgbClr val="1B2531">
                <a:alpha val="12000"/>
              </a:srgbClr>
            </a:outerShdw>
          </a:effectLst>
        </p:spPr>
        <p:txBody>
          <a:bodyPr/>
          <a:lstStyle/>
          <a:p>
            <a:endParaRPr lang="en-US" sz="2400"/>
          </a:p>
        </p:txBody>
      </p:sp>
      <p:sp>
        <p:nvSpPr>
          <p:cNvPr id="6" name="Text 4"/>
          <p:cNvSpPr/>
          <p:nvPr/>
        </p:nvSpPr>
        <p:spPr>
          <a:xfrm>
            <a:off x="868680" y="1965960"/>
            <a:ext cx="31089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Heat Exchanger Effectiveness</a:t>
            </a:r>
            <a:endParaRPr lang="en-US" sz="1600" dirty="0"/>
          </a:p>
        </p:txBody>
      </p:sp>
      <p:graphicFrame>
        <p:nvGraphicFramePr>
          <p:cNvPr id="7" name="Chart 0"/>
          <p:cNvGraphicFramePr/>
          <p:nvPr>
            <p:extLst>
              <p:ext uri="{D42A27DB-BD31-4B8C-83A1-F6EECF244321}">
                <p14:modId xmlns:p14="http://schemas.microsoft.com/office/powerpoint/2010/main" val="776837944"/>
              </p:ext>
            </p:extLst>
          </p:nvPr>
        </p:nvGraphicFramePr>
        <p:xfrm>
          <a:off x="1051560" y="2468880"/>
          <a:ext cx="27432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1051560" y="3547872"/>
            <a:ext cx="2743200" cy="585216"/>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75.3%</a:t>
            </a:r>
            <a:endParaRPr lang="en-US" sz="3600" dirty="0"/>
          </a:p>
        </p:txBody>
      </p:sp>
      <p:sp>
        <p:nvSpPr>
          <p:cNvPr id="9" name="Text 6"/>
          <p:cNvSpPr/>
          <p:nvPr/>
        </p:nvSpPr>
        <p:spPr>
          <a:xfrm>
            <a:off x="868680" y="5376672"/>
            <a:ext cx="3108960" cy="320040"/>
          </a:xfrm>
          <a:prstGeom prst="rect">
            <a:avLst/>
          </a:prstGeom>
          <a:noFill/>
          <a:ln/>
        </p:spPr>
        <p:txBody>
          <a:bodyPr wrap="square" rtlCol="0" anchor="ctr"/>
          <a:lstStyle/>
          <a:p>
            <a:pPr marL="0" indent="0" algn="ctr">
              <a:buNone/>
            </a:pPr>
            <a:r>
              <a:rPr lang="en-US" sz="1600" dirty="0">
                <a:solidFill>
                  <a:srgbClr val="9FB0C0"/>
                </a:solidFill>
                <a:latin typeface="Calibri" pitchFamily="34" charset="0"/>
                <a:ea typeface="Calibri" pitchFamily="34" charset="-122"/>
                <a:cs typeface="Calibri" pitchFamily="34" charset="-120"/>
              </a:rPr>
              <a:t>of thermodynamic maximum</a:t>
            </a:r>
            <a:endParaRPr lang="en-US" sz="1600" dirty="0"/>
          </a:p>
        </p:txBody>
      </p:sp>
      <p:sp>
        <p:nvSpPr>
          <p:cNvPr id="10" name="Shape 7"/>
          <p:cNvSpPr/>
          <p:nvPr/>
        </p:nvSpPr>
        <p:spPr>
          <a:xfrm>
            <a:off x="4526280" y="1783080"/>
            <a:ext cx="3352648" cy="2057400"/>
          </a:xfrm>
          <a:prstGeom prst="roundRect">
            <a:avLst>
              <a:gd name="adj" fmla="val 4000"/>
            </a:avLst>
          </a:prstGeom>
          <a:solidFill>
            <a:srgbClr val="16324F"/>
          </a:solidFill>
          <a:ln w="12700">
            <a:solidFill>
              <a:srgbClr val="24405E"/>
            </a:solidFill>
            <a:prstDash val="solid"/>
          </a:ln>
        </p:spPr>
        <p:txBody>
          <a:bodyPr/>
          <a:lstStyle/>
          <a:p>
            <a:endParaRPr lang="en-US" sz="2400"/>
          </a:p>
        </p:txBody>
      </p:sp>
      <p:pic>
        <p:nvPicPr>
          <p:cNvPr id="11" name="Image 0" descr="/home/claude/ppt/img/circles/circ_bolt_orange.png"/>
          <p:cNvPicPr>
            <a:picLocks noChangeAspect="1"/>
          </p:cNvPicPr>
          <p:nvPr/>
        </p:nvPicPr>
        <p:blipFill>
          <a:blip r:embed="rId4"/>
          <a:stretch>
            <a:fillRect/>
          </a:stretch>
        </p:blipFill>
        <p:spPr>
          <a:xfrm>
            <a:off x="4782312" y="2039112"/>
            <a:ext cx="548640" cy="548640"/>
          </a:xfrm>
          <a:prstGeom prst="rect">
            <a:avLst/>
          </a:prstGeom>
        </p:spPr>
      </p:pic>
      <p:sp>
        <p:nvSpPr>
          <p:cNvPr id="12" name="Text 8"/>
          <p:cNvSpPr/>
          <p:nvPr/>
        </p:nvSpPr>
        <p:spPr>
          <a:xfrm>
            <a:off x="4782312" y="2697480"/>
            <a:ext cx="2840584" cy="5029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4.14 kW</a:t>
            </a:r>
            <a:endParaRPr lang="en-US" sz="3200" dirty="0"/>
          </a:p>
        </p:txBody>
      </p:sp>
      <p:sp>
        <p:nvSpPr>
          <p:cNvPr id="13" name="Text 9"/>
          <p:cNvSpPr/>
          <p:nvPr/>
        </p:nvSpPr>
        <p:spPr>
          <a:xfrm>
            <a:off x="4782312" y="3154680"/>
            <a:ext cx="2840584" cy="274320"/>
          </a:xfrm>
          <a:prstGeom prst="rect">
            <a:avLst/>
          </a:prstGeom>
          <a:noFill/>
          <a:ln/>
        </p:spPr>
        <p:txBody>
          <a:bodyPr wrap="square" rtlCol="0" anchor="ctr"/>
          <a:lstStyle/>
          <a:p>
            <a:pPr marL="0" indent="0">
              <a:buNone/>
            </a:pPr>
            <a:r>
              <a:rPr lang="en-US" sz="1200" b="1" dirty="0">
                <a:solidFill>
                  <a:srgbClr val="D9622B"/>
                </a:solidFill>
                <a:latin typeface="Calibri" pitchFamily="34" charset="0"/>
                <a:ea typeface="Calibri" pitchFamily="34" charset="-122"/>
                <a:cs typeface="Calibri" pitchFamily="34" charset="-120"/>
              </a:rPr>
              <a:t>Recovered Heat Duty</a:t>
            </a:r>
            <a:endParaRPr lang="en-US" sz="1200" dirty="0"/>
          </a:p>
        </p:txBody>
      </p:sp>
      <p:sp>
        <p:nvSpPr>
          <p:cNvPr id="14" name="Text 10"/>
          <p:cNvSpPr/>
          <p:nvPr/>
        </p:nvSpPr>
        <p:spPr>
          <a:xfrm>
            <a:off x="4782312" y="3447288"/>
            <a:ext cx="2840584" cy="365760"/>
          </a:xfrm>
          <a:prstGeom prst="rect">
            <a:avLst/>
          </a:prstGeom>
          <a:noFill/>
          <a:ln/>
        </p:spPr>
        <p:txBody>
          <a:bodyPr wrap="square" rtlCol="0" anchor="t"/>
          <a:lstStyle/>
          <a:p>
            <a:pPr marL="0" indent="0">
              <a:buNone/>
            </a:pPr>
            <a:r>
              <a:rPr lang="en-US" sz="1000" dirty="0">
                <a:solidFill>
                  <a:srgbClr val="9FB0C0"/>
                </a:solidFill>
                <a:latin typeface="Calibri" pitchFamily="34" charset="0"/>
                <a:ea typeface="Calibri" pitchFamily="34" charset="-122"/>
                <a:cs typeface="Calibri" pitchFamily="34" charset="-120"/>
              </a:rPr>
              <a:t>Average of hot and cold side energy balances, agreeing to 1.4%</a:t>
            </a:r>
            <a:endParaRPr lang="en-US" sz="1000" dirty="0"/>
          </a:p>
        </p:txBody>
      </p:sp>
      <p:sp>
        <p:nvSpPr>
          <p:cNvPr id="15" name="Shape 11"/>
          <p:cNvSpPr/>
          <p:nvPr/>
        </p:nvSpPr>
        <p:spPr>
          <a:xfrm>
            <a:off x="8153248" y="1783080"/>
            <a:ext cx="3352648" cy="2057400"/>
          </a:xfrm>
          <a:prstGeom prst="roundRect">
            <a:avLst>
              <a:gd name="adj" fmla="val 4000"/>
            </a:avLst>
          </a:prstGeom>
          <a:solidFill>
            <a:srgbClr val="16324F"/>
          </a:solidFill>
          <a:ln w="12700">
            <a:solidFill>
              <a:srgbClr val="24405E"/>
            </a:solidFill>
            <a:prstDash val="solid"/>
          </a:ln>
        </p:spPr>
        <p:txBody>
          <a:bodyPr/>
          <a:lstStyle/>
          <a:p>
            <a:endParaRPr lang="en-US" sz="2400"/>
          </a:p>
        </p:txBody>
      </p:sp>
      <p:pic>
        <p:nvPicPr>
          <p:cNvPr id="16" name="Image 1" descr="/home/claude/ppt/img/circles/circ_chartline_navy.png"/>
          <p:cNvPicPr>
            <a:picLocks noChangeAspect="1"/>
          </p:cNvPicPr>
          <p:nvPr/>
        </p:nvPicPr>
        <p:blipFill>
          <a:blip r:embed="rId5"/>
          <a:stretch>
            <a:fillRect/>
          </a:stretch>
        </p:blipFill>
        <p:spPr>
          <a:xfrm>
            <a:off x="8409280" y="2039112"/>
            <a:ext cx="548640" cy="548640"/>
          </a:xfrm>
          <a:prstGeom prst="rect">
            <a:avLst/>
          </a:prstGeom>
        </p:spPr>
      </p:pic>
      <p:sp>
        <p:nvSpPr>
          <p:cNvPr id="17" name="Text 12"/>
          <p:cNvSpPr/>
          <p:nvPr/>
        </p:nvSpPr>
        <p:spPr>
          <a:xfrm>
            <a:off x="8409280" y="2697480"/>
            <a:ext cx="2840584" cy="5029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220 W/K</a:t>
            </a:r>
            <a:endParaRPr lang="en-US" sz="3200" dirty="0"/>
          </a:p>
        </p:txBody>
      </p:sp>
      <p:sp>
        <p:nvSpPr>
          <p:cNvPr id="18" name="Text 13"/>
          <p:cNvSpPr/>
          <p:nvPr/>
        </p:nvSpPr>
        <p:spPr>
          <a:xfrm>
            <a:off x="8409280" y="3154680"/>
            <a:ext cx="2840584" cy="274320"/>
          </a:xfrm>
          <a:prstGeom prst="rect">
            <a:avLst/>
          </a:prstGeom>
          <a:noFill/>
          <a:ln/>
        </p:spPr>
        <p:txBody>
          <a:bodyPr wrap="square" rtlCol="0" anchor="ctr"/>
          <a:lstStyle/>
          <a:p>
            <a:pPr marL="0" indent="0">
              <a:buNone/>
            </a:pPr>
            <a:r>
              <a:rPr lang="en-US" sz="1200" b="1" dirty="0">
                <a:solidFill>
                  <a:srgbClr val="D9622B"/>
                </a:solidFill>
                <a:latin typeface="Calibri" pitchFamily="34" charset="0"/>
                <a:ea typeface="Calibri" pitchFamily="34" charset="-122"/>
                <a:cs typeface="Calibri" pitchFamily="34" charset="-120"/>
              </a:rPr>
              <a:t>Overall Conductance (UA)</a:t>
            </a:r>
            <a:endParaRPr lang="en-US" sz="1200" dirty="0"/>
          </a:p>
        </p:txBody>
      </p:sp>
      <p:sp>
        <p:nvSpPr>
          <p:cNvPr id="19" name="Text 14"/>
          <p:cNvSpPr/>
          <p:nvPr/>
        </p:nvSpPr>
        <p:spPr>
          <a:xfrm>
            <a:off x="8409280" y="3447288"/>
            <a:ext cx="2840584" cy="365760"/>
          </a:xfrm>
          <a:prstGeom prst="rect">
            <a:avLst/>
          </a:prstGeom>
          <a:noFill/>
          <a:ln/>
        </p:spPr>
        <p:txBody>
          <a:bodyPr wrap="square" rtlCol="0" anchor="t"/>
          <a:lstStyle/>
          <a:p>
            <a:pPr marL="0" indent="0">
              <a:buNone/>
            </a:pPr>
            <a:r>
              <a:rPr lang="en-US" sz="1000" dirty="0">
                <a:solidFill>
                  <a:srgbClr val="9FB0C0"/>
                </a:solidFill>
                <a:latin typeface="Calibri" pitchFamily="34" charset="0"/>
                <a:ea typeface="Calibri" pitchFamily="34" charset="-122"/>
                <a:cs typeface="Calibri" pitchFamily="34" charset="-120"/>
              </a:rPr>
              <a:t>Cross validated by LMTD and ε–NTU methods</a:t>
            </a:r>
            <a:endParaRPr lang="en-US" sz="1000" dirty="0"/>
          </a:p>
        </p:txBody>
      </p:sp>
      <p:sp>
        <p:nvSpPr>
          <p:cNvPr id="20" name="Shape 15"/>
          <p:cNvSpPr/>
          <p:nvPr/>
        </p:nvSpPr>
        <p:spPr>
          <a:xfrm>
            <a:off x="4526280" y="4114800"/>
            <a:ext cx="3352648" cy="2057400"/>
          </a:xfrm>
          <a:prstGeom prst="roundRect">
            <a:avLst>
              <a:gd name="adj" fmla="val 4000"/>
            </a:avLst>
          </a:prstGeom>
          <a:solidFill>
            <a:srgbClr val="16324F"/>
          </a:solidFill>
          <a:ln w="12700">
            <a:solidFill>
              <a:srgbClr val="24405E"/>
            </a:solidFill>
            <a:prstDash val="solid"/>
          </a:ln>
        </p:spPr>
        <p:txBody>
          <a:bodyPr/>
          <a:lstStyle/>
          <a:p>
            <a:endParaRPr lang="en-US" sz="2400"/>
          </a:p>
        </p:txBody>
      </p:sp>
      <p:pic>
        <p:nvPicPr>
          <p:cNvPr id="21" name="Image 2" descr="/home/claude/ppt/img/circles/circ_ruler_navy.png"/>
          <p:cNvPicPr>
            <a:picLocks noChangeAspect="1"/>
          </p:cNvPicPr>
          <p:nvPr/>
        </p:nvPicPr>
        <p:blipFill>
          <a:blip r:embed="rId6"/>
          <a:stretch>
            <a:fillRect/>
          </a:stretch>
        </p:blipFill>
        <p:spPr>
          <a:xfrm>
            <a:off x="4782312" y="4370832"/>
            <a:ext cx="548640" cy="548640"/>
          </a:xfrm>
          <a:prstGeom prst="rect">
            <a:avLst/>
          </a:prstGeom>
        </p:spPr>
      </p:pic>
      <p:sp>
        <p:nvSpPr>
          <p:cNvPr id="22" name="Text 16"/>
          <p:cNvSpPr/>
          <p:nvPr/>
        </p:nvSpPr>
        <p:spPr>
          <a:xfrm>
            <a:off x="4782312" y="5029200"/>
            <a:ext cx="2840584" cy="5029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18.83 K</a:t>
            </a:r>
            <a:endParaRPr lang="en-US" sz="3200" dirty="0"/>
          </a:p>
        </p:txBody>
      </p:sp>
      <p:sp>
        <p:nvSpPr>
          <p:cNvPr id="23" name="Text 17"/>
          <p:cNvSpPr/>
          <p:nvPr/>
        </p:nvSpPr>
        <p:spPr>
          <a:xfrm>
            <a:off x="4782312" y="5486400"/>
            <a:ext cx="2840584" cy="274320"/>
          </a:xfrm>
          <a:prstGeom prst="rect">
            <a:avLst/>
          </a:prstGeom>
          <a:noFill/>
          <a:ln/>
        </p:spPr>
        <p:txBody>
          <a:bodyPr wrap="square" rtlCol="0" anchor="ctr"/>
          <a:lstStyle/>
          <a:p>
            <a:pPr marL="0" indent="0">
              <a:buNone/>
            </a:pPr>
            <a:r>
              <a:rPr lang="en-US" sz="1200" b="1" dirty="0">
                <a:solidFill>
                  <a:srgbClr val="D9622B"/>
                </a:solidFill>
                <a:latin typeface="Calibri" pitchFamily="34" charset="0"/>
                <a:ea typeface="Calibri" pitchFamily="34" charset="-122"/>
                <a:cs typeface="Calibri" pitchFamily="34" charset="-120"/>
              </a:rPr>
              <a:t>Log Mean Temperature Difference</a:t>
            </a:r>
            <a:endParaRPr lang="en-US" sz="1200" dirty="0"/>
          </a:p>
        </p:txBody>
      </p:sp>
      <p:sp>
        <p:nvSpPr>
          <p:cNvPr id="24" name="Text 18"/>
          <p:cNvSpPr/>
          <p:nvPr/>
        </p:nvSpPr>
        <p:spPr>
          <a:xfrm>
            <a:off x="4782312" y="5779008"/>
            <a:ext cx="2840584" cy="365760"/>
          </a:xfrm>
          <a:prstGeom prst="rect">
            <a:avLst/>
          </a:prstGeom>
          <a:noFill/>
          <a:ln/>
        </p:spPr>
        <p:txBody>
          <a:bodyPr wrap="square" rtlCol="0" anchor="t"/>
          <a:lstStyle/>
          <a:p>
            <a:pPr marL="0" indent="0">
              <a:buNone/>
            </a:pPr>
            <a:r>
              <a:rPr lang="en-US" sz="1400" dirty="0">
                <a:solidFill>
                  <a:srgbClr val="9FB0C0"/>
                </a:solidFill>
                <a:latin typeface="Calibri" pitchFamily="34" charset="0"/>
                <a:ea typeface="Calibri" pitchFamily="34" charset="-122"/>
                <a:cs typeface="Calibri" pitchFamily="34" charset="-120"/>
              </a:rPr>
              <a:t>Counter current arrangement</a:t>
            </a:r>
            <a:endParaRPr lang="en-US" sz="1400" dirty="0"/>
          </a:p>
        </p:txBody>
      </p:sp>
      <p:sp>
        <p:nvSpPr>
          <p:cNvPr id="25" name="Shape 19"/>
          <p:cNvSpPr/>
          <p:nvPr/>
        </p:nvSpPr>
        <p:spPr>
          <a:xfrm>
            <a:off x="8153248" y="4114800"/>
            <a:ext cx="3352648" cy="2057400"/>
          </a:xfrm>
          <a:prstGeom prst="roundRect">
            <a:avLst>
              <a:gd name="adj" fmla="val 4000"/>
            </a:avLst>
          </a:prstGeom>
          <a:solidFill>
            <a:srgbClr val="16324F"/>
          </a:solidFill>
          <a:ln w="12700">
            <a:solidFill>
              <a:srgbClr val="24405E"/>
            </a:solidFill>
            <a:prstDash val="solid"/>
          </a:ln>
        </p:spPr>
        <p:txBody>
          <a:bodyPr/>
          <a:lstStyle/>
          <a:p>
            <a:endParaRPr lang="en-US" sz="2400"/>
          </a:p>
        </p:txBody>
      </p:sp>
      <p:pic>
        <p:nvPicPr>
          <p:cNvPr id="26" name="Image 3" descr="/home/claude/ppt/img/circles/circ_wind_teal.png"/>
          <p:cNvPicPr>
            <a:picLocks noChangeAspect="1"/>
          </p:cNvPicPr>
          <p:nvPr/>
        </p:nvPicPr>
        <p:blipFill>
          <a:blip r:embed="rId7"/>
          <a:stretch>
            <a:fillRect/>
          </a:stretch>
        </p:blipFill>
        <p:spPr>
          <a:xfrm>
            <a:off x="8409280" y="4370832"/>
            <a:ext cx="548640" cy="548640"/>
          </a:xfrm>
          <a:prstGeom prst="rect">
            <a:avLst/>
          </a:prstGeom>
        </p:spPr>
      </p:pic>
      <p:sp>
        <p:nvSpPr>
          <p:cNvPr id="27" name="Text 20"/>
          <p:cNvSpPr/>
          <p:nvPr/>
        </p:nvSpPr>
        <p:spPr>
          <a:xfrm>
            <a:off x="8409280" y="5029200"/>
            <a:ext cx="2840584" cy="50292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 2 Pa</a:t>
            </a:r>
            <a:endParaRPr lang="en-US" sz="3200" dirty="0"/>
          </a:p>
        </p:txBody>
      </p:sp>
      <p:sp>
        <p:nvSpPr>
          <p:cNvPr id="28" name="Text 21"/>
          <p:cNvSpPr/>
          <p:nvPr/>
        </p:nvSpPr>
        <p:spPr>
          <a:xfrm>
            <a:off x="8409280" y="5486400"/>
            <a:ext cx="2840584" cy="274320"/>
          </a:xfrm>
          <a:prstGeom prst="rect">
            <a:avLst/>
          </a:prstGeom>
          <a:noFill/>
          <a:ln/>
        </p:spPr>
        <p:txBody>
          <a:bodyPr wrap="square" rtlCol="0" anchor="ctr"/>
          <a:lstStyle/>
          <a:p>
            <a:pPr marL="0" indent="0">
              <a:buNone/>
            </a:pPr>
            <a:r>
              <a:rPr lang="en-US" sz="1200" b="1" dirty="0">
                <a:solidFill>
                  <a:srgbClr val="D9622B"/>
                </a:solidFill>
                <a:latin typeface="Calibri" pitchFamily="34" charset="0"/>
                <a:ea typeface="Calibri" pitchFamily="34" charset="-122"/>
                <a:cs typeface="Calibri" pitchFamily="34" charset="-120"/>
              </a:rPr>
              <a:t>Hydraulic Pressure Penalty</a:t>
            </a:r>
            <a:endParaRPr lang="en-US" sz="1200" dirty="0"/>
          </a:p>
        </p:txBody>
      </p:sp>
      <p:sp>
        <p:nvSpPr>
          <p:cNvPr id="29" name="Text 22"/>
          <p:cNvSpPr/>
          <p:nvPr/>
        </p:nvSpPr>
        <p:spPr>
          <a:xfrm>
            <a:off x="8409280" y="5779008"/>
            <a:ext cx="2840584" cy="365760"/>
          </a:xfrm>
          <a:prstGeom prst="rect">
            <a:avLst/>
          </a:prstGeom>
          <a:noFill/>
          <a:ln/>
        </p:spPr>
        <p:txBody>
          <a:bodyPr wrap="square" rtlCol="0" anchor="t"/>
          <a:lstStyle/>
          <a:p>
            <a:pPr marL="0" indent="0">
              <a:buNone/>
            </a:pPr>
            <a:r>
              <a:rPr lang="en-US" sz="1000" dirty="0">
                <a:solidFill>
                  <a:srgbClr val="9FB0C0"/>
                </a:solidFill>
                <a:latin typeface="Calibri" pitchFamily="34" charset="0"/>
                <a:ea typeface="Calibri" pitchFamily="34" charset="-122"/>
                <a:cs typeface="Calibri" pitchFamily="34" charset="-120"/>
              </a:rPr>
              <a:t>Negligible pumping power cost for the thermal benefit gained</a:t>
            </a:r>
            <a:endParaRPr lang="en-US" sz="1000" dirty="0"/>
          </a:p>
        </p:txBody>
      </p:sp>
      <p:sp>
        <p:nvSpPr>
          <p:cNvPr id="30" name="Text 23"/>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9FB0C0"/>
                </a:solidFill>
                <a:latin typeface="Calibri" pitchFamily="34" charset="0"/>
                <a:ea typeface="Calibri" pitchFamily="34" charset="-122"/>
                <a:cs typeface="Calibri" pitchFamily="34" charset="-120"/>
              </a:rPr>
              <a:t>14</a:t>
            </a:r>
            <a:endParaRPr lang="en-US" sz="10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A"/>
        </a:solidFill>
        <a:effectLst/>
      </p:bgPr>
    </p:bg>
    <p:spTree>
      <p:nvGrpSpPr>
        <p:cNvPr id="1" name=""/>
        <p:cNvGrpSpPr/>
        <p:nvPr/>
      </p:nvGrpSpPr>
      <p:grpSpPr>
        <a:xfrm>
          <a:off x="0" y="0"/>
          <a:ext cx="0" cy="0"/>
          <a:chOff x="0" y="0"/>
          <a:chExt cx="0" cy="0"/>
        </a:xfrm>
      </p:grpSpPr>
      <p:sp>
        <p:nvSpPr>
          <p:cNvPr id="2" name="Text 0"/>
          <p:cNvSpPr/>
          <p:nvPr/>
        </p:nvSpPr>
        <p:spPr>
          <a:xfrm>
            <a:off x="640080" y="457200"/>
            <a:ext cx="7315200" cy="320040"/>
          </a:xfrm>
          <a:prstGeom prst="rect">
            <a:avLst/>
          </a:prstGeom>
          <a:noFill/>
          <a:ln/>
        </p:spPr>
        <p:txBody>
          <a:bodyPr wrap="square" rtlCol="0" anchor="ctr"/>
          <a:lstStyle/>
          <a:p>
            <a:pPr marL="0" indent="0" algn="l">
              <a:buNone/>
            </a:pPr>
            <a:r>
              <a:rPr lang="en-US" sz="1300" b="1" kern="0" spc="200" dirty="0">
                <a:solidFill>
                  <a:srgbClr val="D9622B"/>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640080" y="749808"/>
            <a:ext cx="10789920" cy="822960"/>
          </a:xfrm>
          <a:prstGeom prst="rect">
            <a:avLst/>
          </a:prstGeom>
          <a:noFill/>
          <a:ln/>
        </p:spPr>
        <p:txBody>
          <a:bodyPr wrap="square" rtlCol="0" anchor="ctr"/>
          <a:lstStyle/>
          <a:p>
            <a:pPr marL="0" indent="0" algn="l">
              <a:buNone/>
            </a:pPr>
            <a:r>
              <a:rPr lang="en-US" sz="3200" b="1" dirty="0">
                <a:solidFill>
                  <a:srgbClr val="132A43"/>
                </a:solidFill>
                <a:latin typeface="Cambria" pitchFamily="34" charset="0"/>
                <a:ea typeface="Cambria" pitchFamily="34" charset="-122"/>
                <a:cs typeface="Cambria" pitchFamily="34" charset="-120"/>
              </a:rPr>
              <a:t>What This Study Demonstrates</a:t>
            </a:r>
            <a:endParaRPr lang="en-US" sz="3200" dirty="0"/>
          </a:p>
        </p:txBody>
      </p:sp>
      <p:sp>
        <p:nvSpPr>
          <p:cNvPr id="4" name="Shape 2"/>
          <p:cNvSpPr/>
          <p:nvPr/>
        </p:nvSpPr>
        <p:spPr>
          <a:xfrm>
            <a:off x="640080" y="1783080"/>
            <a:ext cx="10911535" cy="1051560"/>
          </a:xfrm>
          <a:prstGeom prst="roundRect">
            <a:avLst>
              <a:gd name="adj" fmla="val 782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5" name="Image 0" descr="/home/claude/ppt/img/circles/circ_checkcircle_teal.png"/>
          <p:cNvPicPr>
            <a:picLocks noChangeAspect="1"/>
          </p:cNvPicPr>
          <p:nvPr/>
        </p:nvPicPr>
        <p:blipFill>
          <a:blip r:embed="rId3"/>
          <a:stretch>
            <a:fillRect/>
          </a:stretch>
        </p:blipFill>
        <p:spPr>
          <a:xfrm>
            <a:off x="868680" y="2043684"/>
            <a:ext cx="530352" cy="530352"/>
          </a:xfrm>
          <a:prstGeom prst="rect">
            <a:avLst/>
          </a:prstGeom>
        </p:spPr>
      </p:pic>
      <p:sp>
        <p:nvSpPr>
          <p:cNvPr id="6" name="Text 3"/>
          <p:cNvSpPr/>
          <p:nvPr/>
        </p:nvSpPr>
        <p:spPr>
          <a:xfrm>
            <a:off x="1600200" y="1911096"/>
            <a:ext cx="9722815" cy="32004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Effective Dual Augmentation</a:t>
            </a:r>
            <a:endParaRPr lang="en-US" sz="2000" dirty="0"/>
          </a:p>
        </p:txBody>
      </p:sp>
      <p:sp>
        <p:nvSpPr>
          <p:cNvPr id="7" name="Text 4"/>
          <p:cNvSpPr/>
          <p:nvPr/>
        </p:nvSpPr>
        <p:spPr>
          <a:xfrm>
            <a:off x="1600200" y="2258568"/>
            <a:ext cx="9722815" cy="50292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Swirl geometry and hybrid nanofluid together deliver strong heat recovery from a compact, laboratory scale exchanger.</a:t>
            </a:r>
            <a:endParaRPr lang="en-US" sz="1400" dirty="0"/>
          </a:p>
        </p:txBody>
      </p:sp>
      <p:sp>
        <p:nvSpPr>
          <p:cNvPr id="8" name="Shape 5"/>
          <p:cNvSpPr/>
          <p:nvPr/>
        </p:nvSpPr>
        <p:spPr>
          <a:xfrm>
            <a:off x="640080" y="3035808"/>
            <a:ext cx="10911535" cy="1051560"/>
          </a:xfrm>
          <a:prstGeom prst="roundRect">
            <a:avLst>
              <a:gd name="adj" fmla="val 782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9" name="Image 1" descr="/home/claude/ppt/img/circles/circ_checkcircle_teal.png"/>
          <p:cNvPicPr>
            <a:picLocks noChangeAspect="1"/>
          </p:cNvPicPr>
          <p:nvPr/>
        </p:nvPicPr>
        <p:blipFill>
          <a:blip r:embed="rId3"/>
          <a:stretch>
            <a:fillRect/>
          </a:stretch>
        </p:blipFill>
        <p:spPr>
          <a:xfrm>
            <a:off x="868680" y="3296412"/>
            <a:ext cx="530352" cy="530352"/>
          </a:xfrm>
          <a:prstGeom prst="rect">
            <a:avLst/>
          </a:prstGeom>
        </p:spPr>
      </p:pic>
      <p:sp>
        <p:nvSpPr>
          <p:cNvPr id="10" name="Text 6"/>
          <p:cNvSpPr/>
          <p:nvPr/>
        </p:nvSpPr>
        <p:spPr>
          <a:xfrm>
            <a:off x="1600200" y="3163824"/>
            <a:ext cx="9722815" cy="32004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Thermodynamically Consistent</a:t>
            </a:r>
            <a:endParaRPr lang="en-US" sz="2000" dirty="0"/>
          </a:p>
        </p:txBody>
      </p:sp>
      <p:sp>
        <p:nvSpPr>
          <p:cNvPr id="11" name="Text 7"/>
          <p:cNvSpPr/>
          <p:nvPr/>
        </p:nvSpPr>
        <p:spPr>
          <a:xfrm>
            <a:off x="1600200" y="3511296"/>
            <a:ext cx="9722815" cy="50292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Independent LMTD and effectiveness–NTU calculations agree to within 0.8%, validating the extracted CFD results.</a:t>
            </a:r>
            <a:endParaRPr lang="en-US" sz="1400" dirty="0"/>
          </a:p>
        </p:txBody>
      </p:sp>
      <p:sp>
        <p:nvSpPr>
          <p:cNvPr id="12" name="Shape 8"/>
          <p:cNvSpPr/>
          <p:nvPr/>
        </p:nvSpPr>
        <p:spPr>
          <a:xfrm>
            <a:off x="640080" y="4288536"/>
            <a:ext cx="10911535" cy="1051560"/>
          </a:xfrm>
          <a:prstGeom prst="roundRect">
            <a:avLst>
              <a:gd name="adj" fmla="val 782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13" name="Image 2" descr="/home/claude/ppt/img/circles/circ_checkcircle_teal.png"/>
          <p:cNvPicPr>
            <a:picLocks noChangeAspect="1"/>
          </p:cNvPicPr>
          <p:nvPr/>
        </p:nvPicPr>
        <p:blipFill>
          <a:blip r:embed="rId3"/>
          <a:stretch>
            <a:fillRect/>
          </a:stretch>
        </p:blipFill>
        <p:spPr>
          <a:xfrm>
            <a:off x="868680" y="4549140"/>
            <a:ext cx="530352" cy="530352"/>
          </a:xfrm>
          <a:prstGeom prst="rect">
            <a:avLst/>
          </a:prstGeom>
        </p:spPr>
      </p:pic>
      <p:sp>
        <p:nvSpPr>
          <p:cNvPr id="14" name="Text 9"/>
          <p:cNvSpPr/>
          <p:nvPr/>
        </p:nvSpPr>
        <p:spPr>
          <a:xfrm>
            <a:off x="1600200" y="4416552"/>
            <a:ext cx="9722815" cy="32004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Low Hydraulic Cost</a:t>
            </a:r>
            <a:endParaRPr lang="en-US" sz="2000" dirty="0"/>
          </a:p>
        </p:txBody>
      </p:sp>
      <p:sp>
        <p:nvSpPr>
          <p:cNvPr id="15" name="Text 10"/>
          <p:cNvSpPr/>
          <p:nvPr/>
        </p:nvSpPr>
        <p:spPr>
          <a:xfrm>
            <a:off x="1600200" y="4764024"/>
            <a:ext cx="9722815" cy="50292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Both circuits show pressure changes of only 1 to 2 pascals, a negligible pumping penalty for a 75.3% effectiveness.</a:t>
            </a:r>
            <a:endParaRPr lang="en-US" sz="1400" dirty="0"/>
          </a:p>
        </p:txBody>
      </p:sp>
      <p:sp>
        <p:nvSpPr>
          <p:cNvPr id="16" name="Shape 11"/>
          <p:cNvSpPr/>
          <p:nvPr/>
        </p:nvSpPr>
        <p:spPr>
          <a:xfrm>
            <a:off x="640080" y="5541264"/>
            <a:ext cx="10911535" cy="1051560"/>
          </a:xfrm>
          <a:prstGeom prst="roundRect">
            <a:avLst>
              <a:gd name="adj" fmla="val 7826"/>
            </a:avLst>
          </a:prstGeom>
          <a:solidFill>
            <a:srgbClr val="FFFFFF"/>
          </a:solidFill>
          <a:ln w="12700">
            <a:solidFill>
              <a:srgbClr val="E3E9EE"/>
            </a:solidFill>
            <a:prstDash val="solid"/>
          </a:ln>
          <a:effectLst>
            <a:outerShdw blurRad="127000" dist="38100" dir="5400000" algn="bl" rotWithShape="0">
              <a:srgbClr val="1B2531">
                <a:alpha val="12000"/>
              </a:srgbClr>
            </a:outerShdw>
          </a:effectLst>
        </p:spPr>
        <p:txBody>
          <a:bodyPr/>
          <a:lstStyle/>
          <a:p>
            <a:endParaRPr lang="en-US" sz="2800"/>
          </a:p>
        </p:txBody>
      </p:sp>
      <p:pic>
        <p:nvPicPr>
          <p:cNvPr id="17" name="Image 3" descr="/home/claude/ppt/img/circles/circ_lightbulb_orange.png"/>
          <p:cNvPicPr>
            <a:picLocks noChangeAspect="1"/>
          </p:cNvPicPr>
          <p:nvPr/>
        </p:nvPicPr>
        <p:blipFill>
          <a:blip r:embed="rId4"/>
          <a:stretch>
            <a:fillRect/>
          </a:stretch>
        </p:blipFill>
        <p:spPr>
          <a:xfrm>
            <a:off x="868680" y="5801868"/>
            <a:ext cx="530352" cy="530352"/>
          </a:xfrm>
          <a:prstGeom prst="rect">
            <a:avLst/>
          </a:prstGeom>
        </p:spPr>
      </p:pic>
      <p:sp>
        <p:nvSpPr>
          <p:cNvPr id="18" name="Text 12"/>
          <p:cNvSpPr/>
          <p:nvPr/>
        </p:nvSpPr>
        <p:spPr>
          <a:xfrm>
            <a:off x="1600200" y="5669280"/>
            <a:ext cx="9722815" cy="320040"/>
          </a:xfrm>
          <a:prstGeom prst="rect">
            <a:avLst/>
          </a:prstGeom>
          <a:noFill/>
          <a:ln/>
        </p:spPr>
        <p:txBody>
          <a:bodyPr wrap="square" rtlCol="0" anchor="ctr"/>
          <a:lstStyle/>
          <a:p>
            <a:pPr marL="0" indent="0">
              <a:buNone/>
            </a:pPr>
            <a:r>
              <a:rPr lang="en-US" sz="2000" b="1" dirty="0">
                <a:solidFill>
                  <a:srgbClr val="132A43"/>
                </a:solidFill>
                <a:latin typeface="Cambria" pitchFamily="34" charset="0"/>
                <a:ea typeface="Cambria" pitchFamily="34" charset="-122"/>
                <a:cs typeface="Cambria" pitchFamily="34" charset="-120"/>
              </a:rPr>
              <a:t>Future Work</a:t>
            </a:r>
            <a:endParaRPr lang="en-US" sz="2000" dirty="0"/>
          </a:p>
        </p:txBody>
      </p:sp>
      <p:sp>
        <p:nvSpPr>
          <p:cNvPr id="19" name="Text 13"/>
          <p:cNvSpPr/>
          <p:nvPr/>
        </p:nvSpPr>
        <p:spPr>
          <a:xfrm>
            <a:off x="1600200" y="6016752"/>
            <a:ext cx="9722815" cy="502920"/>
          </a:xfrm>
          <a:prstGeom prst="rect">
            <a:avLst/>
          </a:prstGeom>
          <a:noFill/>
          <a:ln/>
        </p:spPr>
        <p:txBody>
          <a:bodyPr wrap="square" rtlCol="0" anchor="t"/>
          <a:lstStyle/>
          <a:p>
            <a:pPr marL="0" indent="0">
              <a:buNone/>
            </a:pPr>
            <a:r>
              <a:rPr lang="en-US" sz="1400" dirty="0">
                <a:solidFill>
                  <a:srgbClr val="6B7785"/>
                </a:solidFill>
                <a:latin typeface="Calibri" pitchFamily="34" charset="0"/>
                <a:ea typeface="Calibri" pitchFamily="34" charset="-122"/>
                <a:cs typeface="Calibri" pitchFamily="34" charset="-120"/>
              </a:rPr>
              <a:t>Compare the 0.3, 0.6, and 0.9% nanofluid concentrations, compute the wetted area for a true U value, and run a mesh independence study.</a:t>
            </a:r>
            <a:endParaRPr lang="en-US" sz="1400" dirty="0"/>
          </a:p>
        </p:txBody>
      </p:sp>
      <p:sp>
        <p:nvSpPr>
          <p:cNvPr id="20" name="Text 14"/>
          <p:cNvSpPr/>
          <p:nvPr/>
        </p:nvSpPr>
        <p:spPr>
          <a:xfrm>
            <a:off x="11551615" y="6446520"/>
            <a:ext cx="365760" cy="274320"/>
          </a:xfrm>
          <a:prstGeom prst="rect">
            <a:avLst/>
          </a:prstGeom>
          <a:noFill/>
          <a:ln/>
        </p:spPr>
        <p:txBody>
          <a:bodyPr wrap="square" rtlCol="0" anchor="ctr"/>
          <a:lstStyle/>
          <a:p>
            <a:pPr marL="0" indent="0" algn="r">
              <a:buNone/>
            </a:pPr>
            <a:r>
              <a:rPr lang="en-US" sz="1200" dirty="0">
                <a:solidFill>
                  <a:srgbClr val="6B7785"/>
                </a:solidFill>
                <a:latin typeface="Calibri" pitchFamily="34" charset="0"/>
                <a:ea typeface="Calibri" pitchFamily="34" charset="-122"/>
                <a:cs typeface="Calibri" pitchFamily="34" charset="-120"/>
              </a:rPr>
              <a:t>15</a:t>
            </a:r>
            <a:endParaRPr lang="en-US" sz="12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B2E"/>
        </a:solidFill>
        <a:effectLst/>
      </p:bgPr>
    </p:bg>
    <p:spTree>
      <p:nvGrpSpPr>
        <p:cNvPr id="1" name=""/>
        <p:cNvGrpSpPr/>
        <p:nvPr/>
      </p:nvGrpSpPr>
      <p:grpSpPr>
        <a:xfrm>
          <a:off x="0" y="0"/>
          <a:ext cx="0" cy="0"/>
          <a:chOff x="0" y="0"/>
          <a:chExt cx="0" cy="0"/>
        </a:xfrm>
      </p:grpSpPr>
      <p:sp>
        <p:nvSpPr>
          <p:cNvPr id="2" name="Shape 0"/>
          <p:cNvSpPr/>
          <p:nvPr/>
        </p:nvSpPr>
        <p:spPr>
          <a:xfrm>
            <a:off x="8869680" y="-1828800"/>
            <a:ext cx="5943600" cy="5943600"/>
          </a:xfrm>
          <a:prstGeom prst="ellipse">
            <a:avLst/>
          </a:prstGeom>
          <a:solidFill>
            <a:srgbClr val="132A43">
              <a:alpha val="60000"/>
            </a:srgbClr>
          </a:solidFill>
          <a:ln/>
        </p:spPr>
        <p:txBody>
          <a:bodyPr/>
          <a:lstStyle/>
          <a:p>
            <a:endParaRPr lang="en-US"/>
          </a:p>
        </p:txBody>
      </p:sp>
      <p:sp>
        <p:nvSpPr>
          <p:cNvPr id="3" name="Shape 1"/>
          <p:cNvSpPr/>
          <p:nvPr/>
        </p:nvSpPr>
        <p:spPr>
          <a:xfrm>
            <a:off x="-1828800" y="4389120"/>
            <a:ext cx="5029200" cy="5029200"/>
          </a:xfrm>
          <a:prstGeom prst="ellipse">
            <a:avLst/>
          </a:prstGeom>
          <a:solidFill>
            <a:srgbClr val="0E7C86">
              <a:alpha val="20000"/>
            </a:srgbClr>
          </a:solidFill>
          <a:ln/>
        </p:spPr>
        <p:txBody>
          <a:bodyPr/>
          <a:lstStyle/>
          <a:p>
            <a:endParaRPr lang="en-US"/>
          </a:p>
        </p:txBody>
      </p:sp>
      <p:sp>
        <p:nvSpPr>
          <p:cNvPr id="4" name="Text 2"/>
          <p:cNvSpPr/>
          <p:nvPr/>
        </p:nvSpPr>
        <p:spPr>
          <a:xfrm>
            <a:off x="822960" y="2514600"/>
            <a:ext cx="7315200" cy="1005840"/>
          </a:xfrm>
          <a:prstGeom prst="rect">
            <a:avLst/>
          </a:prstGeom>
          <a:noFill/>
          <a:ln/>
        </p:spPr>
        <p:txBody>
          <a:bodyPr wrap="square"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Thank You</a:t>
            </a:r>
            <a:endParaRPr lang="en-US" sz="6600" dirty="0"/>
          </a:p>
        </p:txBody>
      </p:sp>
      <p:sp>
        <p:nvSpPr>
          <p:cNvPr id="5" name="Text 3"/>
          <p:cNvSpPr/>
          <p:nvPr/>
        </p:nvSpPr>
        <p:spPr>
          <a:xfrm>
            <a:off x="822960" y="3429000"/>
            <a:ext cx="7315200" cy="457200"/>
          </a:xfrm>
          <a:prstGeom prst="rect">
            <a:avLst/>
          </a:prstGeom>
          <a:noFill/>
          <a:ln/>
        </p:spPr>
        <p:txBody>
          <a:bodyPr wrap="square" rtlCol="0" anchor="ctr"/>
          <a:lstStyle/>
          <a:p>
            <a:pPr marL="0" indent="0">
              <a:buNone/>
            </a:pPr>
            <a:r>
              <a:rPr lang="en-US" i="1" dirty="0">
                <a:solidFill>
                  <a:srgbClr val="AFC3D6"/>
                </a:solidFill>
                <a:latin typeface="Calibri" pitchFamily="34" charset="0"/>
                <a:ea typeface="Calibri" pitchFamily="34" charset="-122"/>
                <a:cs typeface="Calibri" pitchFamily="34" charset="-120"/>
              </a:rPr>
              <a:t>Questions and discussion are welcome.</a:t>
            </a:r>
            <a:endParaRPr lang="en-US" dirty="0"/>
          </a:p>
        </p:txBody>
      </p:sp>
      <p:sp>
        <p:nvSpPr>
          <p:cNvPr id="6" name="Text 4"/>
          <p:cNvSpPr/>
          <p:nvPr/>
        </p:nvSpPr>
        <p:spPr>
          <a:xfrm>
            <a:off x="822960" y="4251960"/>
            <a:ext cx="4572000" cy="365760"/>
          </a:xfrm>
          <a:prstGeom prst="rect">
            <a:avLst/>
          </a:prstGeom>
          <a:noFill/>
          <a:ln/>
        </p:spPr>
        <p:txBody>
          <a:bodyPr wrap="square"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Frais Asghar</a:t>
            </a:r>
            <a:endParaRPr lang="en-US" sz="2000" dirty="0"/>
          </a:p>
        </p:txBody>
      </p:sp>
      <p:sp>
        <p:nvSpPr>
          <p:cNvPr id="7" name="Text 5"/>
          <p:cNvSpPr/>
          <p:nvPr/>
        </p:nvSpPr>
        <p:spPr>
          <a:xfrm>
            <a:off x="822960" y="4590288"/>
            <a:ext cx="6400800" cy="365760"/>
          </a:xfrm>
          <a:prstGeom prst="rect">
            <a:avLst/>
          </a:prstGeom>
          <a:noFill/>
          <a:ln/>
        </p:spPr>
        <p:txBody>
          <a:bodyPr wrap="square" rtlCol="0" anchor="ctr"/>
          <a:lstStyle/>
          <a:p>
            <a:pPr marL="0" indent="0">
              <a:buNone/>
            </a:pPr>
            <a:r>
              <a:rPr lang="en-US" sz="1600" dirty="0">
                <a:solidFill>
                  <a:srgbClr val="9FB0C0"/>
                </a:solidFill>
                <a:latin typeface="Calibri" pitchFamily="34" charset="0"/>
                <a:ea typeface="Calibri" pitchFamily="34" charset="-122"/>
                <a:cs typeface="Calibri" pitchFamily="34" charset="-120"/>
              </a:rPr>
              <a:t>CAD Design and CFD Simulation | Swirled Tube Heat Exchanger</a:t>
            </a:r>
            <a:endParaRPr lang="en-US" sz="1600" dirty="0"/>
          </a:p>
        </p:txBody>
      </p:sp>
      <p:sp>
        <p:nvSpPr>
          <p:cNvPr id="8" name="Shape 6"/>
          <p:cNvSpPr/>
          <p:nvPr/>
        </p:nvSpPr>
        <p:spPr>
          <a:xfrm>
            <a:off x="7149311" y="2590800"/>
            <a:ext cx="4342241" cy="2295525"/>
          </a:xfrm>
          <a:prstGeom prst="roundRect">
            <a:avLst>
              <a:gd name="adj" fmla="val 2482"/>
            </a:avLst>
          </a:prstGeom>
          <a:solidFill>
            <a:srgbClr val="FFFFFF"/>
          </a:solidFill>
          <a:ln w="12700">
            <a:solidFill>
              <a:srgbClr val="E3E9EE"/>
            </a:solidFill>
            <a:prstDash val="solid"/>
          </a:ln>
          <a:effectLst>
            <a:outerShdw blurRad="152400" dist="38100" dir="5400000" algn="bl" rotWithShape="0">
              <a:srgbClr val="1B2531">
                <a:alpha val="15000"/>
              </a:srgbClr>
            </a:outerShdw>
          </a:effectLst>
        </p:spPr>
        <p:txBody>
          <a:bodyPr/>
          <a:lstStyle/>
          <a:p>
            <a:endParaRPr lang="en-US"/>
          </a:p>
        </p:txBody>
      </p:sp>
      <p:sp>
        <p:nvSpPr>
          <p:cNvPr id="10" name="Text 7"/>
          <p:cNvSpPr/>
          <p:nvPr/>
        </p:nvSpPr>
        <p:spPr>
          <a:xfrm>
            <a:off x="11551615" y="6446520"/>
            <a:ext cx="365760" cy="274320"/>
          </a:xfrm>
          <a:prstGeom prst="rect">
            <a:avLst/>
          </a:prstGeom>
          <a:noFill/>
          <a:ln/>
        </p:spPr>
        <p:txBody>
          <a:bodyPr wrap="square" rtlCol="0" anchor="ctr"/>
          <a:lstStyle/>
          <a:p>
            <a:pPr marL="0" indent="0" algn="r">
              <a:buNone/>
            </a:pPr>
            <a:r>
              <a:rPr lang="en-US" sz="1000" dirty="0">
                <a:solidFill>
                  <a:srgbClr val="9FB0C0"/>
                </a:solidFill>
                <a:latin typeface="Calibri" pitchFamily="34" charset="0"/>
                <a:ea typeface="Calibri" pitchFamily="34" charset="-122"/>
                <a:cs typeface="Calibri" pitchFamily="34" charset="-120"/>
              </a:rPr>
              <a:t>16</a:t>
            </a:r>
            <a:endParaRPr lang="en-US" sz="1000" dirty="0"/>
          </a:p>
        </p:txBody>
      </p:sp>
      <p:pic>
        <p:nvPicPr>
          <p:cNvPr id="12" name="Picture 11">
            <a:extLst>
              <a:ext uri="{FF2B5EF4-FFF2-40B4-BE49-F238E27FC236}">
                <a16:creationId xmlns:a16="http://schemas.microsoft.com/office/drawing/2014/main" id="{3CFE9801-DE7F-E514-827D-C816B874D24A}"/>
              </a:ext>
            </a:extLst>
          </p:cNvPr>
          <p:cNvPicPr>
            <a:picLocks noChangeAspect="1"/>
          </p:cNvPicPr>
          <p:nvPr/>
        </p:nvPicPr>
        <p:blipFill>
          <a:blip r:embed="rId3"/>
          <a:stretch>
            <a:fillRect/>
          </a:stretch>
        </p:blipFill>
        <p:spPr>
          <a:xfrm>
            <a:off x="7149311" y="2765397"/>
            <a:ext cx="4342241" cy="1852323"/>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1504</Words>
  <Application>Microsoft Office PowerPoint</Application>
  <PresentationFormat>Widescreen</PresentationFormat>
  <Paragraphs>275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Frais Asghar</cp:lastModifiedBy>
  <cp:revision>3</cp:revision>
  <dcterms:created xsi:type="dcterms:W3CDTF">2026-09-11T02:32:55Z</dcterms:created>
  <dcterms:modified xsi:type="dcterms:W3CDTF">2026-09-11T19:45:56Z</dcterms:modified>
</cp:coreProperties>
</file>